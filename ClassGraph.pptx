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07708"/>
            <a:ext cx="12191695" cy="50292"/>
          </a:xfrm>
          <a:prstGeom prst="rect">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481328"/>
            <a:ext cx="10948111" cy="365760"/>
          </a:xfrm>
          <a:prstGeom prst="rect">
            <a:avLst/>
          </a:prstGeom>
          <a:noFill/>
        </p:spPr>
        <p:txBody>
          <a:bodyPr wrap="square" lIns="0" rIns="0" tIns="0" bIns="0" anchor="t">
            <a:spAutoFit/>
          </a:bodyPr>
          <a:lstStyle/>
          <a:p>
            <a:r>
              <a:rPr sz="1150" b="1" i="0">
                <a:solidFill>
                  <a:srgbClr val="0E7C86"/>
                </a:solidFill>
                <a:latin typeface="Segoe UI Semibold"/>
              </a:rPr>
              <a:t>CV COURSE PROJECT</a:t>
            </a:r>
          </a:p>
        </p:txBody>
      </p:sp>
      <p:sp>
        <p:nvSpPr>
          <p:cNvPr id="5" name="TextBox 4"/>
          <p:cNvSpPr txBox="1"/>
          <p:nvPr/>
        </p:nvSpPr>
        <p:spPr>
          <a:xfrm>
            <a:off x="621792" y="1874519"/>
            <a:ext cx="10948111" cy="960120"/>
          </a:xfrm>
          <a:prstGeom prst="rect">
            <a:avLst/>
          </a:prstGeom>
          <a:noFill/>
        </p:spPr>
        <p:txBody>
          <a:bodyPr wrap="square" lIns="0" rIns="0" tIns="0" bIns="0" anchor="t">
            <a:spAutoFit/>
          </a:bodyPr>
          <a:lstStyle/>
          <a:p>
            <a:r>
              <a:rPr sz="5800" b="1" i="0">
                <a:solidFill>
                  <a:srgbClr val="10273F"/>
                </a:solidFill>
                <a:latin typeface="Segoe UI Semibold"/>
              </a:rPr>
              <a:t>ClassGraph</a:t>
            </a:r>
          </a:p>
        </p:txBody>
      </p:sp>
      <p:sp>
        <p:nvSpPr>
          <p:cNvPr id="6" name="TextBox 5"/>
          <p:cNvSpPr txBox="1"/>
          <p:nvPr/>
        </p:nvSpPr>
        <p:spPr>
          <a:xfrm>
            <a:off x="621792" y="2889504"/>
            <a:ext cx="8778240" cy="566928"/>
          </a:xfrm>
          <a:prstGeom prst="rect">
            <a:avLst/>
          </a:prstGeom>
          <a:noFill/>
        </p:spPr>
        <p:txBody>
          <a:bodyPr wrap="square" lIns="0" rIns="0" tIns="0" bIns="0" anchor="t">
            <a:spAutoFit/>
          </a:bodyPr>
          <a:lstStyle/>
          <a:p>
            <a:pPr>
              <a:lnSpc>
                <a:spcPct val="110000"/>
              </a:lnSpc>
            </a:pPr>
            <a:r>
              <a:rPr sz="2000" b="0" i="0">
                <a:solidFill>
                  <a:srgbClr val="085961"/>
                </a:solidFill>
                <a:latin typeface="Segoe UI Semibold"/>
              </a:rPr>
              <a:t>Temporal Scene-Graph Group-Activity Analytics for Classrooms</a:t>
            </a:r>
          </a:p>
        </p:txBody>
      </p:sp>
      <p:sp>
        <p:nvSpPr>
          <p:cNvPr id="7" name="Rectangle 6"/>
          <p:cNvSpPr/>
          <p:nvPr/>
        </p:nvSpPr>
        <p:spPr>
          <a:xfrm>
            <a:off x="621792" y="3611880"/>
            <a:ext cx="1371600" cy="256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21792" y="3840480"/>
            <a:ext cx="8503920" cy="914400"/>
          </a:xfrm>
          <a:prstGeom prst="rect">
            <a:avLst/>
          </a:prstGeom>
          <a:noFill/>
        </p:spPr>
        <p:txBody>
          <a:bodyPr wrap="square" lIns="0" rIns="0" tIns="0" bIns="0" anchor="t">
            <a:spAutoFit/>
          </a:bodyPr>
          <a:lstStyle/>
          <a:p>
            <a:pPr>
              <a:lnSpc>
                <a:spcPct val="132000"/>
              </a:lnSpc>
            </a:pPr>
            <a:r>
              <a:rPr sz="1300" b="0" i="0">
                <a:solidFill>
                  <a:srgbClr val="3C5066"/>
                </a:solidFill>
                <a:latin typeface="Segoe UI"/>
              </a:rPr>
              <a:t>Identity-persistent, behaviour-level engagement analytics — turning raw classroom video into per-student attention trajectories and group-level insight, without reducing students to a single score.</a:t>
            </a:r>
          </a:p>
        </p:txBody>
      </p:sp>
      <p:sp>
        <p:nvSpPr>
          <p:cNvPr id="9" name="Rounded Rectangle 8"/>
          <p:cNvSpPr/>
          <p:nvPr/>
        </p:nvSpPr>
        <p:spPr>
          <a:xfrm>
            <a:off x="621792"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5166359"/>
            <a:ext cx="50292" cy="6035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Perception + Identity</a:t>
            </a:r>
          </a:p>
          <a:p>
            <a:pPr>
              <a:lnSpc>
                <a:spcPct val="118000"/>
              </a:lnSpc>
              <a:spcAft>
                <a:spcPts val="300"/>
              </a:spcAft>
            </a:pPr>
            <a:r>
              <a:rPr sz="950" b="0" i="0">
                <a:solidFill>
                  <a:srgbClr val="3C5066"/>
                </a:solidFill>
                <a:latin typeface="Segoe UI"/>
              </a:rPr>
              <a:t>Stages 1–2 built &amp; tested</a:t>
            </a:r>
          </a:p>
        </p:txBody>
      </p:sp>
      <p:sp>
        <p:nvSpPr>
          <p:cNvPr id="12" name="Rounded Rectangle 11"/>
          <p:cNvSpPr/>
          <p:nvPr/>
        </p:nvSpPr>
        <p:spPr>
          <a:xfrm>
            <a:off x="4338218"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38218" y="5166359"/>
            <a:ext cx="50292" cy="603503"/>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5962"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Scene Graph + Temporal</a:t>
            </a:r>
          </a:p>
          <a:p>
            <a:pPr>
              <a:lnSpc>
                <a:spcPct val="118000"/>
              </a:lnSpc>
              <a:spcAft>
                <a:spcPts val="300"/>
              </a:spcAft>
            </a:pPr>
            <a:r>
              <a:rPr sz="950" b="0" i="0">
                <a:solidFill>
                  <a:srgbClr val="3C5066"/>
                </a:solidFill>
                <a:latin typeface="Segoe UI"/>
              </a:rPr>
              <a:t>Stages 3–4 designed</a:t>
            </a:r>
          </a:p>
        </p:txBody>
      </p:sp>
      <p:sp>
        <p:nvSpPr>
          <p:cNvPr id="15" name="Rounded Rectangle 14"/>
          <p:cNvSpPr/>
          <p:nvPr/>
        </p:nvSpPr>
        <p:spPr>
          <a:xfrm>
            <a:off x="8054644"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54644" y="5166359"/>
            <a:ext cx="50292" cy="603503"/>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92388"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Group Activity</a:t>
            </a:r>
          </a:p>
          <a:p>
            <a:pPr>
              <a:lnSpc>
                <a:spcPct val="118000"/>
              </a:lnSpc>
              <a:spcAft>
                <a:spcPts val="300"/>
              </a:spcAft>
            </a:pPr>
            <a:r>
              <a:rPr sz="950" b="0" i="0">
                <a:solidFill>
                  <a:srgbClr val="3C5066"/>
                </a:solidFill>
                <a:latin typeface="Segoe UI"/>
              </a:rPr>
              <a:t>Stage 5 designed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21792" y="420624"/>
            <a:ext cx="10948111" cy="486918"/>
          </a:xfrm>
          <a:prstGeom prst="rect">
            <a:avLst/>
          </a:prstGeom>
          <a:noFill/>
        </p:spPr>
        <p:txBody>
          <a:bodyPr wrap="square" lIns="0" rIns="0" tIns="0" bIns="0" anchor="t">
            <a:spAutoFit/>
          </a:bodyPr>
          <a:lstStyle/>
          <a:p>
            <a:r>
              <a:rPr sz="2700" b="1" i="0">
                <a:solidFill>
                  <a:srgbClr val="10273F"/>
                </a:solidFill>
                <a:latin typeface="Segoe UI Semibold"/>
              </a:rPr>
              <a:t>Review Roadmap</a:t>
            </a:r>
          </a:p>
        </p:txBody>
      </p:sp>
      <p:sp>
        <p:nvSpPr>
          <p:cNvPr id="3" name="TextBox 2"/>
          <p:cNvSpPr txBox="1"/>
          <p:nvPr/>
        </p:nvSpPr>
        <p:spPr>
          <a:xfrm>
            <a:off x="621792" y="1008126"/>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This deck is organised 1:1 against the five evaluation criteria.</a:t>
            </a:r>
          </a:p>
        </p:txBody>
      </p:sp>
      <p:sp>
        <p:nvSpPr>
          <p:cNvPr id="4" name="Rectangle 3"/>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6" name="TextBox 5"/>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2</a:t>
            </a:r>
          </a:p>
        </p:txBody>
      </p:sp>
      <p:sp>
        <p:nvSpPr>
          <p:cNvPr id="7" name="Rounded Rectangle 6"/>
          <p:cNvSpPr/>
          <p:nvPr/>
        </p:nvSpPr>
        <p:spPr>
          <a:xfrm>
            <a:off x="621792" y="146977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49808" y="158864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64350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1</a:t>
            </a:r>
          </a:p>
        </p:txBody>
      </p:sp>
      <p:sp>
        <p:nvSpPr>
          <p:cNvPr id="10" name="TextBox 9"/>
          <p:cNvSpPr txBox="1"/>
          <p:nvPr/>
        </p:nvSpPr>
        <p:spPr>
          <a:xfrm>
            <a:off x="1261872" y="1570355"/>
            <a:ext cx="3657600" cy="237744"/>
          </a:xfrm>
          <a:prstGeom prst="rect">
            <a:avLst/>
          </a:prstGeom>
          <a:noFill/>
        </p:spPr>
        <p:txBody>
          <a:bodyPr wrap="square" lIns="0" rIns="0" tIns="0" bIns="0" anchor="t">
            <a:spAutoFit/>
          </a:bodyPr>
          <a:lstStyle/>
          <a:p>
            <a:r>
              <a:rPr sz="1250" b="1" i="0">
                <a:solidFill>
                  <a:srgbClr val="10273F"/>
                </a:solidFill>
                <a:latin typeface="Segoe UI Semibold"/>
              </a:rPr>
              <a:t>Problem Understanding</a:t>
            </a:r>
          </a:p>
        </p:txBody>
      </p:sp>
      <p:sp>
        <p:nvSpPr>
          <p:cNvPr id="11" name="TextBox 10"/>
          <p:cNvSpPr txBox="1"/>
          <p:nvPr/>
        </p:nvSpPr>
        <p:spPr>
          <a:xfrm>
            <a:off x="1261872" y="1798955"/>
            <a:ext cx="4754880" cy="219456"/>
          </a:xfrm>
          <a:prstGeom prst="rect">
            <a:avLst/>
          </a:prstGeom>
          <a:noFill/>
        </p:spPr>
        <p:txBody>
          <a:bodyPr wrap="square" lIns="0" rIns="0" tIns="0" bIns="0" anchor="t">
            <a:spAutoFit/>
          </a:bodyPr>
          <a:lstStyle/>
          <a:p>
            <a:r>
              <a:rPr sz="950" b="0" i="0">
                <a:solidFill>
                  <a:srgbClr val="7B8C9E"/>
                </a:solidFill>
                <a:latin typeface="Segoe UI"/>
              </a:rPr>
              <a:t>Clarity of problem, objectives, motivation</a:t>
            </a:r>
          </a:p>
        </p:txBody>
      </p:sp>
      <p:sp>
        <p:nvSpPr>
          <p:cNvPr id="12" name="TextBox 11"/>
          <p:cNvSpPr txBox="1"/>
          <p:nvPr/>
        </p:nvSpPr>
        <p:spPr>
          <a:xfrm>
            <a:off x="6291071" y="167093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3</a:t>
            </a:r>
          </a:p>
        </p:txBody>
      </p:sp>
      <p:sp>
        <p:nvSpPr>
          <p:cNvPr id="13" name="Rounded Rectangle 12"/>
          <p:cNvSpPr/>
          <p:nvPr/>
        </p:nvSpPr>
        <p:spPr>
          <a:xfrm>
            <a:off x="621792" y="220129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749808" y="232016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237502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2</a:t>
            </a:r>
          </a:p>
        </p:txBody>
      </p:sp>
      <p:sp>
        <p:nvSpPr>
          <p:cNvPr id="16" name="TextBox 15"/>
          <p:cNvSpPr txBox="1"/>
          <p:nvPr/>
        </p:nvSpPr>
        <p:spPr>
          <a:xfrm>
            <a:off x="1261872" y="2301875"/>
            <a:ext cx="3657600" cy="237744"/>
          </a:xfrm>
          <a:prstGeom prst="rect">
            <a:avLst/>
          </a:prstGeom>
          <a:noFill/>
        </p:spPr>
        <p:txBody>
          <a:bodyPr wrap="square" lIns="0" rIns="0" tIns="0" bIns="0" anchor="t">
            <a:spAutoFit/>
          </a:bodyPr>
          <a:lstStyle/>
          <a:p>
            <a:r>
              <a:rPr sz="1250" b="1" i="0">
                <a:solidFill>
                  <a:srgbClr val="10273F"/>
                </a:solidFill>
                <a:latin typeface="Segoe UI Semibold"/>
              </a:rPr>
              <a:t>Research Paper Selection</a:t>
            </a:r>
          </a:p>
        </p:txBody>
      </p:sp>
      <p:sp>
        <p:nvSpPr>
          <p:cNvPr id="17" name="TextBox 16"/>
          <p:cNvSpPr txBox="1"/>
          <p:nvPr/>
        </p:nvSpPr>
        <p:spPr>
          <a:xfrm>
            <a:off x="1261872" y="2530475"/>
            <a:ext cx="4754880" cy="219456"/>
          </a:xfrm>
          <a:prstGeom prst="rect">
            <a:avLst/>
          </a:prstGeom>
          <a:noFill/>
        </p:spPr>
        <p:txBody>
          <a:bodyPr wrap="square" lIns="0" rIns="0" tIns="0" bIns="0" anchor="t">
            <a:spAutoFit/>
          </a:bodyPr>
          <a:lstStyle/>
          <a:p>
            <a:r>
              <a:rPr sz="950" b="0" i="0">
                <a:solidFill>
                  <a:srgbClr val="7B8C9E"/>
                </a:solidFill>
                <a:latin typeface="Segoe UI"/>
              </a:rPr>
              <a:t>Relevance, novelty, correctness of base paper</a:t>
            </a:r>
          </a:p>
        </p:txBody>
      </p:sp>
      <p:sp>
        <p:nvSpPr>
          <p:cNvPr id="18" name="TextBox 17"/>
          <p:cNvSpPr txBox="1"/>
          <p:nvPr/>
        </p:nvSpPr>
        <p:spPr>
          <a:xfrm>
            <a:off x="6291071" y="240245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6</a:t>
            </a:r>
          </a:p>
        </p:txBody>
      </p:sp>
      <p:sp>
        <p:nvSpPr>
          <p:cNvPr id="19" name="Rounded Rectangle 18"/>
          <p:cNvSpPr/>
          <p:nvPr/>
        </p:nvSpPr>
        <p:spPr>
          <a:xfrm>
            <a:off x="621792" y="293281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749808" y="305168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808" y="310654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3</a:t>
            </a:r>
          </a:p>
        </p:txBody>
      </p:sp>
      <p:sp>
        <p:nvSpPr>
          <p:cNvPr id="22" name="TextBox 21"/>
          <p:cNvSpPr txBox="1"/>
          <p:nvPr/>
        </p:nvSpPr>
        <p:spPr>
          <a:xfrm>
            <a:off x="1261872" y="3033395"/>
            <a:ext cx="3657600" cy="237744"/>
          </a:xfrm>
          <a:prstGeom prst="rect">
            <a:avLst/>
          </a:prstGeom>
          <a:noFill/>
        </p:spPr>
        <p:txBody>
          <a:bodyPr wrap="square" lIns="0" rIns="0" tIns="0" bIns="0" anchor="t">
            <a:spAutoFit/>
          </a:bodyPr>
          <a:lstStyle/>
          <a:p>
            <a:r>
              <a:rPr sz="1250" b="1" i="0">
                <a:solidFill>
                  <a:srgbClr val="10273F"/>
                </a:solidFill>
                <a:latin typeface="Segoe UI Semibold"/>
              </a:rPr>
              <a:t>Literature Review Depth</a:t>
            </a:r>
          </a:p>
        </p:txBody>
      </p:sp>
      <p:sp>
        <p:nvSpPr>
          <p:cNvPr id="23" name="TextBox 22"/>
          <p:cNvSpPr txBox="1"/>
          <p:nvPr/>
        </p:nvSpPr>
        <p:spPr>
          <a:xfrm>
            <a:off x="1261872" y="3261995"/>
            <a:ext cx="4754880" cy="219456"/>
          </a:xfrm>
          <a:prstGeom prst="rect">
            <a:avLst/>
          </a:prstGeom>
          <a:noFill/>
        </p:spPr>
        <p:txBody>
          <a:bodyPr wrap="square" lIns="0" rIns="0" tIns="0" bIns="0" anchor="t">
            <a:spAutoFit/>
          </a:bodyPr>
          <a:lstStyle/>
          <a:p>
            <a:r>
              <a:rPr sz="950" b="0" i="0">
                <a:solidFill>
                  <a:srgbClr val="7B8C9E"/>
                </a:solidFill>
                <a:latin typeface="Segoe UI"/>
              </a:rPr>
              <a:t>Related work identification &amp; comparison</a:t>
            </a:r>
          </a:p>
        </p:txBody>
      </p:sp>
      <p:sp>
        <p:nvSpPr>
          <p:cNvPr id="24" name="TextBox 23"/>
          <p:cNvSpPr txBox="1"/>
          <p:nvPr/>
        </p:nvSpPr>
        <p:spPr>
          <a:xfrm>
            <a:off x="6291071" y="313397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7</a:t>
            </a:r>
          </a:p>
        </p:txBody>
      </p:sp>
      <p:sp>
        <p:nvSpPr>
          <p:cNvPr id="25" name="Rounded Rectangle 24"/>
          <p:cNvSpPr/>
          <p:nvPr/>
        </p:nvSpPr>
        <p:spPr>
          <a:xfrm>
            <a:off x="621792" y="366433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49808" y="378320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49808" y="383806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4</a:t>
            </a:r>
          </a:p>
        </p:txBody>
      </p:sp>
      <p:sp>
        <p:nvSpPr>
          <p:cNvPr id="28" name="TextBox 27"/>
          <p:cNvSpPr txBox="1"/>
          <p:nvPr/>
        </p:nvSpPr>
        <p:spPr>
          <a:xfrm>
            <a:off x="1261872" y="3764915"/>
            <a:ext cx="3657600" cy="237744"/>
          </a:xfrm>
          <a:prstGeom prst="rect">
            <a:avLst/>
          </a:prstGeom>
          <a:noFill/>
        </p:spPr>
        <p:txBody>
          <a:bodyPr wrap="square" lIns="0" rIns="0" tIns="0" bIns="0" anchor="t">
            <a:spAutoFit/>
          </a:bodyPr>
          <a:lstStyle/>
          <a:p>
            <a:r>
              <a:rPr sz="1250" b="1" i="0">
                <a:solidFill>
                  <a:srgbClr val="10273F"/>
                </a:solidFill>
                <a:latin typeface="Segoe UI Semibold"/>
              </a:rPr>
              <a:t>Dataset Identification</a:t>
            </a:r>
          </a:p>
        </p:txBody>
      </p:sp>
      <p:sp>
        <p:nvSpPr>
          <p:cNvPr id="29" name="TextBox 28"/>
          <p:cNvSpPr txBox="1"/>
          <p:nvPr/>
        </p:nvSpPr>
        <p:spPr>
          <a:xfrm>
            <a:off x="1261872" y="3993515"/>
            <a:ext cx="4754880" cy="219456"/>
          </a:xfrm>
          <a:prstGeom prst="rect">
            <a:avLst/>
          </a:prstGeom>
          <a:noFill/>
        </p:spPr>
        <p:txBody>
          <a:bodyPr wrap="square" lIns="0" rIns="0" tIns="0" bIns="0" anchor="t">
            <a:spAutoFit/>
          </a:bodyPr>
          <a:lstStyle/>
          <a:p>
            <a:r>
              <a:rPr sz="950" b="0" i="0">
                <a:solidFill>
                  <a:srgbClr val="7B8C9E"/>
                </a:solidFill>
                <a:latin typeface="Segoe UI"/>
              </a:rPr>
              <a:t>Appropriateness, data format, challenges</a:t>
            </a:r>
          </a:p>
        </p:txBody>
      </p:sp>
      <p:sp>
        <p:nvSpPr>
          <p:cNvPr id="30" name="TextBox 29"/>
          <p:cNvSpPr txBox="1"/>
          <p:nvPr/>
        </p:nvSpPr>
        <p:spPr>
          <a:xfrm>
            <a:off x="6291071" y="386549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10</a:t>
            </a:r>
          </a:p>
        </p:txBody>
      </p:sp>
      <p:sp>
        <p:nvSpPr>
          <p:cNvPr id="31" name="Rounded Rectangle 30"/>
          <p:cNvSpPr/>
          <p:nvPr/>
        </p:nvSpPr>
        <p:spPr>
          <a:xfrm>
            <a:off x="621792" y="439585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49808" y="451472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9808" y="456958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5</a:t>
            </a:r>
          </a:p>
        </p:txBody>
      </p:sp>
      <p:sp>
        <p:nvSpPr>
          <p:cNvPr id="34" name="TextBox 33"/>
          <p:cNvSpPr txBox="1"/>
          <p:nvPr/>
        </p:nvSpPr>
        <p:spPr>
          <a:xfrm>
            <a:off x="1261872" y="4496435"/>
            <a:ext cx="3657600" cy="237744"/>
          </a:xfrm>
          <a:prstGeom prst="rect">
            <a:avLst/>
          </a:prstGeom>
          <a:noFill/>
        </p:spPr>
        <p:txBody>
          <a:bodyPr wrap="square" lIns="0" rIns="0" tIns="0" bIns="0" anchor="t">
            <a:spAutoFit/>
          </a:bodyPr>
          <a:lstStyle/>
          <a:p>
            <a:r>
              <a:rPr sz="1250" b="1" i="0">
                <a:solidFill>
                  <a:srgbClr val="10273F"/>
                </a:solidFill>
                <a:latin typeface="Segoe UI Semibold"/>
              </a:rPr>
              <a:t>Project Feasibility &amp; Plan</a:t>
            </a:r>
          </a:p>
        </p:txBody>
      </p:sp>
      <p:sp>
        <p:nvSpPr>
          <p:cNvPr id="35" name="TextBox 34"/>
          <p:cNvSpPr txBox="1"/>
          <p:nvPr/>
        </p:nvSpPr>
        <p:spPr>
          <a:xfrm>
            <a:off x="1261872" y="4725035"/>
            <a:ext cx="4754880" cy="219456"/>
          </a:xfrm>
          <a:prstGeom prst="rect">
            <a:avLst/>
          </a:prstGeom>
          <a:noFill/>
        </p:spPr>
        <p:txBody>
          <a:bodyPr wrap="square" lIns="0" rIns="0" tIns="0" bIns="0" anchor="t">
            <a:spAutoFit/>
          </a:bodyPr>
          <a:lstStyle/>
          <a:p>
            <a:r>
              <a:rPr sz="950" b="0" i="0">
                <a:solidFill>
                  <a:srgbClr val="7B8C9E"/>
                </a:solidFill>
                <a:latin typeface="Segoe UI"/>
              </a:rPr>
              <a:t>Workflow, timeline, results, risks</a:t>
            </a:r>
          </a:p>
        </p:txBody>
      </p:sp>
      <p:sp>
        <p:nvSpPr>
          <p:cNvPr id="36" name="TextBox 35"/>
          <p:cNvSpPr txBox="1"/>
          <p:nvPr/>
        </p:nvSpPr>
        <p:spPr>
          <a:xfrm>
            <a:off x="6291071" y="459701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11</a:t>
            </a:r>
          </a:p>
        </p:txBody>
      </p:sp>
      <p:sp>
        <p:nvSpPr>
          <p:cNvPr id="37" name="Rounded Rectangle 36"/>
          <p:cNvSpPr/>
          <p:nvPr/>
        </p:nvSpPr>
        <p:spPr>
          <a:xfrm>
            <a:off x="7616952" y="1469771"/>
            <a:ext cx="3952951" cy="3054096"/>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891272" y="1707515"/>
            <a:ext cx="3404311" cy="274320"/>
          </a:xfrm>
          <a:prstGeom prst="rect">
            <a:avLst/>
          </a:prstGeom>
          <a:noFill/>
        </p:spPr>
        <p:txBody>
          <a:bodyPr wrap="square" lIns="0" rIns="0" tIns="0" bIns="0" anchor="t">
            <a:spAutoFit/>
          </a:bodyPr>
          <a:lstStyle/>
          <a:p>
            <a:r>
              <a:rPr sz="1000" b="1" i="0">
                <a:solidFill>
                  <a:srgbClr val="6FC5CE"/>
                </a:solidFill>
                <a:latin typeface="Segoe UI Semibold"/>
              </a:rPr>
              <a:t>THE THESIS</a:t>
            </a:r>
          </a:p>
        </p:txBody>
      </p:sp>
      <p:sp>
        <p:nvSpPr>
          <p:cNvPr id="39" name="TextBox 38"/>
          <p:cNvSpPr txBox="1"/>
          <p:nvPr/>
        </p:nvSpPr>
        <p:spPr>
          <a:xfrm>
            <a:off x="7891272" y="2073275"/>
            <a:ext cx="3404311" cy="2194560"/>
          </a:xfrm>
          <a:prstGeom prst="rect">
            <a:avLst/>
          </a:prstGeom>
          <a:noFill/>
        </p:spPr>
        <p:txBody>
          <a:bodyPr wrap="square" lIns="0" rIns="0" tIns="0" bIns="0" anchor="t">
            <a:spAutoFit/>
          </a:bodyPr>
          <a:lstStyle/>
          <a:p>
            <a:pPr>
              <a:lnSpc>
                <a:spcPct val="134000"/>
              </a:lnSpc>
            </a:pPr>
            <a:r>
              <a:rPr sz="1350" b="0" i="0">
                <a:solidFill>
                  <a:srgbClr val="FFFFFF"/>
                </a:solidFill>
                <a:latin typeface="Segoe UI"/>
              </a:rPr>
              <a:t>Represent a classroom as a dynamic scene graph — students are nodes, attention behaviours are edges — keep identity stable within the session, and reason over how that graph evolves to recognise individual and group engagement.</a:t>
            </a:r>
          </a:p>
        </p:txBody>
      </p:sp>
      <p:sp>
        <p:nvSpPr>
          <p:cNvPr id="40" name="Rounded Rectangle 39"/>
          <p:cNvSpPr/>
          <p:nvPr/>
        </p:nvSpPr>
        <p:spPr>
          <a:xfrm>
            <a:off x="7616952" y="4670171"/>
            <a:ext cx="3952951" cy="786384"/>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616952" y="4761611"/>
            <a:ext cx="50292" cy="603503"/>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54696" y="4816475"/>
            <a:ext cx="3532327"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Status at this review</a:t>
            </a:r>
          </a:p>
          <a:p>
            <a:pPr>
              <a:lnSpc>
                <a:spcPct val="118000"/>
              </a:lnSpc>
              <a:spcAft>
                <a:spcPts val="300"/>
              </a:spcAft>
            </a:pPr>
            <a:r>
              <a:rPr sz="950" b="0" i="0">
                <a:solidFill>
                  <a:srgbClr val="3C5066"/>
                </a:solidFill>
                <a:latin typeface="Segoe UI"/>
              </a:rPr>
              <a:t>Stages 1–2 implemented, 109 automated tests passing, validated on real classroom footage.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PROBLEM UNDERSTANDING</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Attendance is solved. Engagement is not.</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The classroom already has cameras. What it does not have is any way to answer the question a teacher actually cares about.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3</a:t>
            </a:r>
          </a:p>
        </p:txBody>
      </p:sp>
      <p:sp>
        <p:nvSpPr>
          <p:cNvPr id="9" name="Rounded Rectangle 8"/>
          <p:cNvSpPr/>
          <p:nvPr/>
        </p:nvSpPr>
        <p:spPr>
          <a:xfrm>
            <a:off x="621792" y="1689227"/>
            <a:ext cx="562356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780667"/>
            <a:ext cx="50292" cy="1298448"/>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1835530"/>
            <a:ext cx="5202936" cy="1207008"/>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The problem</a:t>
            </a:r>
          </a:p>
          <a:p>
            <a:pPr>
              <a:lnSpc>
                <a:spcPct val="118000"/>
              </a:lnSpc>
              <a:spcAft>
                <a:spcPts val="300"/>
              </a:spcAft>
            </a:pPr>
            <a:r>
              <a:rPr sz="1050" b="0" i="0">
                <a:solidFill>
                  <a:srgbClr val="3C5066"/>
                </a:solidFill>
                <a:latin typeface="Segoe UI"/>
              </a:rPr>
              <a:t>A teacher cannot continuously observe 30–40 students while also teaching.</a:t>
            </a:r>
          </a:p>
          <a:p>
            <a:pPr>
              <a:lnSpc>
                <a:spcPct val="118000"/>
              </a:lnSpc>
              <a:spcAft>
                <a:spcPts val="300"/>
              </a:spcAft>
            </a:pPr>
            <a:r>
              <a:rPr sz="1050" b="0" i="0">
                <a:solidFill>
                  <a:srgbClr val="3C5066"/>
                </a:solidFill>
                <a:latin typeface="Segoe UI"/>
              </a:rPr>
              <a:t>Manual observation is subjective, sampled at a few moments, and does not scale to every student across a whole lecture.</a:t>
            </a:r>
          </a:p>
        </p:txBody>
      </p:sp>
      <p:sp>
        <p:nvSpPr>
          <p:cNvPr id="12" name="Rounded Rectangle 11"/>
          <p:cNvSpPr/>
          <p:nvPr/>
        </p:nvSpPr>
        <p:spPr>
          <a:xfrm>
            <a:off x="6519672" y="1689227"/>
            <a:ext cx="562356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19672" y="1780667"/>
            <a:ext cx="50292" cy="1298448"/>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757416" y="1835530"/>
            <a:ext cx="5202936" cy="1207008"/>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Why existing tools fall short</a:t>
            </a:r>
          </a:p>
          <a:p>
            <a:pPr>
              <a:lnSpc>
                <a:spcPct val="118000"/>
              </a:lnSpc>
              <a:spcAft>
                <a:spcPts val="300"/>
              </a:spcAft>
            </a:pPr>
            <a:r>
              <a:rPr sz="1050" b="0" i="0">
                <a:solidFill>
                  <a:srgbClr val="3C5066"/>
                </a:solidFill>
                <a:latin typeface="Segoe UI"/>
              </a:rPr>
              <a:t>Attendance and face-recognition systems answer “who is present”, not “who is engaged”.</a:t>
            </a:r>
          </a:p>
          <a:p>
            <a:pPr>
              <a:lnSpc>
                <a:spcPct val="118000"/>
              </a:lnSpc>
              <a:spcAft>
                <a:spcPts val="300"/>
              </a:spcAft>
            </a:pPr>
            <a:r>
              <a:rPr sz="1050" b="0" i="0">
                <a:solidFill>
                  <a:srgbClr val="3C5066"/>
                </a:solidFill>
                <a:latin typeface="Segoe UI"/>
              </a:rPr>
              <a:t>Emotion classifiers give a per-frame label with no memory — no system reasons about behaviour over time or across the group.</a:t>
            </a:r>
          </a:p>
        </p:txBody>
      </p:sp>
      <p:sp>
        <p:nvSpPr>
          <p:cNvPr id="15" name="TextBox 14"/>
          <p:cNvSpPr txBox="1"/>
          <p:nvPr/>
        </p:nvSpPr>
        <p:spPr>
          <a:xfrm>
            <a:off x="621792" y="3390011"/>
            <a:ext cx="10948111" cy="274320"/>
          </a:xfrm>
          <a:prstGeom prst="rect">
            <a:avLst/>
          </a:prstGeom>
          <a:noFill/>
        </p:spPr>
        <p:txBody>
          <a:bodyPr wrap="square" lIns="0" rIns="0" tIns="0" bIns="0" anchor="t">
            <a:spAutoFit/>
          </a:bodyPr>
          <a:lstStyle/>
          <a:p>
            <a:r>
              <a:rPr sz="1350" b="1" i="0">
                <a:solidFill>
                  <a:srgbClr val="10273F"/>
                </a:solidFill>
                <a:latin typeface="Segoe UI Semibold"/>
              </a:rPr>
              <a:t>What we mean by “engagement” — defined before it is measured</a:t>
            </a:r>
          </a:p>
        </p:txBody>
      </p:sp>
      <p:sp>
        <p:nvSpPr>
          <p:cNvPr id="16" name="TextBox 15"/>
          <p:cNvSpPr txBox="1"/>
          <p:nvPr/>
        </p:nvSpPr>
        <p:spPr>
          <a:xfrm>
            <a:off x="621792" y="3700907"/>
            <a:ext cx="10948111" cy="914400"/>
          </a:xfrm>
          <a:prstGeom prst="rect">
            <a:avLst/>
          </a:prstGeom>
          <a:noFill/>
        </p:spPr>
        <p:txBody>
          <a:bodyPr wrap="square" lIns="0" rIns="0" tIns="0" bIns="0" anchor="t">
            <a:spAutoFit/>
          </a:bodyPr>
          <a:lstStyle/>
          <a:p>
            <a:pPr>
              <a:lnSpc>
                <a:spcPct val="122000"/>
              </a:lnSpc>
            </a:pPr>
            <a:r>
              <a:rPr sz="1100" b="0" i="0">
                <a:solidFill>
                  <a:srgbClr val="3C5066"/>
                </a:solidFill>
                <a:latin typeface="Segoe UI"/>
              </a:rPr>
              <a:t>We measure </a:t>
            </a:r>
            <a:r>
              <a:rPr sz="1100" b="1" i="0">
                <a:solidFill>
                  <a:srgbClr val="0E7C86"/>
                </a:solidFill>
                <a:latin typeface="Segoe UI"/>
              </a:rPr>
              <a:t>observable behaviour</a:t>
            </a:r>
            <a:r>
              <a:rPr sz="1100" b="0" i="0">
                <a:solidFill>
                  <a:srgbClr val="3C5066"/>
                </a:solidFill>
                <a:latin typeface="Segoe UI"/>
              </a:rPr>
              <a:t>, not inner emotional state. </a:t>
            </a:r>
            <a:r>
              <a:rPr sz="1100" b="0" i="0">
                <a:solidFill>
                  <a:srgbClr val="3C5066"/>
                </a:solidFill>
                <a:latin typeface="Segoe UI"/>
              </a:rPr>
              <a:t>Where a student is looking, whether their eyes are open, whether a phone is present, how their body is oriented, and how all of that changes over time. </a:t>
            </a:r>
            <a:r>
              <a:rPr sz="1100" b="0" i="0">
                <a:solidFill>
                  <a:srgbClr val="B47A14"/>
                </a:solidFill>
                <a:latin typeface="Segoe UI"/>
              </a:rPr>
              <a:t>We never infer feelings — that is both scientifically weaker and, in education settings, legally restricted.</a:t>
            </a:r>
          </a:p>
        </p:txBody>
      </p:sp>
      <p:sp>
        <p:nvSpPr>
          <p:cNvPr id="17" name="Rounded Rectangle 16"/>
          <p:cNvSpPr/>
          <p:nvPr/>
        </p:nvSpPr>
        <p:spPr>
          <a:xfrm>
            <a:off x="621792"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9808"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Detect</a:t>
            </a:r>
          </a:p>
        </p:txBody>
      </p:sp>
      <p:sp>
        <p:nvSpPr>
          <p:cNvPr id="19" name="TextBox 18"/>
          <p:cNvSpPr txBox="1"/>
          <p:nvPr/>
        </p:nvSpPr>
        <p:spPr>
          <a:xfrm>
            <a:off x="749808"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every student in frame, including back rows</a:t>
            </a:r>
          </a:p>
        </p:txBody>
      </p:sp>
      <p:sp>
        <p:nvSpPr>
          <p:cNvPr id="20" name="Rounded Rectangle 19"/>
          <p:cNvSpPr/>
          <p:nvPr/>
        </p:nvSpPr>
        <p:spPr>
          <a:xfrm>
            <a:off x="2470861"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98877"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Track</a:t>
            </a:r>
          </a:p>
        </p:txBody>
      </p:sp>
      <p:sp>
        <p:nvSpPr>
          <p:cNvPr id="22" name="TextBox 21"/>
          <p:cNvSpPr txBox="1"/>
          <p:nvPr/>
        </p:nvSpPr>
        <p:spPr>
          <a:xfrm>
            <a:off x="2598877"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stable identity for the whole session</a:t>
            </a:r>
          </a:p>
        </p:txBody>
      </p:sp>
      <p:sp>
        <p:nvSpPr>
          <p:cNvPr id="23" name="Rounded Rectangle 22"/>
          <p:cNvSpPr/>
          <p:nvPr/>
        </p:nvSpPr>
        <p:spPr>
          <a:xfrm>
            <a:off x="4319930"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447946"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Estimate</a:t>
            </a:r>
          </a:p>
        </p:txBody>
      </p:sp>
      <p:sp>
        <p:nvSpPr>
          <p:cNvPr id="25" name="TextBox 24"/>
          <p:cNvSpPr txBox="1"/>
          <p:nvPr/>
        </p:nvSpPr>
        <p:spPr>
          <a:xfrm>
            <a:off x="4447946"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attention state over a time window</a:t>
            </a:r>
          </a:p>
        </p:txBody>
      </p:sp>
      <p:sp>
        <p:nvSpPr>
          <p:cNvPr id="26" name="Rounded Rectangle 25"/>
          <p:cNvSpPr/>
          <p:nvPr/>
        </p:nvSpPr>
        <p:spPr>
          <a:xfrm>
            <a:off x="6168999"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97015"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Flag</a:t>
            </a:r>
          </a:p>
        </p:txBody>
      </p:sp>
      <p:sp>
        <p:nvSpPr>
          <p:cNvPr id="28" name="TextBox 27"/>
          <p:cNvSpPr txBox="1"/>
          <p:nvPr/>
        </p:nvSpPr>
        <p:spPr>
          <a:xfrm>
            <a:off x="6297015"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device distraction &amp; eye closure</a:t>
            </a:r>
          </a:p>
        </p:txBody>
      </p:sp>
      <p:sp>
        <p:nvSpPr>
          <p:cNvPr id="29" name="Rounded Rectangle 28"/>
          <p:cNvSpPr/>
          <p:nvPr/>
        </p:nvSpPr>
        <p:spPr>
          <a:xfrm>
            <a:off x="8018068"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146084"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Relate</a:t>
            </a:r>
          </a:p>
        </p:txBody>
      </p:sp>
      <p:sp>
        <p:nvSpPr>
          <p:cNvPr id="31" name="TextBox 30"/>
          <p:cNvSpPr txBox="1"/>
          <p:nvPr/>
        </p:nvSpPr>
        <p:spPr>
          <a:xfrm>
            <a:off x="8146084"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peer orientation &amp; group activity</a:t>
            </a:r>
          </a:p>
        </p:txBody>
      </p:sp>
      <p:sp>
        <p:nvSpPr>
          <p:cNvPr id="32" name="Rounded Rectangle 31"/>
          <p:cNvSpPr/>
          <p:nvPr/>
        </p:nvSpPr>
        <p:spPr>
          <a:xfrm>
            <a:off x="9867138"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995154"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Report</a:t>
            </a:r>
          </a:p>
        </p:txBody>
      </p:sp>
      <p:sp>
        <p:nvSpPr>
          <p:cNvPr id="34" name="TextBox 33"/>
          <p:cNvSpPr txBox="1"/>
          <p:nvPr/>
        </p:nvSpPr>
        <p:spPr>
          <a:xfrm>
            <a:off x="9995154"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trajectories + class-level 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MOTIVATION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Why this matters, and why now</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4</a:t>
            </a:r>
          </a:p>
        </p:txBody>
      </p:sp>
      <p:sp>
        <p:nvSpPr>
          <p:cNvPr id="8" name="Rounded Rectangle 7"/>
          <p:cNvSpPr/>
          <p:nvPr/>
        </p:nvSpPr>
        <p:spPr>
          <a:xfrm>
            <a:off x="621792" y="1373886"/>
            <a:ext cx="416052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520189"/>
            <a:ext cx="3904487" cy="548640"/>
          </a:xfrm>
          <a:prstGeom prst="rect">
            <a:avLst/>
          </a:prstGeom>
          <a:noFill/>
        </p:spPr>
        <p:txBody>
          <a:bodyPr wrap="square" lIns="0" rIns="0" tIns="0" bIns="0" anchor="t">
            <a:spAutoFit/>
          </a:bodyPr>
          <a:lstStyle/>
          <a:p>
            <a:pPr algn="ctr"/>
            <a:r>
              <a:rPr sz="3000" b="1" i="0">
                <a:solidFill>
                  <a:srgbClr val="0E7C86"/>
                </a:solidFill>
                <a:latin typeface="Segoe UI Semibold"/>
              </a:rPr>
              <a:t>30–40</a:t>
            </a:r>
          </a:p>
        </p:txBody>
      </p:sp>
      <p:sp>
        <p:nvSpPr>
          <p:cNvPr id="10" name="TextBox 9"/>
          <p:cNvSpPr txBox="1"/>
          <p:nvPr/>
        </p:nvSpPr>
        <p:spPr>
          <a:xfrm>
            <a:off x="749808" y="2123694"/>
            <a:ext cx="3904487"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students one teacher must watch at once in a typical class</a:t>
            </a:r>
          </a:p>
        </p:txBody>
      </p:sp>
      <p:sp>
        <p:nvSpPr>
          <p:cNvPr id="11" name="Rounded Rectangle 10"/>
          <p:cNvSpPr/>
          <p:nvPr/>
        </p:nvSpPr>
        <p:spPr>
          <a:xfrm>
            <a:off x="621792" y="3074670"/>
            <a:ext cx="416052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9808" y="3220974"/>
            <a:ext cx="3904487" cy="548640"/>
          </a:xfrm>
          <a:prstGeom prst="rect">
            <a:avLst/>
          </a:prstGeom>
          <a:noFill/>
        </p:spPr>
        <p:txBody>
          <a:bodyPr wrap="square" lIns="0" rIns="0" tIns="0" bIns="0" anchor="t">
            <a:spAutoFit/>
          </a:bodyPr>
          <a:lstStyle/>
          <a:p>
            <a:pPr algn="ctr"/>
            <a:r>
              <a:rPr sz="3000" b="1" i="0">
                <a:solidFill>
                  <a:srgbClr val="0E7C86"/>
                </a:solidFill>
                <a:latin typeface="Segoe UI Semibold"/>
              </a:rPr>
              <a:t>~50%</a:t>
            </a:r>
          </a:p>
        </p:txBody>
      </p:sp>
      <p:sp>
        <p:nvSpPr>
          <p:cNvPr id="13" name="TextBox 12"/>
          <p:cNvSpPr txBox="1"/>
          <p:nvPr/>
        </p:nvSpPr>
        <p:spPr>
          <a:xfrm>
            <a:off x="749808" y="3824478"/>
            <a:ext cx="3904487"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of detected students have no usable face from a real ceiling camera — measured on our own footage</a:t>
            </a:r>
          </a:p>
        </p:txBody>
      </p:sp>
      <p:sp>
        <p:nvSpPr>
          <p:cNvPr id="14" name="Rounded Rectangle 13"/>
          <p:cNvSpPr/>
          <p:nvPr/>
        </p:nvSpPr>
        <p:spPr>
          <a:xfrm>
            <a:off x="5038344" y="1373886"/>
            <a:ext cx="6531559" cy="3346704"/>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12664" y="1556766"/>
            <a:ext cx="5982919" cy="237744"/>
          </a:xfrm>
          <a:prstGeom prst="rect">
            <a:avLst/>
          </a:prstGeom>
          <a:noFill/>
        </p:spPr>
        <p:txBody>
          <a:bodyPr wrap="square" lIns="0" rIns="0" tIns="0" bIns="0" anchor="t">
            <a:spAutoFit/>
          </a:bodyPr>
          <a:lstStyle/>
          <a:p>
            <a:r>
              <a:rPr sz="1000" b="1" i="0">
                <a:solidFill>
                  <a:srgbClr val="6FC5CE"/>
                </a:solidFill>
                <a:latin typeface="Segoe UI Semibold"/>
              </a:rPr>
              <a:t>THIS PROBLEM IS ALREADY BEING SOLVED BADLY</a:t>
            </a:r>
          </a:p>
        </p:txBody>
      </p:sp>
      <p:sp>
        <p:nvSpPr>
          <p:cNvPr id="16" name="TextBox 15"/>
          <p:cNvSpPr txBox="1"/>
          <p:nvPr/>
        </p:nvSpPr>
        <p:spPr>
          <a:xfrm>
            <a:off x="5312664" y="1831086"/>
            <a:ext cx="1005840" cy="457200"/>
          </a:xfrm>
          <a:prstGeom prst="rect">
            <a:avLst/>
          </a:prstGeom>
          <a:noFill/>
        </p:spPr>
        <p:txBody>
          <a:bodyPr wrap="square" lIns="0" rIns="0" tIns="0" bIns="0" anchor="t">
            <a:spAutoFit/>
          </a:bodyPr>
          <a:lstStyle/>
          <a:p>
            <a:r>
              <a:rPr sz="3200" b="1" i="0">
                <a:solidFill>
                  <a:srgbClr val="FFFFFF"/>
                </a:solidFill>
                <a:latin typeface="Segoe UI Semibold"/>
              </a:rPr>
              <a:t>83</a:t>
            </a:r>
          </a:p>
        </p:txBody>
      </p:sp>
      <p:sp>
        <p:nvSpPr>
          <p:cNvPr id="17" name="TextBox 16"/>
          <p:cNvSpPr txBox="1"/>
          <p:nvPr/>
        </p:nvSpPr>
        <p:spPr>
          <a:xfrm>
            <a:off x="6227064" y="1867662"/>
            <a:ext cx="5068519" cy="640080"/>
          </a:xfrm>
          <a:prstGeom prst="rect">
            <a:avLst/>
          </a:prstGeom>
          <a:noFill/>
        </p:spPr>
        <p:txBody>
          <a:bodyPr wrap="square" lIns="0" rIns="0" tIns="0" bIns="0" anchor="t">
            <a:spAutoFit/>
          </a:bodyPr>
          <a:lstStyle/>
          <a:p>
            <a:pPr>
              <a:lnSpc>
                <a:spcPct val="122000"/>
              </a:lnSpc>
            </a:pPr>
            <a:r>
              <a:rPr sz="1150" b="0" i="0">
                <a:solidFill>
                  <a:srgbClr val="FFFFFF"/>
                </a:solidFill>
                <a:latin typeface="Segoe UI"/>
              </a:rPr>
              <a:t>Hong Kong schools now using “4 Little Trees”, which reads a child's face and scores their emotion in real time.</a:t>
            </a:r>
          </a:p>
        </p:txBody>
      </p:sp>
      <p:sp>
        <p:nvSpPr>
          <p:cNvPr id="18" name="Rectangle 17"/>
          <p:cNvSpPr/>
          <p:nvPr/>
        </p:nvSpPr>
        <p:spPr>
          <a:xfrm>
            <a:off x="5312664" y="2599182"/>
            <a:ext cx="5982919" cy="10972"/>
          </a:xfrm>
          <a:prstGeom prst="rect">
            <a:avLst/>
          </a:prstGeom>
          <a:solidFill>
            <a:srgbClr val="2E4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12664" y="2763774"/>
            <a:ext cx="5982919" cy="786384"/>
          </a:xfrm>
          <a:prstGeom prst="rect">
            <a:avLst/>
          </a:prstGeom>
          <a:noFill/>
        </p:spPr>
        <p:txBody>
          <a:bodyPr wrap="square" lIns="0" rIns="0" tIns="0" bIns="0" anchor="t">
            <a:spAutoFit/>
          </a:bodyPr>
          <a:lstStyle/>
          <a:p>
            <a:pPr>
              <a:lnSpc>
                <a:spcPct val="126000"/>
              </a:lnSpc>
            </a:pPr>
            <a:r>
              <a:rPr sz="1200" b="1" i="0">
                <a:solidFill>
                  <a:srgbClr val="FFFFFF"/>
                </a:solidFill>
                <a:latin typeface="Segoe UI Semibold"/>
              </a:rPr>
              <a:t>A Hangzhou school</a:t>
            </a:r>
            <a:r>
              <a:rPr sz="1200" b="0" i="0">
                <a:solidFill>
                  <a:srgbClr val="FFFFFF"/>
                </a:solidFill>
                <a:latin typeface="Segoe UI"/>
              </a:rPr>
              <a:t> scans every student's face every 30 seconds and posts a live attention score on the classroom wall.</a:t>
            </a:r>
          </a:p>
        </p:txBody>
      </p:sp>
      <p:sp>
        <p:nvSpPr>
          <p:cNvPr id="20" name="Rectangle 19"/>
          <p:cNvSpPr/>
          <p:nvPr/>
        </p:nvSpPr>
        <p:spPr>
          <a:xfrm>
            <a:off x="5312664" y="3623310"/>
            <a:ext cx="5982919" cy="10972"/>
          </a:xfrm>
          <a:prstGeom prst="rect">
            <a:avLst/>
          </a:prstGeom>
          <a:solidFill>
            <a:srgbClr val="2E4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12664" y="3769614"/>
            <a:ext cx="5982919" cy="822960"/>
          </a:xfrm>
          <a:prstGeom prst="rect">
            <a:avLst/>
          </a:prstGeom>
          <a:noFill/>
        </p:spPr>
        <p:txBody>
          <a:bodyPr wrap="square" lIns="0" rIns="0" tIns="0" bIns="0" anchor="t">
            <a:spAutoFit/>
          </a:bodyPr>
          <a:lstStyle/>
          <a:p>
            <a:pPr>
              <a:lnSpc>
                <a:spcPct val="128000"/>
              </a:lnSpc>
            </a:pPr>
            <a:r>
              <a:rPr sz="1150" b="1" i="0">
                <a:solidFill>
                  <a:srgbClr val="B47A14"/>
                </a:solidFill>
                <a:latin typeface="Segoe UI"/>
              </a:rPr>
              <a:t>Both were built on facial emotion recognition and both drew real privacy backlash</a:t>
            </a:r>
            <a:r>
              <a:rPr sz="1150" b="0" i="0">
                <a:solidFill>
                  <a:srgbClr val="FFFFFF"/>
                </a:solidFill>
                <a:latin typeface="Segoe UI"/>
              </a:rPr>
              <a:t> — the exact design mistake this project deliberately avoids.</a:t>
            </a:r>
          </a:p>
        </p:txBody>
      </p:sp>
      <p:sp>
        <p:nvSpPr>
          <p:cNvPr id="22" name="Rounded Rectangle 21"/>
          <p:cNvSpPr/>
          <p:nvPr/>
        </p:nvSpPr>
        <p:spPr>
          <a:xfrm>
            <a:off x="621792" y="4903470"/>
            <a:ext cx="5346039" cy="87782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1792" y="4994909"/>
            <a:ext cx="50292" cy="6949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59536" y="5049774"/>
            <a:ext cx="4925415" cy="603503"/>
          </a:xfrm>
          <a:prstGeom prst="rect">
            <a:avLst/>
          </a:prstGeom>
          <a:noFill/>
        </p:spPr>
        <p:txBody>
          <a:bodyPr wrap="square" lIns="0" rIns="0" tIns="0" bIns="0" anchor="t">
            <a:spAutoFit/>
          </a:bodyPr>
          <a:lstStyle/>
          <a:p>
            <a:pPr>
              <a:lnSpc>
                <a:spcPct val="105000"/>
              </a:lnSpc>
              <a:spcAft>
                <a:spcPts val="500"/>
              </a:spcAft>
            </a:pPr>
            <a:r>
              <a:rPr sz="1100" b="1" i="0">
                <a:solidFill>
                  <a:srgbClr val="10273F"/>
                </a:solidFill>
                <a:latin typeface="Segoe UI Semibold"/>
              </a:rPr>
              <a:t>Why now — feasibility changed</a:t>
            </a:r>
          </a:p>
          <a:p>
            <a:pPr>
              <a:lnSpc>
                <a:spcPct val="118000"/>
              </a:lnSpc>
              <a:spcAft>
                <a:spcPts val="300"/>
              </a:spcAft>
            </a:pPr>
            <a:r>
              <a:rPr sz="900" b="0" i="0">
                <a:solidFill>
                  <a:srgbClr val="3C5066"/>
                </a:solidFill>
                <a:latin typeface="Segoe UI"/>
              </a:rPr>
              <a:t>Detection, face mesh, head pose and body pose are all strong pretrained models today. The open question is no longer “can we see it” but “what does it mean, and over what timescale”.</a:t>
            </a:r>
          </a:p>
        </p:txBody>
      </p:sp>
      <p:sp>
        <p:nvSpPr>
          <p:cNvPr id="25" name="Rounded Rectangle 24"/>
          <p:cNvSpPr/>
          <p:nvPr/>
        </p:nvSpPr>
        <p:spPr>
          <a:xfrm>
            <a:off x="6223863" y="4903470"/>
            <a:ext cx="5346039" cy="87782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23863" y="4994909"/>
            <a:ext cx="50292" cy="6949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61607" y="5049774"/>
            <a:ext cx="4925415" cy="603503"/>
          </a:xfrm>
          <a:prstGeom prst="rect">
            <a:avLst/>
          </a:prstGeom>
          <a:noFill/>
        </p:spPr>
        <p:txBody>
          <a:bodyPr wrap="square" lIns="0" rIns="0" tIns="0" bIns="0" anchor="t">
            <a:spAutoFit/>
          </a:bodyPr>
          <a:lstStyle/>
          <a:p>
            <a:pPr>
              <a:lnSpc>
                <a:spcPct val="105000"/>
              </a:lnSpc>
              <a:spcAft>
                <a:spcPts val="500"/>
              </a:spcAft>
            </a:pPr>
            <a:r>
              <a:rPr sz="1100" b="1" i="0">
                <a:solidFill>
                  <a:srgbClr val="10273F"/>
                </a:solidFill>
                <a:latin typeface="Segoe UI Semibold"/>
              </a:rPr>
              <a:t>Where it applies</a:t>
            </a:r>
          </a:p>
          <a:p>
            <a:pPr>
              <a:lnSpc>
                <a:spcPct val="118000"/>
              </a:lnSpc>
              <a:spcAft>
                <a:spcPts val="300"/>
              </a:spcAft>
            </a:pPr>
            <a:r>
              <a:rPr sz="900" b="0" i="0">
                <a:solidFill>
                  <a:srgbClr val="3C5066"/>
                </a:solidFill>
                <a:latin typeface="Segoe UI"/>
              </a:rPr>
              <a:t>Schools, colleges and coaching centres · hybrid learning · corporate training · teaching-quality feedback · educational research on attention.</a:t>
            </a:r>
          </a:p>
        </p:txBody>
      </p:sp>
      <p:sp>
        <p:nvSpPr>
          <p:cNvPr id="28" name="Rounded Rectangle 27"/>
          <p:cNvSpPr/>
          <p:nvPr/>
        </p:nvSpPr>
        <p:spPr>
          <a:xfrm>
            <a:off x="621792" y="5945886"/>
            <a:ext cx="10948111" cy="749808"/>
          </a:xfrm>
          <a:prstGeom prst="roundRect">
            <a:avLst>
              <a:gd name="adj" fmla="val 4500"/>
            </a:avLst>
          </a:prstGeom>
          <a:solidFill>
            <a:srgbClr val="E9F1F4"/>
          </a:solidFill>
          <a:ln w="1397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7824" y="6073901"/>
            <a:ext cx="10436047" cy="548640"/>
          </a:xfrm>
          <a:prstGeom prst="rect">
            <a:avLst/>
          </a:prstGeom>
          <a:noFill/>
        </p:spPr>
        <p:txBody>
          <a:bodyPr wrap="square" lIns="0" rIns="0" tIns="0" bIns="0" anchor="t">
            <a:spAutoFit/>
          </a:bodyPr>
          <a:lstStyle/>
          <a:p>
            <a:pPr>
              <a:lnSpc>
                <a:spcPct val="122000"/>
              </a:lnSpc>
            </a:pPr>
            <a:r>
              <a:rPr sz="1150" b="1" i="0">
                <a:solidFill>
                  <a:srgbClr val="085961"/>
                </a:solidFill>
                <a:latin typeface="Segoe UI Semibold"/>
              </a:rPr>
              <a:t>Our framing:  </a:t>
            </a:r>
            <a:r>
              <a:rPr sz="1150" b="0" i="0">
                <a:solidFill>
                  <a:srgbClr val="10273F"/>
                </a:solidFill>
                <a:latin typeface="Segoe UI"/>
              </a:rPr>
              <a:t>behaviour, not emotion — and a trend a teacher can act on, not a score per student. “Attention across the room dropped sharply 22 minutes in” is actionable and fair. A live per-child score on the classroom wall is neither.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OBJECTIVES</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Objectives, each with a measurable success criterion</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Stated so progress can be checked rather than asserted. Status reflects this review.</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5</a:t>
            </a:r>
          </a:p>
        </p:txBody>
      </p:sp>
      <p:graphicFrame>
        <p:nvGraphicFramePr>
          <p:cNvPr id="9" name="Table 8"/>
          <p:cNvGraphicFramePr>
            <a:graphicFrameLocks noGrp="1"/>
          </p:cNvGraphicFramePr>
          <p:nvPr/>
        </p:nvGraphicFramePr>
        <p:xfrm>
          <a:off x="621792" y="1689227"/>
          <a:ext cx="10945368" cy="3218688"/>
        </p:xfrm>
        <a:graphic>
          <a:graphicData uri="http://schemas.openxmlformats.org/drawingml/2006/table">
            <a:tbl>
              <a:tblPr>
                <a:tableStyleId>{5C22544A-7EE6-4342-B048-85BDC9FD1C3A}</a:tableStyleId>
              </a:tblPr>
              <a:tblGrid>
                <a:gridCol w="475488"/>
                <a:gridCol w="3017520"/>
                <a:gridCol w="5989320"/>
                <a:gridCol w="1463040"/>
              </a:tblGrid>
              <a:tr h="365760">
                <a:tc>
                  <a:txBody>
                    <a:bodyPr wrap="square"/>
                    <a:lstStyle/>
                    <a:p>
                      <a:r>
                        <a:rPr sz="1000" b="1">
                          <a:solidFill>
                            <a:srgbClr val="FFFFFF"/>
                          </a:solidFill>
                          <a:latin typeface="Segoe UI Semibold"/>
                        </a:rPr>
                        <a:t>#</a:t>
                      </a:r>
                    </a:p>
                  </a:txBody>
                  <a:tcPr marL="91440" marR="73152" marT="36576" marB="36576" anchor="ctr">
                    <a:solidFill>
                      <a:srgbClr val="10273F"/>
                    </a:solidFill>
                  </a:tcPr>
                </a:tc>
                <a:tc>
                  <a:txBody>
                    <a:bodyPr wrap="square"/>
                    <a:lstStyle/>
                    <a:p>
                      <a:r>
                        <a:rPr sz="1000" b="1">
                          <a:solidFill>
                            <a:srgbClr val="FFFFFF"/>
                          </a:solidFill>
                          <a:latin typeface="Segoe UI Semibold"/>
                        </a:rPr>
                        <a:t>Objective</a:t>
                      </a:r>
                    </a:p>
                  </a:txBody>
                  <a:tcPr marL="91440" marR="73152" marT="36576" marB="36576" anchor="ctr">
                    <a:solidFill>
                      <a:srgbClr val="10273F"/>
                    </a:solidFill>
                  </a:tcPr>
                </a:tc>
                <a:tc>
                  <a:txBody>
                    <a:bodyPr wrap="square"/>
                    <a:lstStyle/>
                    <a:p>
                      <a:r>
                        <a:rPr sz="1000" b="1">
                          <a:solidFill>
                            <a:srgbClr val="FFFFFF"/>
                          </a:solidFill>
                          <a:latin typeface="Segoe UI Semibold"/>
                        </a:rPr>
                        <a:t>Measurable success criterion</a:t>
                      </a:r>
                    </a:p>
                  </a:txBody>
                  <a:tcPr marL="91440" marR="73152" marT="36576" marB="36576" anchor="ctr">
                    <a:solidFill>
                      <a:srgbClr val="10273F"/>
                    </a:solidFill>
                  </a:tcPr>
                </a:tc>
                <a:tc>
                  <a:txBody>
                    <a:bodyPr wrap="square"/>
                    <a:lstStyle/>
                    <a:p>
                      <a:r>
                        <a:rPr sz="1000" b="1">
                          <a:solidFill>
                            <a:srgbClr val="FFFFFF"/>
                          </a:solidFill>
                          <a:latin typeface="Segoe UI Semibold"/>
                        </a:rPr>
                        <a:t>Status</a:t>
                      </a:r>
                    </a:p>
                  </a:txBody>
                  <a:tcPr marL="91440" marR="73152" marT="36576" marB="36576" anchor="ctr">
                    <a:solidFill>
                      <a:srgbClr val="10273F"/>
                    </a:solidFill>
                  </a:tcPr>
                </a:tc>
              </a:tr>
              <a:tr h="475488">
                <a:tc>
                  <a:txBody>
                    <a:bodyPr wrap="square"/>
                    <a:lstStyle/>
                    <a:p>
                      <a:r>
                        <a:rPr sz="1000" b="0">
                          <a:solidFill>
                            <a:srgbClr val="3C5066"/>
                          </a:solidFill>
                          <a:latin typeface="Segoe UI"/>
                        </a:rPr>
                        <a:t>O1</a:t>
                      </a:r>
                    </a:p>
                  </a:txBody>
                  <a:tcPr marL="91440" marR="73152" marT="36576" marB="36576" anchor="ctr">
                    <a:solidFill>
                      <a:srgbClr val="FFFFFF"/>
                    </a:solidFill>
                  </a:tcPr>
                </a:tc>
                <a:tc>
                  <a:txBody>
                    <a:bodyPr wrap="square"/>
                    <a:lstStyle/>
                    <a:p>
                      <a:r>
                        <a:rPr sz="1000" b="1">
                          <a:solidFill>
                            <a:srgbClr val="3C5066"/>
                          </a:solidFill>
                          <a:latin typeface="Segoe UI"/>
                        </a:rPr>
                        <a:t>Detect every student in frame</a:t>
                      </a:r>
                    </a:p>
                  </a:txBody>
                  <a:tcPr marL="91440" marR="73152" marT="36576" marB="36576" anchor="ctr">
                    <a:solidFill>
                      <a:srgbClr val="FFFFFF"/>
                    </a:solidFill>
                  </a:tcPr>
                </a:tc>
                <a:tc>
                  <a:txBody>
                    <a:bodyPr wrap="square"/>
                    <a:lstStyle/>
                    <a:p>
                      <a:r>
                        <a:rPr sz="1000" b="0">
                          <a:solidFill>
                            <a:srgbClr val="3C5066"/>
                          </a:solidFill>
                          <a:latin typeface="Segoe UI"/>
                        </a:rPr>
                        <a:t>Recall on real classroom frames; back rows not lost to downscaling</a:t>
                      </a:r>
                    </a:p>
                  </a:txBody>
                  <a:tcPr marL="91440" marR="73152" marT="36576" marB="36576" anchor="ctr">
                    <a:solidFill>
                      <a:srgbClr val="FFFFFF"/>
                    </a:solidFill>
                  </a:tcPr>
                </a:tc>
                <a:tc>
                  <a:txBody>
                    <a:bodyPr wrap="square"/>
                    <a:lstStyle/>
                    <a:p>
                      <a:r>
                        <a:rPr sz="1000" b="1">
                          <a:solidFill>
                            <a:srgbClr val="1F6F50"/>
                          </a:solidFill>
                          <a:latin typeface="Segoe UI"/>
                        </a:rPr>
                        <a:t>Done</a:t>
                      </a:r>
                    </a:p>
                  </a:txBody>
                  <a:tcPr marL="91440" marR="73152" marT="36576" marB="36576" anchor="ctr">
                    <a:solidFill>
                      <a:srgbClr val="FFFFFF"/>
                    </a:solidFill>
                  </a:tcPr>
                </a:tc>
              </a:tr>
              <a:tr h="475488">
                <a:tc>
                  <a:txBody>
                    <a:bodyPr wrap="square"/>
                    <a:lstStyle/>
                    <a:p>
                      <a:r>
                        <a:rPr sz="1000" b="0">
                          <a:solidFill>
                            <a:srgbClr val="3C5066"/>
                          </a:solidFill>
                          <a:latin typeface="Segoe UI"/>
                        </a:rPr>
                        <a:t>O2</a:t>
                      </a:r>
                    </a:p>
                  </a:txBody>
                  <a:tcPr marL="91440" marR="73152" marT="36576" marB="36576" anchor="ctr">
                    <a:solidFill>
                      <a:srgbClr val="F3F7FA"/>
                    </a:solidFill>
                  </a:tcPr>
                </a:tc>
                <a:tc>
                  <a:txBody>
                    <a:bodyPr wrap="square"/>
                    <a:lstStyle/>
                    <a:p>
                      <a:r>
                        <a:rPr sz="1000" b="1">
                          <a:solidFill>
                            <a:srgbClr val="3C5066"/>
                          </a:solidFill>
                          <a:latin typeface="Segoe UI"/>
                        </a:rPr>
                        <a:t>Maintain stable identity within a session</a:t>
                      </a:r>
                    </a:p>
                  </a:txBody>
                  <a:tcPr marL="91440" marR="73152" marT="36576" marB="36576" anchor="ctr">
                    <a:solidFill>
                      <a:srgbClr val="F3F7FA"/>
                    </a:solidFill>
                  </a:tcPr>
                </a:tc>
                <a:tc>
                  <a:txBody>
                    <a:bodyPr wrap="square"/>
                    <a:lstStyle/>
                    <a:p>
                      <a:r>
                        <a:rPr sz="1000" b="0">
                          <a:solidFill>
                            <a:srgbClr val="3C5066"/>
                          </a:solidFill>
                          <a:latin typeface="Segoe UI"/>
                        </a:rPr>
                        <a:t>One track_id per student across occlusion; identity never crosses sessions</a:t>
                      </a:r>
                    </a:p>
                  </a:txBody>
                  <a:tcPr marL="91440" marR="73152" marT="36576" marB="36576" anchor="ctr">
                    <a:solidFill>
                      <a:srgbClr val="F3F7FA"/>
                    </a:solidFill>
                  </a:tcPr>
                </a:tc>
                <a:tc>
                  <a:txBody>
                    <a:bodyPr wrap="square"/>
                    <a:lstStyle/>
                    <a:p>
                      <a:r>
                        <a:rPr sz="1000" b="1">
                          <a:solidFill>
                            <a:srgbClr val="1F6F50"/>
                          </a:solidFill>
                          <a:latin typeface="Segoe UI"/>
                        </a:rPr>
                        <a:t>Done</a:t>
                      </a:r>
                    </a:p>
                  </a:txBody>
                  <a:tcPr marL="91440" marR="73152" marT="36576" marB="36576" anchor="ctr">
                    <a:solidFill>
                      <a:srgbClr val="F3F7FA"/>
                    </a:solidFill>
                  </a:tcPr>
                </a:tc>
              </a:tr>
              <a:tr h="475488">
                <a:tc>
                  <a:txBody>
                    <a:bodyPr wrap="square"/>
                    <a:lstStyle/>
                    <a:p>
                      <a:r>
                        <a:rPr sz="1000" b="0">
                          <a:solidFill>
                            <a:srgbClr val="3C5066"/>
                          </a:solidFill>
                          <a:latin typeface="Segoe UI"/>
                        </a:rPr>
                        <a:t>O3</a:t>
                      </a:r>
                    </a:p>
                  </a:txBody>
                  <a:tcPr marL="91440" marR="73152" marT="36576" marB="36576" anchor="ctr">
                    <a:solidFill>
                      <a:srgbClr val="FFFFFF"/>
                    </a:solidFill>
                  </a:tcPr>
                </a:tc>
                <a:tc>
                  <a:txBody>
                    <a:bodyPr wrap="square"/>
                    <a:lstStyle/>
                    <a:p>
                      <a:r>
                        <a:rPr sz="1000" b="1">
                          <a:solidFill>
                            <a:srgbClr val="3C5066"/>
                          </a:solidFill>
                          <a:latin typeface="Segoe UI"/>
                        </a:rPr>
                        <a:t>Per-student attention state over time</a:t>
                      </a:r>
                    </a:p>
                  </a:txBody>
                  <a:tcPr marL="91440" marR="73152" marT="36576" marB="36576" anchor="ctr">
                    <a:solidFill>
                      <a:srgbClr val="FFFFFF"/>
                    </a:solidFill>
                  </a:tcPr>
                </a:tc>
                <a:tc>
                  <a:txBody>
                    <a:bodyPr wrap="square"/>
                    <a:lstStyle/>
                    <a:p>
                      <a:r>
                        <a:rPr sz="1000" b="0">
                          <a:solidFill>
                            <a:srgbClr val="3C5066"/>
                          </a:solidFill>
                          <a:latin typeface="Segoe UI"/>
                        </a:rPr>
                        <a:t>Windowed distribution over 6 behaviour categories, not per-frame verdicts</a:t>
                      </a:r>
                    </a:p>
                  </a:txBody>
                  <a:tcPr marL="91440" marR="73152" marT="36576" marB="36576" anchor="ctr">
                    <a:solidFill>
                      <a:srgbClr val="FFFFFF"/>
                    </a:solidFill>
                  </a:tcPr>
                </a:tc>
                <a:tc>
                  <a:txBody>
                    <a:bodyPr wrap="square"/>
                    <a:lstStyle/>
                    <a:p>
                      <a:r>
                        <a:rPr sz="1000" b="1">
                          <a:solidFill>
                            <a:srgbClr val="1F6F50"/>
                          </a:solidFill>
                          <a:latin typeface="Segoe UI"/>
                        </a:rPr>
                        <a:t>Done</a:t>
                      </a:r>
                    </a:p>
                  </a:txBody>
                  <a:tcPr marL="91440" marR="73152" marT="36576" marB="36576" anchor="ctr">
                    <a:solidFill>
                      <a:srgbClr val="FFFFFF"/>
                    </a:solidFill>
                  </a:tcPr>
                </a:tc>
              </a:tr>
              <a:tr h="475488">
                <a:tc>
                  <a:txBody>
                    <a:bodyPr wrap="square"/>
                    <a:lstStyle/>
                    <a:p>
                      <a:r>
                        <a:rPr sz="1000" b="0">
                          <a:solidFill>
                            <a:srgbClr val="3C5066"/>
                          </a:solidFill>
                          <a:latin typeface="Segoe UI"/>
                        </a:rPr>
                        <a:t>O4</a:t>
                      </a:r>
                    </a:p>
                  </a:txBody>
                  <a:tcPr marL="91440" marR="73152" marT="36576" marB="36576" anchor="ctr">
                    <a:solidFill>
                      <a:srgbClr val="F3F7FA"/>
                    </a:solidFill>
                  </a:tcPr>
                </a:tc>
                <a:tc>
                  <a:txBody>
                    <a:bodyPr wrap="square"/>
                    <a:lstStyle/>
                    <a:p>
                      <a:r>
                        <a:rPr sz="1000" b="1">
                          <a:solidFill>
                            <a:srgbClr val="3C5066"/>
                          </a:solidFill>
                          <a:latin typeface="Segoe UI"/>
                        </a:rPr>
                        <a:t>Flag device distraction and eye closure</a:t>
                      </a:r>
                    </a:p>
                  </a:txBody>
                  <a:tcPr marL="91440" marR="73152" marT="36576" marB="36576" anchor="ctr">
                    <a:solidFill>
                      <a:srgbClr val="F3F7FA"/>
                    </a:solidFill>
                  </a:tcPr>
                </a:tc>
                <a:tc>
                  <a:txBody>
                    <a:bodyPr wrap="square"/>
                    <a:lstStyle/>
                    <a:p>
                      <a:r>
                        <a:rPr sz="1000" b="0">
                          <a:solidFill>
                            <a:srgbClr val="3C5066"/>
                          </a:solidFill>
                          <a:latin typeface="Segoe UI"/>
                        </a:rPr>
                        <a:t>Phone-overlap + gaze-down evidence; EAR-based eye state</a:t>
                      </a:r>
                    </a:p>
                  </a:txBody>
                  <a:tcPr marL="91440" marR="73152" marT="36576" marB="36576" anchor="ctr">
                    <a:solidFill>
                      <a:srgbClr val="F3F7FA"/>
                    </a:solidFill>
                  </a:tcPr>
                </a:tc>
                <a:tc>
                  <a:txBody>
                    <a:bodyPr wrap="square"/>
                    <a:lstStyle/>
                    <a:p>
                      <a:r>
                        <a:rPr sz="1000" b="1">
                          <a:solidFill>
                            <a:srgbClr val="1F6F50"/>
                          </a:solidFill>
                          <a:latin typeface="Segoe UI"/>
                        </a:rPr>
                        <a:t>Done</a:t>
                      </a:r>
                    </a:p>
                  </a:txBody>
                  <a:tcPr marL="91440" marR="73152" marT="36576" marB="36576" anchor="ctr">
                    <a:solidFill>
                      <a:srgbClr val="F3F7FA"/>
                    </a:solidFill>
                  </a:tcPr>
                </a:tc>
              </a:tr>
              <a:tr h="475488">
                <a:tc>
                  <a:txBody>
                    <a:bodyPr wrap="square"/>
                    <a:lstStyle/>
                    <a:p>
                      <a:r>
                        <a:rPr sz="1000" b="0">
                          <a:solidFill>
                            <a:srgbClr val="3C5066"/>
                          </a:solidFill>
                          <a:latin typeface="Segoe UI"/>
                        </a:rPr>
                        <a:t>O5</a:t>
                      </a:r>
                    </a:p>
                  </a:txBody>
                  <a:tcPr marL="91440" marR="73152" marT="36576" marB="36576" anchor="ctr">
                    <a:solidFill>
                      <a:srgbClr val="FFFFFF"/>
                    </a:solidFill>
                  </a:tcPr>
                </a:tc>
                <a:tc>
                  <a:txBody>
                    <a:bodyPr wrap="square"/>
                    <a:lstStyle/>
                    <a:p>
                      <a:r>
                        <a:rPr sz="1000" b="1">
                          <a:solidFill>
                            <a:srgbClr val="3C5066"/>
                          </a:solidFill>
                          <a:latin typeface="Segoe UI"/>
                        </a:rPr>
                        <a:t>Model peer orientation and group activity</a:t>
                      </a:r>
                    </a:p>
                  </a:txBody>
                  <a:tcPr marL="91440" marR="73152" marT="36576" marB="36576" anchor="ctr">
                    <a:solidFill>
                      <a:srgbClr val="FFFFFF"/>
                    </a:solidFill>
                  </a:tcPr>
                </a:tc>
                <a:tc>
                  <a:txBody>
                    <a:bodyPr wrap="square"/>
                    <a:lstStyle/>
                    <a:p>
                      <a:r>
                        <a:rPr sz="1000" b="0">
                          <a:solidFill>
                            <a:srgbClr val="3C5066"/>
                          </a:solidFill>
                          <a:latin typeface="Segoe UI"/>
                        </a:rPr>
                        <a:t>Geometric pair detection now; scene-graph + GAR next</a:t>
                      </a:r>
                    </a:p>
                  </a:txBody>
                  <a:tcPr marL="91440" marR="73152" marT="36576" marB="36576" anchor="ctr">
                    <a:solidFill>
                      <a:srgbClr val="FFFFFF"/>
                    </a:solidFill>
                  </a:tcPr>
                </a:tc>
                <a:tc>
                  <a:txBody>
                    <a:bodyPr wrap="square"/>
                    <a:lstStyle/>
                    <a:p>
                      <a:r>
                        <a:rPr sz="1000" b="1">
                          <a:solidFill>
                            <a:srgbClr val="B47A14"/>
                          </a:solidFill>
                          <a:latin typeface="Segoe UI"/>
                        </a:rPr>
                        <a:t>In progress</a:t>
                      </a:r>
                    </a:p>
                  </a:txBody>
                  <a:tcPr marL="91440" marR="73152" marT="36576" marB="36576" anchor="ctr">
                    <a:solidFill>
                      <a:srgbClr val="FFFFFF"/>
                    </a:solidFill>
                  </a:tcPr>
                </a:tc>
              </a:tr>
              <a:tr h="475488">
                <a:tc>
                  <a:txBody>
                    <a:bodyPr wrap="square"/>
                    <a:lstStyle/>
                    <a:p>
                      <a:r>
                        <a:rPr sz="1000" b="0">
                          <a:solidFill>
                            <a:srgbClr val="3C5066"/>
                          </a:solidFill>
                          <a:latin typeface="Segoe UI"/>
                        </a:rPr>
                        <a:t>O6</a:t>
                      </a:r>
                    </a:p>
                  </a:txBody>
                  <a:tcPr marL="91440" marR="73152" marT="36576" marB="36576" anchor="ctr">
                    <a:solidFill>
                      <a:srgbClr val="F3F7FA"/>
                    </a:solidFill>
                  </a:tcPr>
                </a:tc>
                <a:tc>
                  <a:txBody>
                    <a:bodyPr wrap="square"/>
                    <a:lstStyle/>
                    <a:p>
                      <a:r>
                        <a:rPr sz="1000" b="1">
                          <a:solidFill>
                            <a:srgbClr val="3C5066"/>
                          </a:solidFill>
                          <a:latin typeface="Segoe UI"/>
                        </a:rPr>
                        <a:t>Report trajectories and class-level trends</a:t>
                      </a:r>
                    </a:p>
                  </a:txBody>
                  <a:tcPr marL="91440" marR="73152" marT="36576" marB="36576" anchor="ctr">
                    <a:solidFill>
                      <a:srgbClr val="F3F7FA"/>
                    </a:solidFill>
                  </a:tcPr>
                </a:tc>
                <a:tc>
                  <a:txBody>
                    <a:bodyPr wrap="square"/>
                    <a:lstStyle/>
                    <a:p>
                      <a:r>
                        <a:rPr sz="1000" b="0">
                          <a:solidFill>
                            <a:srgbClr val="3C5066"/>
                          </a:solidFill>
                          <a:latin typeface="Segoe UI"/>
                        </a:rPr>
                        <a:t>Class summary by default, individual as explicit drill-down</a:t>
                      </a:r>
                    </a:p>
                  </a:txBody>
                  <a:tcPr marL="91440" marR="73152" marT="36576" marB="36576" anchor="ctr">
                    <a:solidFill>
                      <a:srgbClr val="F3F7FA"/>
                    </a:solidFill>
                  </a:tcPr>
                </a:tc>
                <a:tc>
                  <a:txBody>
                    <a:bodyPr wrap="square"/>
                    <a:lstStyle/>
                    <a:p>
                      <a:r>
                        <a:rPr sz="1000" b="1">
                          <a:solidFill>
                            <a:srgbClr val="B47A14"/>
                          </a:solidFill>
                          <a:latin typeface="Segoe UI"/>
                        </a:rPr>
                        <a:t>Partial</a:t>
                      </a:r>
                    </a:p>
                  </a:txBody>
                  <a:tcPr marL="91440" marR="73152" marT="36576" marB="36576" anchor="ctr">
                    <a:solidFill>
                      <a:srgbClr val="F3F7FA"/>
                    </a:solidFill>
                  </a:tcPr>
                </a:tc>
              </a:tr>
            </a:tbl>
          </a:graphicData>
        </a:graphic>
      </p:graphicFrame>
      <p:sp>
        <p:nvSpPr>
          <p:cNvPr id="10" name="TextBox 9"/>
          <p:cNvSpPr txBox="1"/>
          <p:nvPr/>
        </p:nvSpPr>
        <p:spPr>
          <a:xfrm>
            <a:off x="621792" y="4981067"/>
            <a:ext cx="10948111" cy="457200"/>
          </a:xfrm>
          <a:prstGeom prst="rect">
            <a:avLst/>
          </a:prstGeom>
          <a:noFill/>
        </p:spPr>
        <p:txBody>
          <a:bodyPr wrap="square" lIns="0" rIns="0" tIns="0" bIns="0" anchor="t">
            <a:spAutoFit/>
          </a:bodyPr>
          <a:lstStyle/>
          <a:p>
            <a:pPr>
              <a:lnSpc>
                <a:spcPct val="120000"/>
              </a:lnSpc>
            </a:pPr>
            <a:r>
              <a:rPr sz="1050" b="1" i="0">
                <a:solidFill>
                  <a:srgbClr val="10273F"/>
                </a:solidFill>
                <a:latin typeface="Segoe UI Semibold"/>
              </a:rPr>
              <a:t>Note on scope:  </a:t>
            </a:r>
            <a:r>
              <a:rPr sz="1050" b="0" i="0">
                <a:solidFill>
                  <a:srgbClr val="3C5066"/>
                </a:solidFill>
                <a:latin typeface="Segoe UI"/>
              </a:rPr>
              <a:t>O1–O4 are implemented and covered by automated tests. O5–O6 are partially built — the honest position at this review is a working perception + attention core with the relational layer designed and started, not finished.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2 — RESEARCH PAPER SELECTION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Three base papers, one per technical pillar</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All three are peer-reviewed at top-tier venues (CVPR / ICCV), have public code, and map 1:1 onto a pillar of our architecture.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6</a:t>
            </a:r>
          </a:p>
        </p:txBody>
      </p:sp>
      <p:sp>
        <p:nvSpPr>
          <p:cNvPr id="9" name="Rounded Rectangle 8"/>
          <p:cNvSpPr/>
          <p:nvPr/>
        </p:nvSpPr>
        <p:spPr>
          <a:xfrm>
            <a:off x="621792"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1 · IDENTITY</a:t>
            </a:r>
          </a:p>
        </p:txBody>
      </p:sp>
      <p:sp>
        <p:nvSpPr>
          <p:cNvPr id="12" name="TextBox 11"/>
          <p:cNvSpPr txBox="1"/>
          <p:nvPr/>
        </p:nvSpPr>
        <p:spPr>
          <a:xfrm>
            <a:off x="822960"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Clothes-Changing Person Re-Identification With RGB Modality Only</a:t>
            </a:r>
          </a:p>
        </p:txBody>
      </p:sp>
      <p:sp>
        <p:nvSpPr>
          <p:cNvPr id="13" name="TextBox 12"/>
          <p:cNvSpPr txBox="1"/>
          <p:nvPr/>
        </p:nvSpPr>
        <p:spPr>
          <a:xfrm>
            <a:off x="822960"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Gu, Chang, Ma, Bai, Shan &amp; Chen — CVPR 2022, pp. 1060–1069</a:t>
            </a:r>
          </a:p>
        </p:txBody>
      </p:sp>
      <p:sp>
        <p:nvSpPr>
          <p:cNvPr id="14" name="TextBox 13"/>
          <p:cNvSpPr txBox="1"/>
          <p:nvPr/>
        </p:nvSpPr>
        <p:spPr>
          <a:xfrm>
            <a:off x="822960"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Proposes a Clothes-based Adversarial Loss (CAL) that penalises the model's ability to predict clothing, forcing it to learn clothes-irrelevant identity cues (face, hairstyle, body shape, gait) from RGB alone.</a:t>
            </a:r>
          </a:p>
        </p:txBody>
      </p:sp>
      <p:sp>
        <p:nvSpPr>
          <p:cNvPr id="15" name="Rectangle 14"/>
          <p:cNvSpPr/>
          <p:nvPr/>
        </p:nvSpPr>
        <p:spPr>
          <a:xfrm>
            <a:off x="822960"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identity that survives appearance change and occlusion, so a student who turns away and back is not counted as a new person.</a:t>
            </a:r>
          </a:p>
        </p:txBody>
      </p:sp>
      <p:sp>
        <p:nvSpPr>
          <p:cNvPr id="17" name="Rounded Rectangle 16"/>
          <p:cNvSpPr/>
          <p:nvPr/>
        </p:nvSpPr>
        <p:spPr>
          <a:xfrm>
            <a:off x="4344314"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44314"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45482"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2 · RELATIONS OVER TIME</a:t>
            </a:r>
          </a:p>
        </p:txBody>
      </p:sp>
      <p:sp>
        <p:nvSpPr>
          <p:cNvPr id="20" name="TextBox 19"/>
          <p:cNvSpPr txBox="1"/>
          <p:nvPr/>
        </p:nvSpPr>
        <p:spPr>
          <a:xfrm>
            <a:off x="4545482"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Spatial-Temporal Transformer for Dynamic Scene Graph Generation</a:t>
            </a:r>
          </a:p>
        </p:txBody>
      </p:sp>
      <p:sp>
        <p:nvSpPr>
          <p:cNvPr id="21" name="TextBox 20"/>
          <p:cNvSpPr txBox="1"/>
          <p:nvPr/>
        </p:nvSpPr>
        <p:spPr>
          <a:xfrm>
            <a:off x="4545482"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Cong, Liao, Ackermann, Rosenhahn &amp; Yang — ICCV 2021</a:t>
            </a:r>
          </a:p>
        </p:txBody>
      </p:sp>
      <p:sp>
        <p:nvSpPr>
          <p:cNvPr id="22" name="TextBox 21"/>
          <p:cNvSpPr txBox="1"/>
          <p:nvPr/>
        </p:nvSpPr>
        <p:spPr>
          <a:xfrm>
            <a:off x="4545482"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STTran pairs a spatial encoder (relations within a frame) with a temporal decoder (dependencies across frames), and accepts variable-length video without clipping. Benchmarked on Action Genome.</a:t>
            </a:r>
          </a:p>
        </p:txBody>
      </p:sp>
      <p:sp>
        <p:nvSpPr>
          <p:cNvPr id="23" name="Rectangle 22"/>
          <p:cNvSpPr/>
          <p:nvPr/>
        </p:nvSpPr>
        <p:spPr>
          <a:xfrm>
            <a:off x="4545482"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45482"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the dynamic scene-graph formulation and the temporal decoder — our classroom graph must evolve, not be re-guessed every frame.</a:t>
            </a:r>
          </a:p>
        </p:txBody>
      </p:sp>
      <p:sp>
        <p:nvSpPr>
          <p:cNvPr id="25" name="Rounded Rectangle 24"/>
          <p:cNvSpPr/>
          <p:nvPr/>
        </p:nvSpPr>
        <p:spPr>
          <a:xfrm>
            <a:off x="8066836"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066836"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8004"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3 · THE GROUP</a:t>
            </a:r>
          </a:p>
        </p:txBody>
      </p:sp>
      <p:sp>
        <p:nvSpPr>
          <p:cNvPr id="28" name="TextBox 27"/>
          <p:cNvSpPr txBox="1"/>
          <p:nvPr/>
        </p:nvSpPr>
        <p:spPr>
          <a:xfrm>
            <a:off x="8268004"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Learning Actor Relation Graphs for Group Activity Recognition</a:t>
            </a:r>
          </a:p>
        </p:txBody>
      </p:sp>
      <p:sp>
        <p:nvSpPr>
          <p:cNvPr id="29" name="TextBox 28"/>
          <p:cNvSpPr txBox="1"/>
          <p:nvPr/>
        </p:nvSpPr>
        <p:spPr>
          <a:xfrm>
            <a:off x="8268004"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Wu, Wang, Wang, Guo &amp; Wu — CVPR 2019</a:t>
            </a:r>
          </a:p>
        </p:txBody>
      </p:sp>
      <p:sp>
        <p:nvSpPr>
          <p:cNvPr id="30" name="TextBox 29"/>
          <p:cNvSpPr txBox="1"/>
          <p:nvPr/>
        </p:nvSpPr>
        <p:spPr>
          <a:xfrm>
            <a:off x="8268004"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Builds an Actor Relation Graph capturing both appearance and position relations between actors, learned end-to-end with a GCN; adds spatially localised and temporally randomised sparsification. Benchmarked on Volleyball and Collective Activity.</a:t>
            </a:r>
          </a:p>
        </p:txBody>
      </p:sp>
      <p:sp>
        <p:nvSpPr>
          <p:cNvPr id="31" name="Rectangle 30"/>
          <p:cNvSpPr/>
          <p:nvPr/>
        </p:nvSpPr>
        <p:spPr>
          <a:xfrm>
            <a:off x="8268004"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68004"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the actor-relation graph + GCN readout to turn per-student states into one class-level activity label.</a:t>
            </a:r>
          </a:p>
        </p:txBody>
      </p:sp>
      <p:sp>
        <p:nvSpPr>
          <p:cNvPr id="33" name="Rounded Rectangle 32"/>
          <p:cNvSpPr/>
          <p:nvPr/>
        </p:nvSpPr>
        <p:spPr>
          <a:xfrm>
            <a:off x="621792" y="5438266"/>
            <a:ext cx="10948111" cy="731520"/>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5566283"/>
            <a:ext cx="10472623" cy="512064"/>
          </a:xfrm>
          <a:prstGeom prst="rect">
            <a:avLst/>
          </a:prstGeom>
          <a:noFill/>
        </p:spPr>
        <p:txBody>
          <a:bodyPr wrap="square" lIns="0" rIns="0" tIns="0" bIns="0" anchor="t">
            <a:spAutoFit/>
          </a:bodyPr>
          <a:lstStyle/>
          <a:p>
            <a:pPr>
              <a:lnSpc>
                <a:spcPct val="122000"/>
              </a:lnSpc>
            </a:pPr>
            <a:r>
              <a:rPr sz="1100" b="1" i="0">
                <a:solidFill>
                  <a:srgbClr val="10273F"/>
                </a:solidFill>
                <a:latin typeface="Segoe UI Semibold"/>
              </a:rPr>
              <a:t>Correctness of selection:  </a:t>
            </a:r>
            <a:r>
              <a:rPr sz="1100" b="0" i="0">
                <a:solidFill>
                  <a:srgbClr val="3C5066"/>
                </a:solidFill>
                <a:latin typeface="Segoe UI"/>
              </a:rPr>
              <a:t>each paper is the standard reference for its pillar, not a peripheral choice. Our novelty is not in re-deriving any one of them — it is in fusing all three in a domain none of them targets.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LITERATURE REVIEW DEPTH</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Related work, method, result, and the gap each leaves open</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Not just our 3 base papers — the actual state of the art in each pillar, so the gap we claim is checked against what already exists, not assumed.</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7</a:t>
            </a:r>
          </a:p>
        </p:txBody>
      </p:sp>
      <p:graphicFrame>
        <p:nvGraphicFramePr>
          <p:cNvPr id="9" name="Table 8"/>
          <p:cNvGraphicFramePr>
            <a:graphicFrameLocks noGrp="1"/>
          </p:cNvGraphicFramePr>
          <p:nvPr/>
        </p:nvGraphicFramePr>
        <p:xfrm>
          <a:off x="621792" y="1876551"/>
          <a:ext cx="10945368" cy="3328416"/>
        </p:xfrm>
        <a:graphic>
          <a:graphicData uri="http://schemas.openxmlformats.org/drawingml/2006/table">
            <a:tbl>
              <a:tblPr>
                <a:tableStyleId>{5C22544A-7EE6-4342-B048-85BDC9FD1C3A}</a:tableStyleId>
              </a:tblPr>
              <a:tblGrid>
                <a:gridCol w="1234440"/>
                <a:gridCol w="2331720"/>
                <a:gridCol w="3063240"/>
                <a:gridCol w="1417320"/>
                <a:gridCol w="2898648"/>
              </a:tblGrid>
              <a:tr h="329184">
                <a:tc>
                  <a:txBody>
                    <a:bodyPr wrap="square"/>
                    <a:lstStyle/>
                    <a:p>
                      <a:r>
                        <a:rPr sz="950" b="1">
                          <a:solidFill>
                            <a:srgbClr val="FFFFFF"/>
                          </a:solidFill>
                          <a:latin typeface="Segoe UI Semibold"/>
                        </a:rPr>
                        <a:t>Area</a:t>
                      </a:r>
                    </a:p>
                  </a:txBody>
                  <a:tcPr marL="91440" marR="73152" marT="36576" marB="36576" anchor="ctr">
                    <a:solidFill>
                      <a:srgbClr val="10273F"/>
                    </a:solidFill>
                  </a:tcPr>
                </a:tc>
                <a:tc>
                  <a:txBody>
                    <a:bodyPr wrap="square"/>
                    <a:lstStyle/>
                    <a:p>
                      <a:r>
                        <a:rPr sz="950" b="1">
                          <a:solidFill>
                            <a:srgbClr val="FFFFFF"/>
                          </a:solidFill>
                          <a:latin typeface="Segoe UI Semibold"/>
                        </a:rPr>
                        <a:t>Key work (venue, year)</a:t>
                      </a:r>
                    </a:p>
                  </a:txBody>
                  <a:tcPr marL="91440" marR="73152" marT="36576" marB="36576" anchor="ctr">
                    <a:solidFill>
                      <a:srgbClr val="10273F"/>
                    </a:solidFill>
                  </a:tcPr>
                </a:tc>
                <a:tc>
                  <a:txBody>
                    <a:bodyPr wrap="square"/>
                    <a:lstStyle/>
                    <a:p>
                      <a:r>
                        <a:rPr sz="950" b="1">
                          <a:solidFill>
                            <a:srgbClr val="FFFFFF"/>
                          </a:solidFill>
                          <a:latin typeface="Segoe UI Semibold"/>
                        </a:rPr>
                        <a:t>Method in one line</a:t>
                      </a:r>
                    </a:p>
                  </a:txBody>
                  <a:tcPr marL="91440" marR="73152" marT="36576" marB="36576" anchor="ctr">
                    <a:solidFill>
                      <a:srgbClr val="10273F"/>
                    </a:solidFill>
                  </a:tcPr>
                </a:tc>
                <a:tc>
                  <a:txBody>
                    <a:bodyPr wrap="square"/>
                    <a:lstStyle/>
                    <a:p>
                      <a:r>
                        <a:rPr sz="950" b="1">
                          <a:solidFill>
                            <a:srgbClr val="FFFFFF"/>
                          </a:solidFill>
                          <a:latin typeface="Segoe UI Semibold"/>
                        </a:rPr>
                        <a:t>Benchmark</a:t>
                      </a:r>
                    </a:p>
                  </a:txBody>
                  <a:tcPr marL="91440" marR="73152" marT="36576" marB="36576" anchor="ctr">
                    <a:solidFill>
                      <a:srgbClr val="10273F"/>
                    </a:solidFill>
                  </a:tcPr>
                </a:tc>
                <a:tc>
                  <a:txBody>
                    <a:bodyPr wrap="square"/>
                    <a:lstStyle/>
                    <a:p>
                      <a:r>
                        <a:rPr sz="950" b="1">
                          <a:solidFill>
                            <a:srgbClr val="FFFFFF"/>
                          </a:solidFill>
                          <a:latin typeface="Segoe UI Semibold"/>
                        </a:rPr>
                        <a:t>Limitation for our setting</a:t>
                      </a:r>
                    </a:p>
                  </a:txBody>
                  <a:tcPr marL="91440" marR="73152" marT="36576" marB="36576" anchor="ctr">
                    <a:solidFill>
                      <a:srgbClr val="10273F"/>
                    </a:solidFill>
                  </a:tcPr>
                </a:tc>
              </a:tr>
              <a:tr h="749808">
                <a:tc>
                  <a:txBody>
                    <a:bodyPr wrap="square"/>
                    <a:lstStyle/>
                    <a:p>
                      <a:r>
                        <a:rPr sz="950" b="1">
                          <a:solidFill>
                            <a:srgbClr val="3C5066"/>
                          </a:solidFill>
                          <a:latin typeface="Segoe UI"/>
                        </a:rPr>
                        <a:t>Cloth-changing
Re-ID</a:t>
                      </a:r>
                    </a:p>
                  </a:txBody>
                  <a:tcPr marL="91440" marR="73152" marT="36576" marB="36576" anchor="ctr">
                    <a:solidFill>
                      <a:srgbClr val="FFFFFF"/>
                    </a:solidFill>
                  </a:tcPr>
                </a:tc>
                <a:tc>
                  <a:txBody>
                    <a:bodyPr wrap="square"/>
                    <a:lstStyle/>
                    <a:p>
                      <a:r>
                        <a:rPr sz="950" b="0">
                          <a:solidFill>
                            <a:srgbClr val="3C5066"/>
                          </a:solidFill>
                          <a:latin typeface="Segoe UI"/>
                        </a:rPr>
                        <a:t>CAL (CVPR 2022);
AIM, DeepChange (2023)</a:t>
                      </a:r>
                    </a:p>
                  </a:txBody>
                  <a:tcPr marL="91440" marR="73152" marT="36576" marB="36576" anchor="ctr">
                    <a:solidFill>
                      <a:srgbClr val="FFFFFF"/>
                    </a:solidFill>
                  </a:tcPr>
                </a:tc>
                <a:tc>
                  <a:txBody>
                    <a:bodyPr wrap="square"/>
                    <a:lstStyle/>
                    <a:p>
                      <a:r>
                        <a:rPr sz="950" b="0">
                          <a:solidFill>
                            <a:srgbClr val="3C5066"/>
                          </a:solidFill>
                          <a:latin typeface="Segoe UI"/>
                        </a:rPr>
                        <a:t>Adversarial / causal loss suppresses clothing cues to keep RGB-only identity</a:t>
                      </a:r>
                    </a:p>
                  </a:txBody>
                  <a:tcPr marL="91440" marR="73152" marT="36576" marB="36576" anchor="ctr">
                    <a:solidFill>
                      <a:srgbClr val="FFFFFF"/>
                    </a:solidFill>
                  </a:tcPr>
                </a:tc>
                <a:tc>
                  <a:txBody>
                    <a:bodyPr wrap="square"/>
                    <a:lstStyle/>
                    <a:p>
                      <a:r>
                        <a:rPr sz="950" b="0">
                          <a:solidFill>
                            <a:srgbClr val="3C5066"/>
                          </a:solidFill>
                          <a:latin typeface="Segoe UI"/>
                        </a:rPr>
                        <a:t>PRCC, LTCC,
DeepChange</a:t>
                      </a:r>
                    </a:p>
                  </a:txBody>
                  <a:tcPr marL="91440" marR="73152" marT="36576" marB="36576" anchor="ctr">
                    <a:solidFill>
                      <a:srgbClr val="FFFFFF"/>
                    </a:solidFill>
                  </a:tcPr>
                </a:tc>
                <a:tc>
                  <a:txBody>
                    <a:bodyPr wrap="square"/>
                    <a:lstStyle/>
                    <a:p>
                      <a:r>
                        <a:rPr sz="950" b="0">
                          <a:solidFill>
                            <a:srgbClr val="3C5066"/>
                          </a:solidFill>
                          <a:latin typeface="Segoe UI"/>
                        </a:rPr>
                        <a:t>Built for surveillance re-identification; never applied to session-scoped classroom identity</a:t>
                      </a:r>
                    </a:p>
                  </a:txBody>
                  <a:tcPr marL="91440" marR="73152" marT="36576" marB="36576" anchor="ctr">
                    <a:solidFill>
                      <a:srgbClr val="FFFFFF"/>
                    </a:solidFill>
                  </a:tcPr>
                </a:tc>
              </a:tr>
              <a:tr h="749808">
                <a:tc>
                  <a:txBody>
                    <a:bodyPr wrap="square"/>
                    <a:lstStyle/>
                    <a:p>
                      <a:r>
                        <a:rPr sz="950" b="1">
                          <a:solidFill>
                            <a:srgbClr val="3C5066"/>
                          </a:solidFill>
                          <a:latin typeface="Segoe UI"/>
                        </a:rPr>
                        <a:t>Video scene
graph</a:t>
                      </a:r>
                    </a:p>
                  </a:txBody>
                  <a:tcPr marL="91440" marR="73152" marT="36576" marB="36576" anchor="ctr">
                    <a:solidFill>
                      <a:srgbClr val="F3F7FA"/>
                    </a:solidFill>
                  </a:tcPr>
                </a:tc>
                <a:tc>
                  <a:txBody>
                    <a:bodyPr wrap="square"/>
                    <a:lstStyle/>
                    <a:p>
                      <a:r>
                        <a:rPr sz="950" b="0">
                          <a:solidFill>
                            <a:srgbClr val="3C5066"/>
                          </a:solidFill>
                          <a:latin typeface="Segoe UI"/>
                        </a:rPr>
                        <a:t>STTran (ICCV 2021)</a:t>
                      </a:r>
                    </a:p>
                  </a:txBody>
                  <a:tcPr marL="91440" marR="73152" marT="36576" marB="36576" anchor="ctr">
                    <a:solidFill>
                      <a:srgbClr val="F3F7FA"/>
                    </a:solidFill>
                  </a:tcPr>
                </a:tc>
                <a:tc>
                  <a:txBody>
                    <a:bodyPr wrap="square"/>
                    <a:lstStyle/>
                    <a:p>
                      <a:r>
                        <a:rPr sz="950" b="0">
                          <a:solidFill>
                            <a:srgbClr val="3C5066"/>
                          </a:solidFill>
                          <a:latin typeface="Segoe UI"/>
                        </a:rPr>
                        <a:t>Spatial encoder + temporal decoder over variable-length video</a:t>
                      </a:r>
                    </a:p>
                  </a:txBody>
                  <a:tcPr marL="91440" marR="73152" marT="36576" marB="36576" anchor="ctr">
                    <a:solidFill>
                      <a:srgbClr val="F3F7FA"/>
                    </a:solidFill>
                  </a:tcPr>
                </a:tc>
                <a:tc>
                  <a:txBody>
                    <a:bodyPr wrap="square"/>
                    <a:lstStyle/>
                    <a:p>
                      <a:r>
                        <a:rPr sz="950" b="0">
                          <a:solidFill>
                            <a:srgbClr val="3C5066"/>
                          </a:solidFill>
                          <a:latin typeface="Segoe UI"/>
                        </a:rPr>
                        <a:t>Action Genome</a:t>
                      </a:r>
                    </a:p>
                  </a:txBody>
                  <a:tcPr marL="91440" marR="73152" marT="36576" marB="36576" anchor="ctr">
                    <a:solidFill>
                      <a:srgbClr val="F3F7FA"/>
                    </a:solidFill>
                  </a:tcPr>
                </a:tc>
                <a:tc>
                  <a:txBody>
                    <a:bodyPr wrap="square"/>
                    <a:lstStyle/>
                    <a:p>
                      <a:r>
                        <a:rPr sz="950" b="0">
                          <a:solidFill>
                            <a:srgbClr val="3C5066"/>
                          </a:solidFill>
                          <a:latin typeface="Segoe UI"/>
                        </a:rPr>
                        <a:t>Generic object–object predicates; nothing for attention, gaze or education</a:t>
                      </a:r>
                    </a:p>
                  </a:txBody>
                  <a:tcPr marL="91440" marR="73152" marT="36576" marB="36576" anchor="ctr">
                    <a:solidFill>
                      <a:srgbClr val="F3F7FA"/>
                    </a:solidFill>
                  </a:tcPr>
                </a:tc>
              </a:tr>
              <a:tr h="749808">
                <a:tc>
                  <a:txBody>
                    <a:bodyPr wrap="square"/>
                    <a:lstStyle/>
                    <a:p>
                      <a:r>
                        <a:rPr sz="950" b="1">
                          <a:solidFill>
                            <a:srgbClr val="3C5066"/>
                          </a:solidFill>
                          <a:latin typeface="Segoe UI"/>
                        </a:rPr>
                        <a:t>Group activity
recognition</a:t>
                      </a:r>
                    </a:p>
                  </a:txBody>
                  <a:tcPr marL="91440" marR="73152" marT="36576" marB="36576" anchor="ctr">
                    <a:solidFill>
                      <a:srgbClr val="FFFFFF"/>
                    </a:solidFill>
                  </a:tcPr>
                </a:tc>
                <a:tc>
                  <a:txBody>
                    <a:bodyPr wrap="square"/>
                    <a:lstStyle/>
                    <a:p>
                      <a:r>
                        <a:rPr sz="950" b="0">
                          <a:solidFill>
                            <a:srgbClr val="3C5066"/>
                          </a:solidFill>
                          <a:latin typeface="Segoe UI"/>
                        </a:rPr>
                        <a:t>ARG (CVPR 2019);
GroupFormer (ICCV 2021)</a:t>
                      </a:r>
                    </a:p>
                  </a:txBody>
                  <a:tcPr marL="91440" marR="73152" marT="36576" marB="36576" anchor="ctr">
                    <a:solidFill>
                      <a:srgbClr val="FFFFFF"/>
                    </a:solidFill>
                  </a:tcPr>
                </a:tc>
                <a:tc>
                  <a:txBody>
                    <a:bodyPr wrap="square"/>
                    <a:lstStyle/>
                    <a:p>
                      <a:r>
                        <a:rPr sz="950" b="0">
                          <a:solidFill>
                            <a:srgbClr val="3C5066"/>
                          </a:solidFill>
                          <a:latin typeface="Segoe UI"/>
                        </a:rPr>
                        <a:t>Actor relation graph / joint spatio-temporal attention over a GCN</a:t>
                      </a:r>
                    </a:p>
                  </a:txBody>
                  <a:tcPr marL="91440" marR="73152" marT="36576" marB="36576" anchor="ctr">
                    <a:solidFill>
                      <a:srgbClr val="FFFFFF"/>
                    </a:solidFill>
                  </a:tcPr>
                </a:tc>
                <a:tc>
                  <a:txBody>
                    <a:bodyPr wrap="square"/>
                    <a:lstStyle/>
                    <a:p>
                      <a:r>
                        <a:rPr sz="950" b="0">
                          <a:solidFill>
                            <a:srgbClr val="3C5066"/>
                          </a:solidFill>
                          <a:latin typeface="Segoe UI"/>
                        </a:rPr>
                        <a:t>Volleyball,
Collective Activity</a:t>
                      </a:r>
                    </a:p>
                  </a:txBody>
                  <a:tcPr marL="91440" marR="73152" marT="36576" marB="36576" anchor="ctr">
                    <a:solidFill>
                      <a:srgbClr val="FFFFFF"/>
                    </a:solidFill>
                  </a:tcPr>
                </a:tc>
                <a:tc>
                  <a:txBody>
                    <a:bodyPr wrap="square"/>
                    <a:lstStyle/>
                    <a:p>
                      <a:r>
                        <a:rPr sz="950" b="0">
                          <a:solidFill>
                            <a:srgbClr val="3C5066"/>
                          </a:solidFill>
                          <a:latin typeface="Segoe UI"/>
                        </a:rPr>
                        <a:t>Sports/crowd domains; one group label per clip, not sustained engagement</a:t>
                      </a:r>
                    </a:p>
                  </a:txBody>
                  <a:tcPr marL="91440" marR="73152" marT="36576" marB="36576" anchor="ctr">
                    <a:solidFill>
                      <a:srgbClr val="FFFFFF"/>
                    </a:solidFill>
                  </a:tcPr>
                </a:tc>
              </a:tr>
              <a:tr h="749808">
                <a:tc>
                  <a:txBody>
                    <a:bodyPr wrap="square"/>
                    <a:lstStyle/>
                    <a:p>
                      <a:r>
                        <a:rPr sz="950" b="1">
                          <a:solidFill>
                            <a:srgbClr val="3C5066"/>
                          </a:solidFill>
                          <a:latin typeface="Segoe UI"/>
                        </a:rPr>
                        <a:t>Classroom CV</a:t>
                      </a:r>
                    </a:p>
                  </a:txBody>
                  <a:tcPr marL="91440" marR="73152" marT="36576" marB="36576" anchor="ctr">
                    <a:solidFill>
                      <a:srgbClr val="F3F7FA"/>
                    </a:solidFill>
                  </a:tcPr>
                </a:tc>
                <a:tc>
                  <a:txBody>
                    <a:bodyPr wrap="square"/>
                    <a:lstStyle/>
                    <a:p>
                      <a:r>
                        <a:rPr sz="950" b="0">
                          <a:solidFill>
                            <a:srgbClr val="3C5066"/>
                          </a:solidFill>
                          <a:latin typeface="Segoe UI"/>
                        </a:rPr>
                        <a:t>SCB-Dataset (2023–25);
DAiSEE, EmotiW</a:t>
                      </a:r>
                    </a:p>
                  </a:txBody>
                  <a:tcPr marL="91440" marR="73152" marT="36576" marB="36576" anchor="ctr">
                    <a:solidFill>
                      <a:srgbClr val="F3F7FA"/>
                    </a:solidFill>
                  </a:tcPr>
                </a:tc>
                <a:tc>
                  <a:txBody>
                    <a:bodyPr wrap="square"/>
                    <a:lstStyle/>
                    <a:p>
                      <a:r>
                        <a:rPr sz="950" b="0">
                          <a:solidFill>
                            <a:srgbClr val="3C5066"/>
                          </a:solidFill>
                          <a:latin typeface="Segoe UI"/>
                        </a:rPr>
                        <a:t>Per-frame behaviour detection; affect classification from webcam video</a:t>
                      </a:r>
                    </a:p>
                  </a:txBody>
                  <a:tcPr marL="91440" marR="73152" marT="36576" marB="36576" anchor="ctr">
                    <a:solidFill>
                      <a:srgbClr val="F3F7FA"/>
                    </a:solidFill>
                  </a:tcPr>
                </a:tc>
                <a:tc>
                  <a:txBody>
                    <a:bodyPr wrap="square"/>
                    <a:lstStyle/>
                    <a:p>
                      <a:r>
                        <a:rPr sz="950" b="0">
                          <a:solidFill>
                            <a:srgbClr val="3C5066"/>
                          </a:solidFill>
                          <a:latin typeface="Segoe UI"/>
                        </a:rPr>
                        <a:t>SCB, DAiSEE</a:t>
                      </a:r>
                    </a:p>
                  </a:txBody>
                  <a:tcPr marL="91440" marR="73152" marT="36576" marB="36576" anchor="ctr">
                    <a:solidFill>
                      <a:srgbClr val="F3F7FA"/>
                    </a:solidFill>
                  </a:tcPr>
                </a:tc>
                <a:tc>
                  <a:txBody>
                    <a:bodyPr wrap="square"/>
                    <a:lstStyle/>
                    <a:p>
                      <a:r>
                        <a:rPr sz="950" b="0">
                          <a:solidFill>
                            <a:srgbClr val="3C5066"/>
                          </a:solidFill>
                          <a:latin typeface="Segoe UI"/>
                        </a:rPr>
                        <a:t>No identity across time, no relational or group reasoning, single-subject framing</a:t>
                      </a:r>
                    </a:p>
                  </a:txBody>
                  <a:tcPr marL="91440" marR="73152" marT="36576" marB="36576" anchor="ctr">
                    <a:solidFill>
                      <a:srgbClr val="F3F7FA"/>
                    </a:solidFill>
                  </a:tcPr>
                </a:tc>
              </a:tr>
            </a:tbl>
          </a:graphicData>
        </a:graphic>
      </p:graphicFrame>
      <p:sp>
        <p:nvSpPr>
          <p:cNvPr id="10" name="TextBox 9"/>
          <p:cNvSpPr txBox="1"/>
          <p:nvPr/>
        </p:nvSpPr>
        <p:spPr>
          <a:xfrm>
            <a:off x="621792" y="5223255"/>
            <a:ext cx="10948111" cy="548640"/>
          </a:xfrm>
          <a:prstGeom prst="rect">
            <a:avLst/>
          </a:prstGeom>
          <a:noFill/>
        </p:spPr>
        <p:txBody>
          <a:bodyPr wrap="square" lIns="0" rIns="0" tIns="0" bIns="0" anchor="t">
            <a:spAutoFit/>
          </a:bodyPr>
          <a:lstStyle/>
          <a:p>
            <a:pPr>
              <a:lnSpc>
                <a:spcPct val="120000"/>
              </a:lnSpc>
            </a:pPr>
            <a:r>
              <a:rPr sz="1050" b="1" i="0">
                <a:solidFill>
                  <a:srgbClr val="10273F"/>
                </a:solidFill>
                <a:latin typeface="Segoe UI Semibold"/>
              </a:rPr>
              <a:t>Reading across the rows:  </a:t>
            </a:r>
            <a:r>
              <a:rPr sz="1050" b="0" i="0">
                <a:solidFill>
                  <a:srgbClr val="3C5066"/>
                </a:solidFill>
                <a:latin typeface="Segoe UI"/>
              </a:rPr>
              <a:t>identity, relations and group reasoning have each been solved separately, and classroom CV has solved per-frame detection. No row does two of these at once — that gap is what we build on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LITERATURE REVIEW DEPTH</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The second half: what should the labels even be?</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A CV-only review would stop at the previous slide. But the hardest question here is not architectural — it is what counts as “engaged”, and over what timescale. We reviewed the education and psychology literature to answer it.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8</a:t>
            </a:r>
          </a:p>
        </p:txBody>
      </p:sp>
      <p:sp>
        <p:nvSpPr>
          <p:cNvPr id="9" name="Rounded Rectangle 8"/>
          <p:cNvSpPr/>
          <p:nvPr/>
        </p:nvSpPr>
        <p:spPr>
          <a:xfrm>
            <a:off x="621792" y="1876551"/>
            <a:ext cx="5336895" cy="14264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967991"/>
            <a:ext cx="50292" cy="1243584"/>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2022855"/>
            <a:ext cx="4916271" cy="1152144"/>
          </a:xfrm>
          <a:prstGeom prst="rect">
            <a:avLst/>
          </a:prstGeom>
          <a:noFill/>
        </p:spPr>
        <p:txBody>
          <a:bodyPr wrap="square" lIns="0" rIns="0" tIns="0" bIns="0" anchor="t">
            <a:spAutoFit/>
          </a:bodyPr>
          <a:lstStyle/>
          <a:p>
            <a:pPr>
              <a:lnSpc>
                <a:spcPct val="105000"/>
              </a:lnSpc>
              <a:spcAft>
                <a:spcPts val="500"/>
              </a:spcAft>
            </a:pPr>
            <a:r>
              <a:rPr sz="1250" b="1" i="0">
                <a:solidFill>
                  <a:srgbClr val="10273F"/>
                </a:solidFill>
                <a:latin typeface="Segoe UI Semibold"/>
              </a:rPr>
              <a:t>1. Most systems invent their own labels</a:t>
            </a:r>
          </a:p>
          <a:p>
            <a:pPr>
              <a:lnSpc>
                <a:spcPct val="118000"/>
              </a:lnSpc>
              <a:spcAft>
                <a:spcPts val="300"/>
              </a:spcAft>
            </a:pPr>
            <a:r>
              <a:rPr sz="1050" b="0" i="0">
                <a:solidFill>
                  <a:srgbClr val="3C5066"/>
                </a:solidFill>
                <a:latin typeface="Segoe UI"/>
              </a:rPr>
              <a:t>A field-wide review found most engagement-detection systems make up their own categories instead of using a validated one — so their results can't even be compared to each other. We took that as a warning about our own design.</a:t>
            </a:r>
          </a:p>
        </p:txBody>
      </p:sp>
      <p:sp>
        <p:nvSpPr>
          <p:cNvPr id="12" name="Rounded Rectangle 11"/>
          <p:cNvSpPr/>
          <p:nvPr/>
        </p:nvSpPr>
        <p:spPr>
          <a:xfrm>
            <a:off x="6233007" y="1876551"/>
            <a:ext cx="5336895" cy="14264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33007" y="1967991"/>
            <a:ext cx="50292" cy="1243584"/>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70751" y="2022855"/>
            <a:ext cx="4916271" cy="1152144"/>
          </a:xfrm>
          <a:prstGeom prst="rect">
            <a:avLst/>
          </a:prstGeom>
          <a:noFill/>
        </p:spPr>
        <p:txBody>
          <a:bodyPr wrap="square" lIns="0" rIns="0" tIns="0" bIns="0" anchor="t">
            <a:spAutoFit/>
          </a:bodyPr>
          <a:lstStyle/>
          <a:p>
            <a:pPr>
              <a:lnSpc>
                <a:spcPct val="105000"/>
              </a:lnSpc>
              <a:spcAft>
                <a:spcPts val="500"/>
              </a:spcAft>
            </a:pPr>
            <a:r>
              <a:rPr sz="1250" b="1" i="0">
                <a:solidFill>
                  <a:srgbClr val="10273F"/>
                </a:solidFill>
                <a:latin typeface="Segoe UI Semibold"/>
              </a:rPr>
              <a:t>2. So we used a real, validated one instead</a:t>
            </a:r>
          </a:p>
          <a:p>
            <a:pPr>
              <a:lnSpc>
                <a:spcPct val="118000"/>
              </a:lnSpc>
              <a:spcAft>
                <a:spcPts val="300"/>
              </a:spcAft>
            </a:pPr>
            <a:r>
              <a:rPr sz="1050" b="0" i="0">
                <a:solidFill>
                  <a:srgbClr val="3C5066"/>
                </a:solidFill>
                <a:latin typeface="Segoe UI"/>
              </a:rPr>
              <a:t>BOSS is a published classroom-observation method already used by school psychologists: on-task vs. three kinds of off-task. Our six categories are built to match it, and we say plainly where they can't.</a:t>
            </a:r>
          </a:p>
        </p:txBody>
      </p:sp>
      <p:sp>
        <p:nvSpPr>
          <p:cNvPr id="15" name="Rounded Rectangle 14"/>
          <p:cNvSpPr/>
          <p:nvPr/>
        </p:nvSpPr>
        <p:spPr>
          <a:xfrm>
            <a:off x="621792" y="3504183"/>
            <a:ext cx="5336895" cy="14264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1792" y="3595623"/>
            <a:ext cx="50292" cy="12435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59536" y="3650487"/>
            <a:ext cx="4916271" cy="1152144"/>
          </a:xfrm>
          <a:prstGeom prst="rect">
            <a:avLst/>
          </a:prstGeom>
          <a:noFill/>
        </p:spPr>
        <p:txBody>
          <a:bodyPr wrap="square" lIns="0" rIns="0" tIns="0" bIns="0" anchor="t">
            <a:spAutoFit/>
          </a:bodyPr>
          <a:lstStyle/>
          <a:p>
            <a:pPr>
              <a:lnSpc>
                <a:spcPct val="105000"/>
              </a:lnSpc>
              <a:spcAft>
                <a:spcPts val="500"/>
              </a:spcAft>
            </a:pPr>
            <a:r>
              <a:rPr sz="1250" b="1" i="0">
                <a:solidFill>
                  <a:srgbClr val="10273F"/>
                </a:solidFill>
                <a:latin typeface="Segoe UI Semibold"/>
              </a:rPr>
              <a:t>3. We picked our time window from real studies</a:t>
            </a:r>
          </a:p>
          <a:p>
            <a:pPr>
              <a:lnSpc>
                <a:spcPct val="118000"/>
              </a:lnSpc>
              <a:spcAft>
                <a:spcPts val="300"/>
              </a:spcAft>
            </a:pPr>
            <a:r>
              <a:rPr sz="1050" b="0" i="0">
                <a:solidFill>
                  <a:srgbClr val="3C5066"/>
                </a:solidFill>
                <a:latin typeface="Segoe UI"/>
              </a:rPr>
              <a:t>One study showed a short mental break actually protects attention rather than harming it. Two separate lines of research — gaze tracking and classroom observation — both independently point to measuring over about 10–15 seconds, not judging a single frame.</a:t>
            </a:r>
          </a:p>
        </p:txBody>
      </p:sp>
      <p:sp>
        <p:nvSpPr>
          <p:cNvPr id="18" name="Rounded Rectangle 17"/>
          <p:cNvSpPr/>
          <p:nvPr/>
        </p:nvSpPr>
        <p:spPr>
          <a:xfrm>
            <a:off x="6233007" y="3504183"/>
            <a:ext cx="5336895" cy="14264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33007" y="3595623"/>
            <a:ext cx="50292" cy="1243584"/>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70751" y="3650487"/>
            <a:ext cx="4916271" cy="1152144"/>
          </a:xfrm>
          <a:prstGeom prst="rect">
            <a:avLst/>
          </a:prstGeom>
          <a:noFill/>
        </p:spPr>
        <p:txBody>
          <a:bodyPr wrap="square" lIns="0" rIns="0" tIns="0" bIns="0" anchor="t">
            <a:spAutoFit/>
          </a:bodyPr>
          <a:lstStyle/>
          <a:p>
            <a:pPr>
              <a:lnSpc>
                <a:spcPct val="105000"/>
              </a:lnSpc>
              <a:spcAft>
                <a:spcPts val="500"/>
              </a:spcAft>
            </a:pPr>
            <a:r>
              <a:rPr sz="1250" b="1" i="0">
                <a:solidFill>
                  <a:srgbClr val="10273F"/>
                </a:solidFill>
                <a:latin typeface="Segoe UI Semibold"/>
              </a:rPr>
              <a:t>4. We know where a camera has to stop guessing</a:t>
            </a:r>
          </a:p>
          <a:p>
            <a:pPr>
              <a:lnSpc>
                <a:spcPct val="118000"/>
              </a:lnSpc>
              <a:spcAft>
                <a:spcPts val="300"/>
              </a:spcAft>
            </a:pPr>
            <a:r>
              <a:rPr sz="1050" b="0" i="0">
                <a:solidFill>
                  <a:srgbClr val="3C5066"/>
                </a:solidFill>
                <a:latin typeface="Segoe UI"/>
              </a:rPr>
              <a:t>Two students turned toward each other could be discussing the lesson or just chatting — telling those apart needs hearing them, not just seeing them. So we report “these two are facing each other” and refuse to guess why.</a:t>
            </a:r>
          </a:p>
        </p:txBody>
      </p:sp>
      <p:sp>
        <p:nvSpPr>
          <p:cNvPr id="21" name="Rounded Rectangle 20"/>
          <p:cNvSpPr/>
          <p:nvPr/>
        </p:nvSpPr>
        <p:spPr>
          <a:xfrm>
            <a:off x="621792" y="5186679"/>
            <a:ext cx="10948111" cy="658368"/>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7824" y="5296408"/>
            <a:ext cx="10436047" cy="457200"/>
          </a:xfrm>
          <a:prstGeom prst="rect">
            <a:avLst/>
          </a:prstGeom>
          <a:noFill/>
        </p:spPr>
        <p:txBody>
          <a:bodyPr wrap="square" lIns="0" rIns="0" tIns="0" bIns="0" anchor="t">
            <a:spAutoFit/>
          </a:bodyPr>
          <a:lstStyle/>
          <a:p>
            <a:pPr>
              <a:lnSpc>
                <a:spcPct val="122000"/>
              </a:lnSpc>
            </a:pPr>
            <a:r>
              <a:rPr sz="1100" b="1" i="0">
                <a:solidFill>
                  <a:srgbClr val="6FC5CE"/>
                </a:solidFill>
                <a:latin typeface="Segoe UI Semibold"/>
              </a:rPr>
              <a:t>Bottom line:  </a:t>
            </a:r>
            <a:r>
              <a:rPr sz="1100" b="0" i="0">
                <a:solidFill>
                  <a:srgbClr val="FFFFFF"/>
                </a:solidFill>
                <a:latin typeface="Segoe UI"/>
              </a:rPr>
              <a:t>the 15-second window already running in our code came from this research, not a guess — and two unrelated fields agree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RESEARCH GAP</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The white space, stated precisely</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9</a:t>
            </a:r>
          </a:p>
        </p:txBody>
      </p:sp>
      <p:sp>
        <p:nvSpPr>
          <p:cNvPr id="8" name="Rounded Rectangle 7"/>
          <p:cNvSpPr/>
          <p:nvPr/>
        </p:nvSpPr>
        <p:spPr>
          <a:xfrm>
            <a:off x="621792"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Identity persists</a:t>
            </a:r>
          </a:p>
        </p:txBody>
      </p:sp>
      <p:sp>
        <p:nvSpPr>
          <p:cNvPr id="10" name="TextBox 9"/>
          <p:cNvSpPr txBox="1"/>
          <p:nvPr/>
        </p:nvSpPr>
        <p:spPr>
          <a:xfrm>
            <a:off x="822960"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Re-ID gives a stable student across a session</a:t>
            </a:r>
          </a:p>
        </p:txBody>
      </p:sp>
      <p:sp>
        <p:nvSpPr>
          <p:cNvPr id="11" name="TextBox 10"/>
          <p:cNvSpPr txBox="1"/>
          <p:nvPr/>
        </p:nvSpPr>
        <p:spPr>
          <a:xfrm>
            <a:off x="822960"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only ever demonstrated for surveillance</a:t>
            </a:r>
          </a:p>
        </p:txBody>
      </p:sp>
      <p:sp>
        <p:nvSpPr>
          <p:cNvPr id="12" name="Rounded Rectangle 11"/>
          <p:cNvSpPr/>
          <p:nvPr/>
        </p:nvSpPr>
        <p:spPr>
          <a:xfrm>
            <a:off x="4350410"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51578"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Relations are modelled</a:t>
            </a:r>
          </a:p>
        </p:txBody>
      </p:sp>
      <p:sp>
        <p:nvSpPr>
          <p:cNvPr id="14" name="TextBox 13"/>
          <p:cNvSpPr txBox="1"/>
          <p:nvPr/>
        </p:nvSpPr>
        <p:spPr>
          <a:xfrm>
            <a:off x="4551578"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VidSGG gives evolving subject–predicate–object graphs</a:t>
            </a:r>
          </a:p>
        </p:txBody>
      </p:sp>
      <p:sp>
        <p:nvSpPr>
          <p:cNvPr id="15" name="TextBox 14"/>
          <p:cNvSpPr txBox="1"/>
          <p:nvPr/>
        </p:nvSpPr>
        <p:spPr>
          <a:xfrm>
            <a:off x="4551578"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with generic predicates, never attention</a:t>
            </a:r>
          </a:p>
        </p:txBody>
      </p:sp>
      <p:sp>
        <p:nvSpPr>
          <p:cNvPr id="16" name="Rounded Rectangle 15"/>
          <p:cNvSpPr/>
          <p:nvPr/>
        </p:nvSpPr>
        <p:spPr>
          <a:xfrm>
            <a:off x="8079028"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80196"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The group is read out</a:t>
            </a:r>
          </a:p>
        </p:txBody>
      </p:sp>
      <p:sp>
        <p:nvSpPr>
          <p:cNvPr id="18" name="TextBox 17"/>
          <p:cNvSpPr txBox="1"/>
          <p:nvPr/>
        </p:nvSpPr>
        <p:spPr>
          <a:xfrm>
            <a:off x="8280196"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GAR gives one activity label for a set of actors</a:t>
            </a:r>
          </a:p>
        </p:txBody>
      </p:sp>
      <p:sp>
        <p:nvSpPr>
          <p:cNvPr id="19" name="TextBox 18"/>
          <p:cNvSpPr txBox="1"/>
          <p:nvPr/>
        </p:nvSpPr>
        <p:spPr>
          <a:xfrm>
            <a:off x="8280196"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on sports clips, not sustained engagement</a:t>
            </a:r>
          </a:p>
        </p:txBody>
      </p:sp>
      <p:sp>
        <p:nvSpPr>
          <p:cNvPr id="20" name="Rounded Rectangle 19"/>
          <p:cNvSpPr/>
          <p:nvPr/>
        </p:nvSpPr>
        <p:spPr>
          <a:xfrm>
            <a:off x="621792" y="3330702"/>
            <a:ext cx="10948111" cy="1188720"/>
          </a:xfrm>
          <a:prstGeom prst="roundRect">
            <a:avLst>
              <a:gd name="adj" fmla="val 4500"/>
            </a:avLst>
          </a:prstGeom>
          <a:solidFill>
            <a:srgbClr val="E9F1F4"/>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96112" y="3513582"/>
            <a:ext cx="10399471" cy="274320"/>
          </a:xfrm>
          <a:prstGeom prst="rect">
            <a:avLst/>
          </a:prstGeom>
          <a:noFill/>
        </p:spPr>
        <p:txBody>
          <a:bodyPr wrap="square" lIns="0" rIns="0" tIns="0" bIns="0" anchor="t">
            <a:spAutoFit/>
          </a:bodyPr>
          <a:lstStyle/>
          <a:p>
            <a:r>
              <a:rPr sz="1000" b="1" i="0">
                <a:solidFill>
                  <a:srgbClr val="085961"/>
                </a:solidFill>
                <a:latin typeface="Segoe UI Semibold"/>
              </a:rPr>
              <a:t>THE GAP WE ADDRESS</a:t>
            </a:r>
          </a:p>
        </p:txBody>
      </p:sp>
      <p:sp>
        <p:nvSpPr>
          <p:cNvPr id="22" name="TextBox 21"/>
          <p:cNvSpPr txBox="1"/>
          <p:nvPr/>
        </p:nvSpPr>
        <p:spPr>
          <a:xfrm>
            <a:off x="896112" y="3842766"/>
            <a:ext cx="10399471" cy="566928"/>
          </a:xfrm>
          <a:prstGeom prst="rect">
            <a:avLst/>
          </a:prstGeom>
          <a:noFill/>
        </p:spPr>
        <p:txBody>
          <a:bodyPr wrap="square" lIns="0" rIns="0" tIns="0" bIns="0" anchor="t">
            <a:spAutoFit/>
          </a:bodyPr>
          <a:lstStyle/>
          <a:p>
            <a:pPr>
              <a:lnSpc>
                <a:spcPct val="126000"/>
              </a:lnSpc>
            </a:pPr>
            <a:r>
              <a:rPr sz="1400" b="0" i="0">
                <a:solidFill>
                  <a:srgbClr val="10273F"/>
                </a:solidFill>
                <a:latin typeface="Segoe UI"/>
              </a:rPr>
              <a:t>No prior work combines identity persistence, relational scene graphs and temporal group reasoning for classrooms — and none of the classroom systems ground their behaviour labels in a validated observation instrument.</a:t>
            </a:r>
          </a:p>
        </p:txBody>
      </p:sp>
      <p:sp>
        <p:nvSpPr>
          <p:cNvPr id="23" name="Rounded Rectangle 22"/>
          <p:cNvSpPr/>
          <p:nvPr/>
        </p:nvSpPr>
        <p:spPr>
          <a:xfrm>
            <a:off x="621792" y="4775454"/>
            <a:ext cx="10948111" cy="9692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1792" y="4866894"/>
            <a:ext cx="50292" cy="7863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4921758"/>
            <a:ext cx="10527487" cy="694944"/>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Our claim is deliberately narrow</a:t>
            </a:r>
          </a:p>
          <a:p>
            <a:pPr>
              <a:lnSpc>
                <a:spcPct val="118000"/>
              </a:lnSpc>
              <a:spcAft>
                <a:spcPts val="300"/>
              </a:spcAft>
            </a:pPr>
            <a:r>
              <a:rPr sz="1050" b="0" i="0">
                <a:solidFill>
                  <a:srgbClr val="3C5066"/>
                </a:solidFill>
                <a:latin typeface="Segoe UI"/>
              </a:rPr>
              <a:t>We are not claiming a new Re-ID loss, a new scene-graph architecture, or a new GAR backbone. The contribution is the integration and the domain: an identity-persistent, behaviour-grounded, temporally-reasoned classroom analytics system — plus the honest reporting of where vision alone cannot decide, which the reviewed classroom literature consistently glosses over.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4 — DATASET IDENTIFICATION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Primary dataset: OUC-CGE (Classroom Group Engagement)</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Reselected after the previous candidate turned out to be a moving target: an arXiv-only preprint revised seven times with no fixed, citable version.</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10</a:t>
            </a:r>
          </a:p>
        </p:txBody>
      </p:sp>
      <p:sp>
        <p:nvSpPr>
          <p:cNvPr id="9" name="Rounded Rectangle 8"/>
          <p:cNvSpPr/>
          <p:nvPr/>
        </p:nvSpPr>
        <p:spPr>
          <a:xfrm>
            <a:off x="621792" y="1876551"/>
            <a:ext cx="3703320" cy="283464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967991"/>
            <a:ext cx="50292" cy="265176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2022855"/>
            <a:ext cx="3282696" cy="2560320"/>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Why this one</a:t>
            </a:r>
          </a:p>
          <a:p>
            <a:pPr>
              <a:lnSpc>
                <a:spcPct val="118000"/>
              </a:lnSpc>
              <a:spcAft>
                <a:spcPts val="300"/>
              </a:spcAft>
            </a:pPr>
            <a:r>
              <a:rPr sz="950" b="0" i="0">
                <a:solidFill>
                  <a:srgbClr val="3C5066"/>
                </a:solidFill>
                <a:latin typeface="Segoe UI"/>
              </a:rPr>
              <a:t>Peer-reviewed and published in Nature Scientific Data (2025) — a fixed, citable dataset paper, not a preprint that keeps changing under us.</a:t>
            </a:r>
          </a:p>
          <a:p>
            <a:pPr>
              <a:lnSpc>
                <a:spcPct val="118000"/>
              </a:lnSpc>
              <a:spcAft>
                <a:spcPts val="300"/>
              </a:spcAft>
            </a:pPr>
            <a:r>
              <a:rPr sz="950" b="0" i="0">
                <a:solidFill>
                  <a:srgbClr val="3C5066"/>
                </a:solidFill>
                <a:latin typeface="Segoe UI"/>
              </a:rPr>
              <a:t>Filmed with three real classroom cameras, including one mounted above the teacher's head — the same elevated angle behind our hardest problem.</a:t>
            </a:r>
          </a:p>
          <a:p>
            <a:pPr>
              <a:lnSpc>
                <a:spcPct val="118000"/>
              </a:lnSpc>
              <a:spcAft>
                <a:spcPts val="300"/>
              </a:spcAft>
            </a:pPr>
            <a:r>
              <a:rPr sz="950" b="0" i="0">
                <a:solidFill>
                  <a:srgbClr val="3C5066"/>
                </a:solidFill>
                <a:latin typeface="Segoe UI"/>
              </a:rPr>
              <a:t>Labels are group-level engagement (High / Medium / Low), which is exactly the unit our Group Activity stage (Pillar 3, ARG) needs to be evaluated on.</a:t>
            </a:r>
          </a:p>
          <a:p>
            <a:pPr>
              <a:lnSpc>
                <a:spcPct val="118000"/>
              </a:lnSpc>
              <a:spcAft>
                <a:spcPts val="300"/>
              </a:spcAft>
            </a:pPr>
            <a:r>
              <a:rPr sz="950" b="0" i="0">
                <a:solidFill>
                  <a:srgbClr val="3C5066"/>
                </a:solidFill>
                <a:latin typeface="Segoe UI"/>
              </a:rPr>
              <a:t>Openly archived with a permanent DOI on OSF, MIT-licensed code — one stable link, not a repository that has been rewritten under the same name.</a:t>
            </a:r>
          </a:p>
        </p:txBody>
      </p:sp>
      <p:sp>
        <p:nvSpPr>
          <p:cNvPr id="12" name="Rounded Rectangle 11"/>
          <p:cNvSpPr/>
          <p:nvPr/>
        </p:nvSpPr>
        <p:spPr>
          <a:xfrm>
            <a:off x="4562855" y="1876551"/>
            <a:ext cx="3246120" cy="283464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82312" y="2059432"/>
            <a:ext cx="2834640" cy="274320"/>
          </a:xfrm>
          <a:prstGeom prst="rect">
            <a:avLst/>
          </a:prstGeom>
          <a:noFill/>
        </p:spPr>
        <p:txBody>
          <a:bodyPr wrap="square" lIns="0" rIns="0" tIns="0" bIns="0" anchor="t">
            <a:spAutoFit/>
          </a:bodyPr>
          <a:lstStyle/>
          <a:p>
            <a:r>
              <a:rPr sz="1300" b="1" i="0">
                <a:solidFill>
                  <a:srgbClr val="10273F"/>
                </a:solidFill>
                <a:latin typeface="Segoe UI Semibold"/>
              </a:rPr>
              <a:t>Scale &amp; format</a:t>
            </a:r>
          </a:p>
        </p:txBody>
      </p:sp>
      <p:sp>
        <p:nvSpPr>
          <p:cNvPr id="14" name="TextBox 13"/>
          <p:cNvSpPr txBox="1"/>
          <p:nvPr/>
        </p:nvSpPr>
        <p:spPr>
          <a:xfrm>
            <a:off x="4782312" y="2443480"/>
            <a:ext cx="1691640" cy="256032"/>
          </a:xfrm>
          <a:prstGeom prst="rect">
            <a:avLst/>
          </a:prstGeom>
          <a:noFill/>
        </p:spPr>
        <p:txBody>
          <a:bodyPr wrap="square" lIns="0" rIns="0" tIns="0" bIns="0" anchor="t">
            <a:spAutoFit/>
          </a:bodyPr>
          <a:lstStyle/>
          <a:p>
            <a:r>
              <a:rPr sz="950" b="0" i="0">
                <a:solidFill>
                  <a:srgbClr val="7B8C9E"/>
                </a:solidFill>
                <a:latin typeface="Segoe UI"/>
              </a:rPr>
              <a:t>Video segments</a:t>
            </a:r>
          </a:p>
        </p:txBody>
      </p:sp>
      <p:sp>
        <p:nvSpPr>
          <p:cNvPr id="15" name="TextBox 14"/>
          <p:cNvSpPr txBox="1"/>
          <p:nvPr/>
        </p:nvSpPr>
        <p:spPr>
          <a:xfrm>
            <a:off x="6437375" y="2443480"/>
            <a:ext cx="1170432" cy="256032"/>
          </a:xfrm>
          <a:prstGeom prst="rect">
            <a:avLst/>
          </a:prstGeom>
          <a:noFill/>
        </p:spPr>
        <p:txBody>
          <a:bodyPr wrap="square" lIns="0" rIns="0" tIns="0" bIns="0" anchor="t">
            <a:spAutoFit/>
          </a:bodyPr>
          <a:lstStyle/>
          <a:p>
            <a:pPr algn="r"/>
            <a:r>
              <a:rPr sz="950" b="1" i="0">
                <a:solidFill>
                  <a:srgbClr val="10273F"/>
                </a:solidFill>
                <a:latin typeface="Consolas"/>
              </a:rPr>
              <a:t>~7,705 clips</a:t>
            </a:r>
          </a:p>
        </p:txBody>
      </p:sp>
      <p:sp>
        <p:nvSpPr>
          <p:cNvPr id="16" name="TextBox 15"/>
          <p:cNvSpPr txBox="1"/>
          <p:nvPr/>
        </p:nvSpPr>
        <p:spPr>
          <a:xfrm>
            <a:off x="4782312" y="2827528"/>
            <a:ext cx="1691640" cy="256032"/>
          </a:xfrm>
          <a:prstGeom prst="rect">
            <a:avLst/>
          </a:prstGeom>
          <a:noFill/>
        </p:spPr>
        <p:txBody>
          <a:bodyPr wrap="square" lIns="0" rIns="0" tIns="0" bIns="0" anchor="t">
            <a:spAutoFit/>
          </a:bodyPr>
          <a:lstStyle/>
          <a:p>
            <a:r>
              <a:rPr sz="950" b="0" i="0">
                <a:solidFill>
                  <a:srgbClr val="7B8C9E"/>
                </a:solidFill>
                <a:latin typeface="Segoe UI"/>
              </a:rPr>
              <a:t>Total footage</a:t>
            </a:r>
          </a:p>
        </p:txBody>
      </p:sp>
      <p:sp>
        <p:nvSpPr>
          <p:cNvPr id="17" name="TextBox 16"/>
          <p:cNvSpPr txBox="1"/>
          <p:nvPr/>
        </p:nvSpPr>
        <p:spPr>
          <a:xfrm>
            <a:off x="6437375" y="2827528"/>
            <a:ext cx="1170432" cy="256032"/>
          </a:xfrm>
          <a:prstGeom prst="rect">
            <a:avLst/>
          </a:prstGeom>
          <a:noFill/>
        </p:spPr>
        <p:txBody>
          <a:bodyPr wrap="square" lIns="0" rIns="0" tIns="0" bIns="0" anchor="t">
            <a:spAutoFit/>
          </a:bodyPr>
          <a:lstStyle/>
          <a:p>
            <a:pPr algn="r"/>
            <a:r>
              <a:rPr sz="950" b="1" i="0">
                <a:solidFill>
                  <a:srgbClr val="10273F"/>
                </a:solidFill>
                <a:latin typeface="Consolas"/>
              </a:rPr>
              <a:t>12h 50m</a:t>
            </a:r>
          </a:p>
        </p:txBody>
      </p:sp>
      <p:sp>
        <p:nvSpPr>
          <p:cNvPr id="18" name="TextBox 17"/>
          <p:cNvSpPr txBox="1"/>
          <p:nvPr/>
        </p:nvSpPr>
        <p:spPr>
          <a:xfrm>
            <a:off x="4782312" y="3211575"/>
            <a:ext cx="1691640" cy="256032"/>
          </a:xfrm>
          <a:prstGeom prst="rect">
            <a:avLst/>
          </a:prstGeom>
          <a:noFill/>
        </p:spPr>
        <p:txBody>
          <a:bodyPr wrap="square" lIns="0" rIns="0" tIns="0" bIns="0" anchor="t">
            <a:spAutoFit/>
          </a:bodyPr>
          <a:lstStyle/>
          <a:p>
            <a:r>
              <a:rPr sz="950" b="0" i="0">
                <a:solidFill>
                  <a:srgbClr val="7B8C9E"/>
                </a:solidFill>
                <a:latin typeface="Segoe UI"/>
              </a:rPr>
              <a:t>Participants</a:t>
            </a:r>
          </a:p>
        </p:txBody>
      </p:sp>
      <p:sp>
        <p:nvSpPr>
          <p:cNvPr id="19" name="TextBox 18"/>
          <p:cNvSpPr txBox="1"/>
          <p:nvPr/>
        </p:nvSpPr>
        <p:spPr>
          <a:xfrm>
            <a:off x="6437375" y="3211575"/>
            <a:ext cx="1170432" cy="256032"/>
          </a:xfrm>
          <a:prstGeom prst="rect">
            <a:avLst/>
          </a:prstGeom>
          <a:noFill/>
        </p:spPr>
        <p:txBody>
          <a:bodyPr wrap="square" lIns="0" rIns="0" tIns="0" bIns="0" anchor="t">
            <a:spAutoFit/>
          </a:bodyPr>
          <a:lstStyle/>
          <a:p>
            <a:pPr algn="r"/>
            <a:r>
              <a:rPr sz="950" b="1" i="0">
                <a:solidFill>
                  <a:srgbClr val="10273F"/>
                </a:solidFill>
                <a:latin typeface="Consolas"/>
              </a:rPr>
              <a:t>17 students</a:t>
            </a:r>
          </a:p>
        </p:txBody>
      </p:sp>
      <p:sp>
        <p:nvSpPr>
          <p:cNvPr id="20" name="TextBox 19"/>
          <p:cNvSpPr txBox="1"/>
          <p:nvPr/>
        </p:nvSpPr>
        <p:spPr>
          <a:xfrm>
            <a:off x="4782312" y="3595624"/>
            <a:ext cx="1691640" cy="256032"/>
          </a:xfrm>
          <a:prstGeom prst="rect">
            <a:avLst/>
          </a:prstGeom>
          <a:noFill/>
        </p:spPr>
        <p:txBody>
          <a:bodyPr wrap="square" lIns="0" rIns="0" tIns="0" bIns="0" anchor="t">
            <a:spAutoFit/>
          </a:bodyPr>
          <a:lstStyle/>
          <a:p>
            <a:r>
              <a:rPr sz="950" b="0" i="0">
                <a:solidFill>
                  <a:srgbClr val="7B8C9E"/>
                </a:solidFill>
                <a:latin typeface="Segoe UI"/>
              </a:rPr>
              <a:t>Camera angles</a:t>
            </a:r>
          </a:p>
        </p:txBody>
      </p:sp>
      <p:sp>
        <p:nvSpPr>
          <p:cNvPr id="21" name="TextBox 20"/>
          <p:cNvSpPr txBox="1"/>
          <p:nvPr/>
        </p:nvSpPr>
        <p:spPr>
          <a:xfrm>
            <a:off x="6437375" y="3595624"/>
            <a:ext cx="1170432" cy="256032"/>
          </a:xfrm>
          <a:prstGeom prst="rect">
            <a:avLst/>
          </a:prstGeom>
          <a:noFill/>
        </p:spPr>
        <p:txBody>
          <a:bodyPr wrap="square" lIns="0" rIns="0" tIns="0" bIns="0" anchor="t">
            <a:spAutoFit/>
          </a:bodyPr>
          <a:lstStyle/>
          <a:p>
            <a:pPr algn="r"/>
            <a:r>
              <a:rPr sz="950" b="1" i="0">
                <a:solidFill>
                  <a:srgbClr val="10273F"/>
                </a:solidFill>
                <a:latin typeface="Consolas"/>
              </a:rPr>
              <a:t>3 (incl. overhead)</a:t>
            </a:r>
          </a:p>
        </p:txBody>
      </p:sp>
      <p:sp>
        <p:nvSpPr>
          <p:cNvPr id="22" name="TextBox 21"/>
          <p:cNvSpPr txBox="1"/>
          <p:nvPr/>
        </p:nvSpPr>
        <p:spPr>
          <a:xfrm>
            <a:off x="4782312" y="3979672"/>
            <a:ext cx="1691640" cy="256032"/>
          </a:xfrm>
          <a:prstGeom prst="rect">
            <a:avLst/>
          </a:prstGeom>
          <a:noFill/>
        </p:spPr>
        <p:txBody>
          <a:bodyPr wrap="square" lIns="0" rIns="0" tIns="0" bIns="0" anchor="t">
            <a:spAutoFit/>
          </a:bodyPr>
          <a:lstStyle/>
          <a:p>
            <a:r>
              <a:rPr sz="950" b="0" i="0">
                <a:solidFill>
                  <a:srgbClr val="7B8C9E"/>
                </a:solidFill>
                <a:latin typeface="Segoe UI"/>
              </a:rPr>
              <a:t>Label unit</a:t>
            </a:r>
          </a:p>
        </p:txBody>
      </p:sp>
      <p:sp>
        <p:nvSpPr>
          <p:cNvPr id="23" name="TextBox 22"/>
          <p:cNvSpPr txBox="1"/>
          <p:nvPr/>
        </p:nvSpPr>
        <p:spPr>
          <a:xfrm>
            <a:off x="6437375" y="3979672"/>
            <a:ext cx="1170432" cy="256032"/>
          </a:xfrm>
          <a:prstGeom prst="rect">
            <a:avLst/>
          </a:prstGeom>
          <a:noFill/>
        </p:spPr>
        <p:txBody>
          <a:bodyPr wrap="square" lIns="0" rIns="0" tIns="0" bIns="0" anchor="t">
            <a:spAutoFit/>
          </a:bodyPr>
          <a:lstStyle/>
          <a:p>
            <a:pPr algn="r"/>
            <a:r>
              <a:rPr sz="950" b="1" i="0">
                <a:solidFill>
                  <a:srgbClr val="10273F"/>
                </a:solidFill>
                <a:latin typeface="Consolas"/>
              </a:rPr>
              <a:t>group, per clip</a:t>
            </a:r>
          </a:p>
        </p:txBody>
      </p:sp>
      <p:sp>
        <p:nvSpPr>
          <p:cNvPr id="24" name="TextBox 23"/>
          <p:cNvSpPr txBox="1"/>
          <p:nvPr/>
        </p:nvSpPr>
        <p:spPr>
          <a:xfrm>
            <a:off x="4782312" y="4363720"/>
            <a:ext cx="1691640" cy="256032"/>
          </a:xfrm>
          <a:prstGeom prst="rect">
            <a:avLst/>
          </a:prstGeom>
          <a:noFill/>
        </p:spPr>
        <p:txBody>
          <a:bodyPr wrap="square" lIns="0" rIns="0" tIns="0" bIns="0" anchor="t">
            <a:spAutoFit/>
          </a:bodyPr>
          <a:lstStyle/>
          <a:p>
            <a:r>
              <a:rPr sz="950" b="0" i="0">
                <a:solidFill>
                  <a:srgbClr val="7B8C9E"/>
                </a:solidFill>
                <a:latin typeface="Segoe UI"/>
              </a:rPr>
              <a:t>Archive</a:t>
            </a:r>
          </a:p>
        </p:txBody>
      </p:sp>
      <p:sp>
        <p:nvSpPr>
          <p:cNvPr id="25" name="TextBox 24"/>
          <p:cNvSpPr txBox="1"/>
          <p:nvPr/>
        </p:nvSpPr>
        <p:spPr>
          <a:xfrm>
            <a:off x="6437375" y="4363720"/>
            <a:ext cx="1170432" cy="256032"/>
          </a:xfrm>
          <a:prstGeom prst="rect">
            <a:avLst/>
          </a:prstGeom>
          <a:noFill/>
        </p:spPr>
        <p:txBody>
          <a:bodyPr wrap="square" lIns="0" rIns="0" tIns="0" bIns="0" anchor="t">
            <a:spAutoFit/>
          </a:bodyPr>
          <a:lstStyle/>
          <a:p>
            <a:pPr algn="r"/>
            <a:r>
              <a:rPr sz="950" b="1" i="0">
                <a:solidFill>
                  <a:srgbClr val="10273F"/>
                </a:solidFill>
                <a:latin typeface="Consolas"/>
              </a:rPr>
              <a:t>OSF · DOI, MIT code</a:t>
            </a:r>
          </a:p>
        </p:txBody>
      </p:sp>
      <p:sp>
        <p:nvSpPr>
          <p:cNvPr id="26" name="Rounded Rectangle 25"/>
          <p:cNvSpPr/>
          <p:nvPr/>
        </p:nvSpPr>
        <p:spPr>
          <a:xfrm>
            <a:off x="8046719" y="1876551"/>
            <a:ext cx="3523183" cy="2834640"/>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84463" y="2059432"/>
            <a:ext cx="3047695" cy="274320"/>
          </a:xfrm>
          <a:prstGeom prst="rect">
            <a:avLst/>
          </a:prstGeom>
          <a:noFill/>
        </p:spPr>
        <p:txBody>
          <a:bodyPr wrap="square" lIns="0" rIns="0" tIns="0" bIns="0" anchor="t">
            <a:spAutoFit/>
          </a:bodyPr>
          <a:lstStyle/>
          <a:p>
            <a:r>
              <a:rPr sz="1000" b="1" i="0">
                <a:solidFill>
                  <a:srgbClr val="6FC5CE"/>
                </a:solidFill>
                <a:latin typeface="Segoe UI Semibold"/>
              </a:rPr>
              <a:t>BEING HONEST ABOUT ITS LIMITS</a:t>
            </a:r>
          </a:p>
        </p:txBody>
      </p:sp>
      <p:sp>
        <p:nvSpPr>
          <p:cNvPr id="28" name="TextBox 27"/>
          <p:cNvSpPr txBox="1"/>
          <p:nvPr/>
        </p:nvSpPr>
        <p:spPr>
          <a:xfrm>
            <a:off x="8284463" y="2388616"/>
            <a:ext cx="3047695" cy="566928"/>
          </a:xfrm>
          <a:prstGeom prst="rect">
            <a:avLst/>
          </a:prstGeom>
          <a:noFill/>
        </p:spPr>
        <p:txBody>
          <a:bodyPr wrap="square" lIns="0" rIns="0" tIns="0" bIns="0" anchor="t">
            <a:spAutoFit/>
          </a:bodyPr>
          <a:lstStyle/>
          <a:p>
            <a:pPr>
              <a:lnSpc>
                <a:spcPct val="120000"/>
              </a:lnSpc>
            </a:pPr>
            <a:r>
              <a:rPr sz="1250" b="1" i="0">
                <a:solidFill>
                  <a:srgbClr val="FFFFFF"/>
                </a:solidFill>
                <a:latin typeface="Segoe UI Semibold"/>
              </a:rPr>
              <a:t>Small (17 students, 16 female/1 male) and group-level only.</a:t>
            </a:r>
          </a:p>
        </p:txBody>
      </p:sp>
      <p:sp>
        <p:nvSpPr>
          <p:cNvPr id="29" name="TextBox 28"/>
          <p:cNvSpPr txBox="1"/>
          <p:nvPr/>
        </p:nvSpPr>
        <p:spPr>
          <a:xfrm>
            <a:off x="8284463" y="3010407"/>
            <a:ext cx="3047695" cy="1517904"/>
          </a:xfrm>
          <a:prstGeom prst="rect">
            <a:avLst/>
          </a:prstGeom>
          <a:noFill/>
        </p:spPr>
        <p:txBody>
          <a:bodyPr wrap="square" lIns="0" rIns="0" tIns="0" bIns="0" anchor="t">
            <a:spAutoFit/>
          </a:bodyPr>
          <a:lstStyle/>
          <a:p>
            <a:pPr>
              <a:lnSpc>
                <a:spcPct val="126000"/>
              </a:lnSpc>
            </a:pPr>
            <a:r>
              <a:rPr sz="1000" b="0" i="0">
                <a:solidFill>
                  <a:srgbClr val="D6E4EC"/>
                </a:solidFill>
                <a:latin typeface="Segoe UI"/>
              </a:rPr>
              <a:t>It cannot tell us whether ONE student is bowed over reading vs. bowed over a phone — that per-student behaviour granularity is what the supporting dataset below is for. We are using OUC-CGE for what it is actually strong at: real classroom camera angles and citable group-engagement ground truth.</a:t>
            </a:r>
          </a:p>
        </p:txBody>
      </p:sp>
      <p:sp>
        <p:nvSpPr>
          <p:cNvPr id="30" name="Rounded Rectangle 29"/>
          <p:cNvSpPr/>
          <p:nvPr/>
        </p:nvSpPr>
        <p:spPr>
          <a:xfrm>
            <a:off x="621792" y="4930647"/>
            <a:ext cx="10948111" cy="9692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1792" y="5022087"/>
            <a:ext cx="50292" cy="786384"/>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59536" y="5076951"/>
            <a:ext cx="10527487" cy="69494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Supporting dataset — SCB-Dataset, for per-student behaviour labels</a:t>
            </a:r>
          </a:p>
          <a:p>
            <a:pPr>
              <a:lnSpc>
                <a:spcPct val="118000"/>
              </a:lnSpc>
              <a:spcAft>
                <a:spcPts val="300"/>
              </a:spcAft>
            </a:pPr>
            <a:r>
              <a:rPr sz="950" b="0" i="0">
                <a:solidFill>
                  <a:srgbClr val="3C5066"/>
                </a:solidFill>
                <a:latin typeface="Segoe UI"/>
              </a:rPr>
              <a:t>OUC-CGE has no equivalent to this: SCB's bow head / read / write / using the phone / turn head / talk / discuss classes are supervision for the exact ambiguity our own geometry cannot resolve (see Problem 6). Used as a secondary reference, not the primary dataset, precisely because of the version-stability issue above — cite specific frozen commits, not "latest".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WORKFLOW &amp; PLAN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Five stages, one team of three, and where we are today</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Each stage consumes the previous one's output through a fixed JSON schema, so three people build in parallel against stable interfaces. Stage number doubles as the project month.</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11</a:t>
            </a:r>
          </a:p>
        </p:txBody>
      </p:sp>
      <p:sp>
        <p:nvSpPr>
          <p:cNvPr id="9" name="Rounded Rectangle 8"/>
          <p:cNvSpPr/>
          <p:nvPr/>
        </p:nvSpPr>
        <p:spPr>
          <a:xfrm>
            <a:off x="621792" y="1876551"/>
            <a:ext cx="1984796" cy="2615184"/>
          </a:xfrm>
          <a:prstGeom prst="roundRect">
            <a:avLst>
              <a:gd name="adj" fmla="val 4500"/>
            </a:avLst>
          </a:prstGeom>
          <a:solidFill>
            <a:srgbClr val="FFFFFF"/>
          </a:solidFill>
          <a:ln w="1905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876551"/>
            <a:ext cx="1984796" cy="457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 y="2022855"/>
            <a:ext cx="914400" cy="237744"/>
          </a:xfrm>
          <a:prstGeom prst="rect">
            <a:avLst/>
          </a:prstGeom>
          <a:noFill/>
        </p:spPr>
        <p:txBody>
          <a:bodyPr wrap="square" lIns="0" rIns="0" tIns="0" bIns="0" anchor="t">
            <a:spAutoFit/>
          </a:bodyPr>
          <a:lstStyle/>
          <a:p>
            <a:r>
              <a:rPr sz="850" b="1" i="0">
                <a:solidFill>
                  <a:srgbClr val="7B8C9E"/>
                </a:solidFill>
                <a:latin typeface="Segoe UI Semibold"/>
              </a:rPr>
              <a:t>MONTH 1</a:t>
            </a:r>
          </a:p>
        </p:txBody>
      </p:sp>
      <p:sp>
        <p:nvSpPr>
          <p:cNvPr id="12" name="Rounded Rectangle 11"/>
          <p:cNvSpPr/>
          <p:nvPr/>
        </p:nvSpPr>
        <p:spPr>
          <a:xfrm>
            <a:off x="1893356" y="2022855"/>
            <a:ext cx="566928" cy="219456"/>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93356" y="2054860"/>
            <a:ext cx="566928" cy="173736"/>
          </a:xfrm>
          <a:prstGeom prst="rect">
            <a:avLst/>
          </a:prstGeom>
          <a:noFill/>
        </p:spPr>
        <p:txBody>
          <a:bodyPr wrap="square" lIns="0" rIns="0" tIns="0" bIns="0" anchor="ctr">
            <a:spAutoFit/>
          </a:bodyPr>
          <a:lstStyle/>
          <a:p>
            <a:pPr algn="ctr"/>
            <a:r>
              <a:rPr sz="700" b="1" i="0">
                <a:solidFill>
                  <a:srgbClr val="FFFFFF"/>
                </a:solidFill>
                <a:latin typeface="Segoe UI Semibold"/>
              </a:rPr>
              <a:t>BUILT</a:t>
            </a:r>
          </a:p>
        </p:txBody>
      </p:sp>
      <p:sp>
        <p:nvSpPr>
          <p:cNvPr id="14" name="TextBox 13"/>
          <p:cNvSpPr txBox="1"/>
          <p:nvPr/>
        </p:nvSpPr>
        <p:spPr>
          <a:xfrm>
            <a:off x="768096" y="2333751"/>
            <a:ext cx="1692188" cy="292608"/>
          </a:xfrm>
          <a:prstGeom prst="rect">
            <a:avLst/>
          </a:prstGeom>
          <a:noFill/>
        </p:spPr>
        <p:txBody>
          <a:bodyPr wrap="square" lIns="0" rIns="0" tIns="0" bIns="0" anchor="t">
            <a:spAutoFit/>
          </a:bodyPr>
          <a:lstStyle/>
          <a:p>
            <a:r>
              <a:rPr sz="1250" b="1" i="0">
                <a:solidFill>
                  <a:srgbClr val="10273F"/>
                </a:solidFill>
                <a:latin typeface="Segoe UI Semibold"/>
              </a:rPr>
              <a:t>Perception</a:t>
            </a:r>
          </a:p>
        </p:txBody>
      </p:sp>
      <p:sp>
        <p:nvSpPr>
          <p:cNvPr id="15" name="TextBox 14"/>
          <p:cNvSpPr txBox="1"/>
          <p:nvPr/>
        </p:nvSpPr>
        <p:spPr>
          <a:xfrm>
            <a:off x="768096" y="2681223"/>
            <a:ext cx="1692188" cy="749808"/>
          </a:xfrm>
          <a:prstGeom prst="rect">
            <a:avLst/>
          </a:prstGeom>
          <a:noFill/>
        </p:spPr>
        <p:txBody>
          <a:bodyPr wrap="square" lIns="0" rIns="0" tIns="0" bIns="0" anchor="t">
            <a:spAutoFit/>
          </a:bodyPr>
          <a:lstStyle/>
          <a:p>
            <a:pPr>
              <a:lnSpc>
                <a:spcPct val="122000"/>
              </a:lnSpc>
            </a:pPr>
            <a:r>
              <a:rPr sz="850" b="0" i="0">
                <a:solidFill>
                  <a:srgbClr val="3C5066"/>
                </a:solidFill>
                <a:latin typeface="Consolas"/>
              </a:rPr>
              <a:t>YOLOv11 · Face Mesh
Body pose · head pose</a:t>
            </a:r>
          </a:p>
        </p:txBody>
      </p:sp>
      <p:sp>
        <p:nvSpPr>
          <p:cNvPr id="16" name="Rectangle 15"/>
          <p:cNvSpPr/>
          <p:nvPr/>
        </p:nvSpPr>
        <p:spPr>
          <a:xfrm>
            <a:off x="768096" y="3522472"/>
            <a:ext cx="1692188"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3632199"/>
            <a:ext cx="1692188" cy="365760"/>
          </a:xfrm>
          <a:prstGeom prst="rect">
            <a:avLst/>
          </a:prstGeom>
          <a:noFill/>
        </p:spPr>
        <p:txBody>
          <a:bodyPr wrap="square" lIns="0" rIns="0" tIns="0" bIns="0" anchor="t">
            <a:spAutoFit/>
          </a:bodyPr>
          <a:lstStyle/>
          <a:p>
            <a:pPr>
              <a:lnSpc>
                <a:spcPct val="114000"/>
              </a:lnSpc>
            </a:pPr>
            <a:r>
              <a:rPr sz="900" b="1" i="0">
                <a:solidFill>
                  <a:srgbClr val="085961"/>
                </a:solidFill>
                <a:latin typeface="Segoe UI"/>
              </a:rPr>
              <a:t>who &amp; where</a:t>
            </a:r>
          </a:p>
        </p:txBody>
      </p:sp>
      <p:sp>
        <p:nvSpPr>
          <p:cNvPr id="18" name="Rounded Rectangle 17"/>
          <p:cNvSpPr/>
          <p:nvPr/>
        </p:nvSpPr>
        <p:spPr>
          <a:xfrm>
            <a:off x="768096" y="4034535"/>
            <a:ext cx="329184" cy="32918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 y="4089399"/>
            <a:ext cx="329184" cy="237744"/>
          </a:xfrm>
          <a:prstGeom prst="rect">
            <a:avLst/>
          </a:prstGeom>
          <a:noFill/>
        </p:spPr>
        <p:txBody>
          <a:bodyPr wrap="square" lIns="0" rIns="0" tIns="0" bIns="0" anchor="t">
            <a:spAutoFit/>
          </a:bodyPr>
          <a:lstStyle/>
          <a:p>
            <a:pPr algn="ctr"/>
            <a:r>
              <a:rPr sz="1100" b="1" i="0">
                <a:solidFill>
                  <a:srgbClr val="FFFFFF"/>
                </a:solidFill>
                <a:latin typeface="Segoe UI Semibold"/>
              </a:rPr>
              <a:t>A</a:t>
            </a:r>
          </a:p>
        </p:txBody>
      </p:sp>
      <p:sp>
        <p:nvSpPr>
          <p:cNvPr id="20" name="TextBox 19"/>
          <p:cNvSpPr txBox="1"/>
          <p:nvPr/>
        </p:nvSpPr>
        <p:spPr>
          <a:xfrm>
            <a:off x="1152144" y="4089399"/>
            <a:ext cx="1308140" cy="256032"/>
          </a:xfrm>
          <a:prstGeom prst="rect">
            <a:avLst/>
          </a:prstGeom>
          <a:noFill/>
        </p:spPr>
        <p:txBody>
          <a:bodyPr wrap="square" lIns="0" rIns="0" tIns="0" bIns="0" anchor="t">
            <a:spAutoFit/>
          </a:bodyPr>
          <a:lstStyle/>
          <a:p>
            <a:r>
              <a:rPr sz="800" b="0" i="0">
                <a:solidFill>
                  <a:srgbClr val="7B8C9E"/>
                </a:solidFill>
                <a:latin typeface="Segoe UI"/>
              </a:rPr>
              <a:t>owner</a:t>
            </a:r>
          </a:p>
        </p:txBody>
      </p:sp>
      <p:sp>
        <p:nvSpPr>
          <p:cNvPr id="21" name="Rounded Rectangle 20"/>
          <p:cNvSpPr/>
          <p:nvPr/>
        </p:nvSpPr>
        <p:spPr>
          <a:xfrm>
            <a:off x="2862620" y="1876551"/>
            <a:ext cx="1984796" cy="2615184"/>
          </a:xfrm>
          <a:prstGeom prst="roundRect">
            <a:avLst>
              <a:gd name="adj" fmla="val 4500"/>
            </a:avLst>
          </a:prstGeom>
          <a:solidFill>
            <a:srgbClr val="FFFFFF"/>
          </a:solidFill>
          <a:ln w="1905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862620" y="1876551"/>
            <a:ext cx="1984796" cy="457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008924" y="2022855"/>
            <a:ext cx="914400" cy="237744"/>
          </a:xfrm>
          <a:prstGeom prst="rect">
            <a:avLst/>
          </a:prstGeom>
          <a:noFill/>
        </p:spPr>
        <p:txBody>
          <a:bodyPr wrap="square" lIns="0" rIns="0" tIns="0" bIns="0" anchor="t">
            <a:spAutoFit/>
          </a:bodyPr>
          <a:lstStyle/>
          <a:p>
            <a:r>
              <a:rPr sz="850" b="1" i="0">
                <a:solidFill>
                  <a:srgbClr val="7B8C9E"/>
                </a:solidFill>
                <a:latin typeface="Segoe UI Semibold"/>
              </a:rPr>
              <a:t>MONTH 2</a:t>
            </a:r>
          </a:p>
        </p:txBody>
      </p:sp>
      <p:sp>
        <p:nvSpPr>
          <p:cNvPr id="24" name="Rounded Rectangle 23"/>
          <p:cNvSpPr/>
          <p:nvPr/>
        </p:nvSpPr>
        <p:spPr>
          <a:xfrm>
            <a:off x="4134185" y="2022855"/>
            <a:ext cx="566928" cy="219456"/>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134185" y="2054860"/>
            <a:ext cx="566928" cy="173736"/>
          </a:xfrm>
          <a:prstGeom prst="rect">
            <a:avLst/>
          </a:prstGeom>
          <a:noFill/>
        </p:spPr>
        <p:txBody>
          <a:bodyPr wrap="square" lIns="0" rIns="0" tIns="0" bIns="0" anchor="ctr">
            <a:spAutoFit/>
          </a:bodyPr>
          <a:lstStyle/>
          <a:p>
            <a:pPr algn="ctr"/>
            <a:r>
              <a:rPr sz="700" b="1" i="0">
                <a:solidFill>
                  <a:srgbClr val="FFFFFF"/>
                </a:solidFill>
                <a:latin typeface="Segoe UI Semibold"/>
              </a:rPr>
              <a:t>BUILT</a:t>
            </a:r>
          </a:p>
        </p:txBody>
      </p:sp>
      <p:sp>
        <p:nvSpPr>
          <p:cNvPr id="26" name="TextBox 25"/>
          <p:cNvSpPr txBox="1"/>
          <p:nvPr/>
        </p:nvSpPr>
        <p:spPr>
          <a:xfrm>
            <a:off x="3008924" y="2333751"/>
            <a:ext cx="1692188" cy="292608"/>
          </a:xfrm>
          <a:prstGeom prst="rect">
            <a:avLst/>
          </a:prstGeom>
          <a:noFill/>
        </p:spPr>
        <p:txBody>
          <a:bodyPr wrap="square" lIns="0" rIns="0" tIns="0" bIns="0" anchor="t">
            <a:spAutoFit/>
          </a:bodyPr>
          <a:lstStyle/>
          <a:p>
            <a:r>
              <a:rPr sz="1250" b="1" i="0">
                <a:solidFill>
                  <a:srgbClr val="10273F"/>
                </a:solidFill>
                <a:latin typeface="Segoe UI Semibold"/>
              </a:rPr>
              <a:t>Identity</a:t>
            </a:r>
          </a:p>
        </p:txBody>
      </p:sp>
      <p:sp>
        <p:nvSpPr>
          <p:cNvPr id="27" name="TextBox 26"/>
          <p:cNvSpPr txBox="1"/>
          <p:nvPr/>
        </p:nvSpPr>
        <p:spPr>
          <a:xfrm>
            <a:off x="3008924" y="2681223"/>
            <a:ext cx="1692188" cy="749808"/>
          </a:xfrm>
          <a:prstGeom prst="rect">
            <a:avLst/>
          </a:prstGeom>
          <a:noFill/>
        </p:spPr>
        <p:txBody>
          <a:bodyPr wrap="square" lIns="0" rIns="0" tIns="0" bIns="0" anchor="t">
            <a:spAutoFit/>
          </a:bodyPr>
          <a:lstStyle/>
          <a:p>
            <a:pPr>
              <a:lnSpc>
                <a:spcPct val="122000"/>
              </a:lnSpc>
            </a:pPr>
            <a:r>
              <a:rPr sz="850" b="0" i="0">
                <a:solidFill>
                  <a:srgbClr val="3C5066"/>
                </a:solidFill>
                <a:latin typeface="Consolas"/>
              </a:rPr>
              <a:t>ByteTrack now
CAL Re-ID next</a:t>
            </a:r>
          </a:p>
        </p:txBody>
      </p:sp>
      <p:sp>
        <p:nvSpPr>
          <p:cNvPr id="28" name="Rectangle 27"/>
          <p:cNvSpPr/>
          <p:nvPr/>
        </p:nvSpPr>
        <p:spPr>
          <a:xfrm>
            <a:off x="3008924" y="3522472"/>
            <a:ext cx="1692188"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008924" y="3632199"/>
            <a:ext cx="1692188" cy="365760"/>
          </a:xfrm>
          <a:prstGeom prst="rect">
            <a:avLst/>
          </a:prstGeom>
          <a:noFill/>
        </p:spPr>
        <p:txBody>
          <a:bodyPr wrap="square" lIns="0" rIns="0" tIns="0" bIns="0" anchor="t">
            <a:spAutoFit/>
          </a:bodyPr>
          <a:lstStyle/>
          <a:p>
            <a:pPr>
              <a:lnSpc>
                <a:spcPct val="114000"/>
              </a:lnSpc>
            </a:pPr>
            <a:r>
              <a:rPr sz="900" b="1" i="0">
                <a:solidFill>
                  <a:srgbClr val="085961"/>
                </a:solidFill>
                <a:latin typeface="Segoe UI"/>
              </a:rPr>
              <a:t>stable IDs</a:t>
            </a:r>
          </a:p>
        </p:txBody>
      </p:sp>
      <p:sp>
        <p:nvSpPr>
          <p:cNvPr id="30" name="Rounded Rectangle 29"/>
          <p:cNvSpPr/>
          <p:nvPr/>
        </p:nvSpPr>
        <p:spPr>
          <a:xfrm>
            <a:off x="3008924" y="4034535"/>
            <a:ext cx="329184" cy="32918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008924" y="4089399"/>
            <a:ext cx="329184" cy="237744"/>
          </a:xfrm>
          <a:prstGeom prst="rect">
            <a:avLst/>
          </a:prstGeom>
          <a:noFill/>
        </p:spPr>
        <p:txBody>
          <a:bodyPr wrap="square" lIns="0" rIns="0" tIns="0" bIns="0" anchor="t">
            <a:spAutoFit/>
          </a:bodyPr>
          <a:lstStyle/>
          <a:p>
            <a:pPr algn="ctr"/>
            <a:r>
              <a:rPr sz="1100" b="1" i="0">
                <a:solidFill>
                  <a:srgbClr val="FFFFFF"/>
                </a:solidFill>
                <a:latin typeface="Segoe UI Semibold"/>
              </a:rPr>
              <a:t>A</a:t>
            </a:r>
          </a:p>
        </p:txBody>
      </p:sp>
      <p:sp>
        <p:nvSpPr>
          <p:cNvPr id="32" name="TextBox 31"/>
          <p:cNvSpPr txBox="1"/>
          <p:nvPr/>
        </p:nvSpPr>
        <p:spPr>
          <a:xfrm>
            <a:off x="3392972" y="4089399"/>
            <a:ext cx="1308140" cy="256032"/>
          </a:xfrm>
          <a:prstGeom prst="rect">
            <a:avLst/>
          </a:prstGeom>
          <a:noFill/>
        </p:spPr>
        <p:txBody>
          <a:bodyPr wrap="square" lIns="0" rIns="0" tIns="0" bIns="0" anchor="t">
            <a:spAutoFit/>
          </a:bodyPr>
          <a:lstStyle/>
          <a:p>
            <a:r>
              <a:rPr sz="800" b="0" i="0">
                <a:solidFill>
                  <a:srgbClr val="7B8C9E"/>
                </a:solidFill>
                <a:latin typeface="Segoe UI"/>
              </a:rPr>
              <a:t>owner</a:t>
            </a:r>
          </a:p>
        </p:txBody>
      </p:sp>
      <p:sp>
        <p:nvSpPr>
          <p:cNvPr id="33" name="Rounded Rectangle 32"/>
          <p:cNvSpPr/>
          <p:nvPr/>
        </p:nvSpPr>
        <p:spPr>
          <a:xfrm>
            <a:off x="5103449" y="1876551"/>
            <a:ext cx="1984796" cy="26151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103449" y="1876551"/>
            <a:ext cx="198479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249753" y="2022855"/>
            <a:ext cx="914400" cy="237744"/>
          </a:xfrm>
          <a:prstGeom prst="rect">
            <a:avLst/>
          </a:prstGeom>
          <a:noFill/>
        </p:spPr>
        <p:txBody>
          <a:bodyPr wrap="square" lIns="0" rIns="0" tIns="0" bIns="0" anchor="t">
            <a:spAutoFit/>
          </a:bodyPr>
          <a:lstStyle/>
          <a:p>
            <a:r>
              <a:rPr sz="850" b="1" i="0">
                <a:solidFill>
                  <a:srgbClr val="7B8C9E"/>
                </a:solidFill>
                <a:latin typeface="Segoe UI Semibold"/>
              </a:rPr>
              <a:t>MONTH 3</a:t>
            </a:r>
          </a:p>
        </p:txBody>
      </p:sp>
      <p:sp>
        <p:nvSpPr>
          <p:cNvPr id="36" name="Rounded Rectangle 35"/>
          <p:cNvSpPr/>
          <p:nvPr/>
        </p:nvSpPr>
        <p:spPr>
          <a:xfrm>
            <a:off x="6375013" y="2022855"/>
            <a:ext cx="566928" cy="219456"/>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75013" y="2054860"/>
            <a:ext cx="566928" cy="173736"/>
          </a:xfrm>
          <a:prstGeom prst="rect">
            <a:avLst/>
          </a:prstGeom>
          <a:noFill/>
        </p:spPr>
        <p:txBody>
          <a:bodyPr wrap="square" lIns="0" rIns="0" tIns="0" bIns="0" anchor="ctr">
            <a:spAutoFit/>
          </a:bodyPr>
          <a:lstStyle/>
          <a:p>
            <a:pPr algn="ctr"/>
            <a:r>
              <a:rPr sz="700" b="1" i="0">
                <a:solidFill>
                  <a:srgbClr val="FFFFFF"/>
                </a:solidFill>
                <a:latin typeface="Segoe UI Semibold"/>
              </a:rPr>
              <a:t>NEXT</a:t>
            </a:r>
          </a:p>
        </p:txBody>
      </p:sp>
      <p:sp>
        <p:nvSpPr>
          <p:cNvPr id="38" name="TextBox 37"/>
          <p:cNvSpPr txBox="1"/>
          <p:nvPr/>
        </p:nvSpPr>
        <p:spPr>
          <a:xfrm>
            <a:off x="5249753" y="2333751"/>
            <a:ext cx="1692188" cy="292608"/>
          </a:xfrm>
          <a:prstGeom prst="rect">
            <a:avLst/>
          </a:prstGeom>
          <a:noFill/>
        </p:spPr>
        <p:txBody>
          <a:bodyPr wrap="square" lIns="0" rIns="0" tIns="0" bIns="0" anchor="t">
            <a:spAutoFit/>
          </a:bodyPr>
          <a:lstStyle/>
          <a:p>
            <a:r>
              <a:rPr sz="1250" b="1" i="0">
                <a:solidFill>
                  <a:srgbClr val="10273F"/>
                </a:solidFill>
                <a:latin typeface="Segoe UI Semibold"/>
              </a:rPr>
              <a:t>Scene Graph</a:t>
            </a:r>
          </a:p>
        </p:txBody>
      </p:sp>
      <p:sp>
        <p:nvSpPr>
          <p:cNvPr id="39" name="TextBox 38"/>
          <p:cNvSpPr txBox="1"/>
          <p:nvPr/>
        </p:nvSpPr>
        <p:spPr>
          <a:xfrm>
            <a:off x="5249753" y="2681223"/>
            <a:ext cx="1692188" cy="749808"/>
          </a:xfrm>
          <a:prstGeom prst="rect">
            <a:avLst/>
          </a:prstGeom>
          <a:noFill/>
        </p:spPr>
        <p:txBody>
          <a:bodyPr wrap="square" lIns="0" rIns="0" tIns="0" bIns="0" anchor="t">
            <a:spAutoFit/>
          </a:bodyPr>
          <a:lstStyle/>
          <a:p>
            <a:pPr>
              <a:lnSpc>
                <a:spcPct val="122000"/>
              </a:lnSpc>
            </a:pPr>
            <a:r>
              <a:rPr sz="850" b="0" i="0">
                <a:solidFill>
                  <a:srgbClr val="3C5066"/>
                </a:solidFill>
                <a:latin typeface="Consolas"/>
              </a:rPr>
              <a:t>nodes = students
edges = behaviours</a:t>
            </a:r>
          </a:p>
        </p:txBody>
      </p:sp>
      <p:sp>
        <p:nvSpPr>
          <p:cNvPr id="40" name="Rectangle 39"/>
          <p:cNvSpPr/>
          <p:nvPr/>
        </p:nvSpPr>
        <p:spPr>
          <a:xfrm>
            <a:off x="5249753" y="3522472"/>
            <a:ext cx="1692188"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249753" y="3632199"/>
            <a:ext cx="1692188" cy="365760"/>
          </a:xfrm>
          <a:prstGeom prst="rect">
            <a:avLst/>
          </a:prstGeom>
          <a:noFill/>
        </p:spPr>
        <p:txBody>
          <a:bodyPr wrap="square" lIns="0" rIns="0" tIns="0" bIns="0" anchor="t">
            <a:spAutoFit/>
          </a:bodyPr>
          <a:lstStyle/>
          <a:p>
            <a:pPr>
              <a:lnSpc>
                <a:spcPct val="114000"/>
              </a:lnSpc>
            </a:pPr>
            <a:r>
              <a:rPr sz="900" b="1" i="0">
                <a:solidFill>
                  <a:srgbClr val="085961"/>
                </a:solidFill>
                <a:latin typeface="Segoe UI"/>
              </a:rPr>
              <a:t>what relates to what</a:t>
            </a:r>
          </a:p>
        </p:txBody>
      </p:sp>
      <p:sp>
        <p:nvSpPr>
          <p:cNvPr id="42" name="Rounded Rectangle 41"/>
          <p:cNvSpPr/>
          <p:nvPr/>
        </p:nvSpPr>
        <p:spPr>
          <a:xfrm>
            <a:off x="5249753" y="4034535"/>
            <a:ext cx="329184" cy="32918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249753" y="4089399"/>
            <a:ext cx="329184" cy="237744"/>
          </a:xfrm>
          <a:prstGeom prst="rect">
            <a:avLst/>
          </a:prstGeom>
          <a:noFill/>
        </p:spPr>
        <p:txBody>
          <a:bodyPr wrap="square" lIns="0" rIns="0" tIns="0" bIns="0" anchor="t">
            <a:spAutoFit/>
          </a:bodyPr>
          <a:lstStyle/>
          <a:p>
            <a:pPr algn="ctr"/>
            <a:r>
              <a:rPr sz="1100" b="1" i="0">
                <a:solidFill>
                  <a:srgbClr val="FFFFFF"/>
                </a:solidFill>
                <a:latin typeface="Segoe UI Semibold"/>
              </a:rPr>
              <a:t>B</a:t>
            </a:r>
          </a:p>
        </p:txBody>
      </p:sp>
      <p:sp>
        <p:nvSpPr>
          <p:cNvPr id="44" name="TextBox 43"/>
          <p:cNvSpPr txBox="1"/>
          <p:nvPr/>
        </p:nvSpPr>
        <p:spPr>
          <a:xfrm>
            <a:off x="5633801" y="4089399"/>
            <a:ext cx="1308140" cy="256032"/>
          </a:xfrm>
          <a:prstGeom prst="rect">
            <a:avLst/>
          </a:prstGeom>
          <a:noFill/>
        </p:spPr>
        <p:txBody>
          <a:bodyPr wrap="square" lIns="0" rIns="0" tIns="0" bIns="0" anchor="t">
            <a:spAutoFit/>
          </a:bodyPr>
          <a:lstStyle/>
          <a:p>
            <a:r>
              <a:rPr sz="800" b="0" i="0">
                <a:solidFill>
                  <a:srgbClr val="7B8C9E"/>
                </a:solidFill>
                <a:latin typeface="Segoe UI"/>
              </a:rPr>
              <a:t>owner</a:t>
            </a:r>
          </a:p>
        </p:txBody>
      </p:sp>
      <p:sp>
        <p:nvSpPr>
          <p:cNvPr id="45" name="Rounded Rectangle 44"/>
          <p:cNvSpPr/>
          <p:nvPr/>
        </p:nvSpPr>
        <p:spPr>
          <a:xfrm>
            <a:off x="7344277" y="1876551"/>
            <a:ext cx="1984796" cy="26151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7344277" y="1876551"/>
            <a:ext cx="198479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490581" y="2022855"/>
            <a:ext cx="914400" cy="237744"/>
          </a:xfrm>
          <a:prstGeom prst="rect">
            <a:avLst/>
          </a:prstGeom>
          <a:noFill/>
        </p:spPr>
        <p:txBody>
          <a:bodyPr wrap="square" lIns="0" rIns="0" tIns="0" bIns="0" anchor="t">
            <a:spAutoFit/>
          </a:bodyPr>
          <a:lstStyle/>
          <a:p>
            <a:r>
              <a:rPr sz="850" b="1" i="0">
                <a:solidFill>
                  <a:srgbClr val="7B8C9E"/>
                </a:solidFill>
                <a:latin typeface="Segoe UI Semibold"/>
              </a:rPr>
              <a:t>MONTH 4</a:t>
            </a:r>
          </a:p>
        </p:txBody>
      </p:sp>
      <p:sp>
        <p:nvSpPr>
          <p:cNvPr id="48" name="Rounded Rectangle 47"/>
          <p:cNvSpPr/>
          <p:nvPr/>
        </p:nvSpPr>
        <p:spPr>
          <a:xfrm>
            <a:off x="8615842" y="2022855"/>
            <a:ext cx="566928" cy="219456"/>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15842" y="2054860"/>
            <a:ext cx="566928" cy="173736"/>
          </a:xfrm>
          <a:prstGeom prst="rect">
            <a:avLst/>
          </a:prstGeom>
          <a:noFill/>
        </p:spPr>
        <p:txBody>
          <a:bodyPr wrap="square" lIns="0" rIns="0" tIns="0" bIns="0" anchor="ctr">
            <a:spAutoFit/>
          </a:bodyPr>
          <a:lstStyle/>
          <a:p>
            <a:pPr algn="ctr"/>
            <a:r>
              <a:rPr sz="700" b="1" i="0">
                <a:solidFill>
                  <a:srgbClr val="FFFFFF"/>
                </a:solidFill>
                <a:latin typeface="Segoe UI Semibold"/>
              </a:rPr>
              <a:t>NEXT</a:t>
            </a:r>
          </a:p>
        </p:txBody>
      </p:sp>
      <p:sp>
        <p:nvSpPr>
          <p:cNvPr id="50" name="TextBox 49"/>
          <p:cNvSpPr txBox="1"/>
          <p:nvPr/>
        </p:nvSpPr>
        <p:spPr>
          <a:xfrm>
            <a:off x="7490581" y="2333751"/>
            <a:ext cx="1692188" cy="292608"/>
          </a:xfrm>
          <a:prstGeom prst="rect">
            <a:avLst/>
          </a:prstGeom>
          <a:noFill/>
        </p:spPr>
        <p:txBody>
          <a:bodyPr wrap="square" lIns="0" rIns="0" tIns="0" bIns="0" anchor="t">
            <a:spAutoFit/>
          </a:bodyPr>
          <a:lstStyle/>
          <a:p>
            <a:r>
              <a:rPr sz="1250" b="1" i="0">
                <a:solidFill>
                  <a:srgbClr val="10273F"/>
                </a:solidFill>
                <a:latin typeface="Segoe UI Semibold"/>
              </a:rPr>
              <a:t>Temporal</a:t>
            </a:r>
          </a:p>
        </p:txBody>
      </p:sp>
      <p:sp>
        <p:nvSpPr>
          <p:cNvPr id="51" name="TextBox 50"/>
          <p:cNvSpPr txBox="1"/>
          <p:nvPr/>
        </p:nvSpPr>
        <p:spPr>
          <a:xfrm>
            <a:off x="7490581" y="2681223"/>
            <a:ext cx="1692188" cy="749808"/>
          </a:xfrm>
          <a:prstGeom prst="rect">
            <a:avLst/>
          </a:prstGeom>
          <a:noFill/>
        </p:spPr>
        <p:txBody>
          <a:bodyPr wrap="square" lIns="0" rIns="0" tIns="0" bIns="0" anchor="t">
            <a:spAutoFit/>
          </a:bodyPr>
          <a:lstStyle/>
          <a:p>
            <a:pPr>
              <a:lnSpc>
                <a:spcPct val="122000"/>
              </a:lnSpc>
            </a:pPr>
            <a:r>
              <a:rPr sz="850" b="0" i="0">
                <a:solidFill>
                  <a:srgbClr val="3C5066"/>
                </a:solidFill>
                <a:latin typeface="Consolas"/>
              </a:rPr>
              <a:t>STTran-style decoder
over the graph</a:t>
            </a:r>
          </a:p>
        </p:txBody>
      </p:sp>
      <p:sp>
        <p:nvSpPr>
          <p:cNvPr id="52" name="Rectangle 51"/>
          <p:cNvSpPr/>
          <p:nvPr/>
        </p:nvSpPr>
        <p:spPr>
          <a:xfrm>
            <a:off x="7490581" y="3522472"/>
            <a:ext cx="1692188"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490581" y="3632199"/>
            <a:ext cx="1692188" cy="365760"/>
          </a:xfrm>
          <a:prstGeom prst="rect">
            <a:avLst/>
          </a:prstGeom>
          <a:noFill/>
        </p:spPr>
        <p:txBody>
          <a:bodyPr wrap="square" lIns="0" rIns="0" tIns="0" bIns="0" anchor="t">
            <a:spAutoFit/>
          </a:bodyPr>
          <a:lstStyle/>
          <a:p>
            <a:pPr>
              <a:lnSpc>
                <a:spcPct val="114000"/>
              </a:lnSpc>
            </a:pPr>
            <a:r>
              <a:rPr sz="900" b="1" i="0">
                <a:solidFill>
                  <a:srgbClr val="085961"/>
                </a:solidFill>
                <a:latin typeface="Segoe UI"/>
              </a:rPr>
              <a:t>how it evolves</a:t>
            </a:r>
          </a:p>
        </p:txBody>
      </p:sp>
      <p:sp>
        <p:nvSpPr>
          <p:cNvPr id="54" name="Rounded Rectangle 53"/>
          <p:cNvSpPr/>
          <p:nvPr/>
        </p:nvSpPr>
        <p:spPr>
          <a:xfrm>
            <a:off x="7490581" y="4034535"/>
            <a:ext cx="329184" cy="32918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490581" y="4089399"/>
            <a:ext cx="329184" cy="237744"/>
          </a:xfrm>
          <a:prstGeom prst="rect">
            <a:avLst/>
          </a:prstGeom>
          <a:noFill/>
        </p:spPr>
        <p:txBody>
          <a:bodyPr wrap="square" lIns="0" rIns="0" tIns="0" bIns="0" anchor="t">
            <a:spAutoFit/>
          </a:bodyPr>
          <a:lstStyle/>
          <a:p>
            <a:pPr algn="ctr"/>
            <a:r>
              <a:rPr sz="1100" b="1" i="0">
                <a:solidFill>
                  <a:srgbClr val="FFFFFF"/>
                </a:solidFill>
                <a:latin typeface="Segoe UI Semibold"/>
              </a:rPr>
              <a:t>B</a:t>
            </a:r>
          </a:p>
        </p:txBody>
      </p:sp>
      <p:sp>
        <p:nvSpPr>
          <p:cNvPr id="56" name="TextBox 55"/>
          <p:cNvSpPr txBox="1"/>
          <p:nvPr/>
        </p:nvSpPr>
        <p:spPr>
          <a:xfrm>
            <a:off x="7874629" y="4089399"/>
            <a:ext cx="1308140" cy="256032"/>
          </a:xfrm>
          <a:prstGeom prst="rect">
            <a:avLst/>
          </a:prstGeom>
          <a:noFill/>
        </p:spPr>
        <p:txBody>
          <a:bodyPr wrap="square" lIns="0" rIns="0" tIns="0" bIns="0" anchor="t">
            <a:spAutoFit/>
          </a:bodyPr>
          <a:lstStyle/>
          <a:p>
            <a:r>
              <a:rPr sz="800" b="0" i="0">
                <a:solidFill>
                  <a:srgbClr val="7B8C9E"/>
                </a:solidFill>
                <a:latin typeface="Segoe UI"/>
              </a:rPr>
              <a:t>owner</a:t>
            </a:r>
          </a:p>
        </p:txBody>
      </p:sp>
      <p:sp>
        <p:nvSpPr>
          <p:cNvPr id="57" name="Rounded Rectangle 56"/>
          <p:cNvSpPr/>
          <p:nvPr/>
        </p:nvSpPr>
        <p:spPr>
          <a:xfrm>
            <a:off x="9585106" y="1876551"/>
            <a:ext cx="1984796" cy="26151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9585106" y="1876551"/>
            <a:ext cx="198479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731410" y="2022855"/>
            <a:ext cx="914400" cy="237744"/>
          </a:xfrm>
          <a:prstGeom prst="rect">
            <a:avLst/>
          </a:prstGeom>
          <a:noFill/>
        </p:spPr>
        <p:txBody>
          <a:bodyPr wrap="square" lIns="0" rIns="0" tIns="0" bIns="0" anchor="t">
            <a:spAutoFit/>
          </a:bodyPr>
          <a:lstStyle/>
          <a:p>
            <a:r>
              <a:rPr sz="850" b="1" i="0">
                <a:solidFill>
                  <a:srgbClr val="7B8C9E"/>
                </a:solidFill>
                <a:latin typeface="Segoe UI Semibold"/>
              </a:rPr>
              <a:t>MONTH 5</a:t>
            </a:r>
          </a:p>
        </p:txBody>
      </p:sp>
      <p:sp>
        <p:nvSpPr>
          <p:cNvPr id="60" name="Rounded Rectangle 59"/>
          <p:cNvSpPr/>
          <p:nvPr/>
        </p:nvSpPr>
        <p:spPr>
          <a:xfrm>
            <a:off x="10856671" y="2022855"/>
            <a:ext cx="566928" cy="219456"/>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10856671" y="2054860"/>
            <a:ext cx="566928" cy="173736"/>
          </a:xfrm>
          <a:prstGeom prst="rect">
            <a:avLst/>
          </a:prstGeom>
          <a:noFill/>
        </p:spPr>
        <p:txBody>
          <a:bodyPr wrap="square" lIns="0" rIns="0" tIns="0" bIns="0" anchor="ctr">
            <a:spAutoFit/>
          </a:bodyPr>
          <a:lstStyle/>
          <a:p>
            <a:pPr algn="ctr"/>
            <a:r>
              <a:rPr sz="700" b="1" i="0">
                <a:solidFill>
                  <a:srgbClr val="FFFFFF"/>
                </a:solidFill>
                <a:latin typeface="Segoe UI Semibold"/>
              </a:rPr>
              <a:t>NEXT</a:t>
            </a:r>
          </a:p>
        </p:txBody>
      </p:sp>
      <p:sp>
        <p:nvSpPr>
          <p:cNvPr id="62" name="TextBox 61"/>
          <p:cNvSpPr txBox="1"/>
          <p:nvPr/>
        </p:nvSpPr>
        <p:spPr>
          <a:xfrm>
            <a:off x="9731410" y="2333751"/>
            <a:ext cx="1692188" cy="292608"/>
          </a:xfrm>
          <a:prstGeom prst="rect">
            <a:avLst/>
          </a:prstGeom>
          <a:noFill/>
        </p:spPr>
        <p:txBody>
          <a:bodyPr wrap="square" lIns="0" rIns="0" tIns="0" bIns="0" anchor="t">
            <a:spAutoFit/>
          </a:bodyPr>
          <a:lstStyle/>
          <a:p>
            <a:r>
              <a:rPr sz="1250" b="1" i="0">
                <a:solidFill>
                  <a:srgbClr val="10273F"/>
                </a:solidFill>
                <a:latin typeface="Segoe UI Semibold"/>
              </a:rPr>
              <a:t>Group Activity</a:t>
            </a:r>
          </a:p>
        </p:txBody>
      </p:sp>
      <p:sp>
        <p:nvSpPr>
          <p:cNvPr id="63" name="TextBox 62"/>
          <p:cNvSpPr txBox="1"/>
          <p:nvPr/>
        </p:nvSpPr>
        <p:spPr>
          <a:xfrm>
            <a:off x="9731410" y="2681223"/>
            <a:ext cx="1692188" cy="749808"/>
          </a:xfrm>
          <a:prstGeom prst="rect">
            <a:avLst/>
          </a:prstGeom>
          <a:noFill/>
        </p:spPr>
        <p:txBody>
          <a:bodyPr wrap="square" lIns="0" rIns="0" tIns="0" bIns="0" anchor="t">
            <a:spAutoFit/>
          </a:bodyPr>
          <a:lstStyle/>
          <a:p>
            <a:pPr>
              <a:lnSpc>
                <a:spcPct val="122000"/>
              </a:lnSpc>
            </a:pPr>
            <a:r>
              <a:rPr sz="850" b="0" i="0">
                <a:solidFill>
                  <a:srgbClr val="3C5066"/>
                </a:solidFill>
                <a:latin typeface="Consolas"/>
              </a:rPr>
              <a:t>ARG-style graph
readout + dashboard</a:t>
            </a:r>
          </a:p>
        </p:txBody>
      </p:sp>
      <p:sp>
        <p:nvSpPr>
          <p:cNvPr id="64" name="Rectangle 63"/>
          <p:cNvSpPr/>
          <p:nvPr/>
        </p:nvSpPr>
        <p:spPr>
          <a:xfrm>
            <a:off x="9731410" y="3522472"/>
            <a:ext cx="1692188"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731410" y="3632199"/>
            <a:ext cx="1692188" cy="365760"/>
          </a:xfrm>
          <a:prstGeom prst="rect">
            <a:avLst/>
          </a:prstGeom>
          <a:noFill/>
        </p:spPr>
        <p:txBody>
          <a:bodyPr wrap="square" lIns="0" rIns="0" tIns="0" bIns="0" anchor="t">
            <a:spAutoFit/>
          </a:bodyPr>
          <a:lstStyle/>
          <a:p>
            <a:pPr>
              <a:lnSpc>
                <a:spcPct val="114000"/>
              </a:lnSpc>
            </a:pPr>
            <a:r>
              <a:rPr sz="900" b="1" i="0">
                <a:solidFill>
                  <a:srgbClr val="085961"/>
                </a:solidFill>
                <a:latin typeface="Segoe UI"/>
              </a:rPr>
              <a:t>the class as a whole</a:t>
            </a:r>
          </a:p>
        </p:txBody>
      </p:sp>
      <p:sp>
        <p:nvSpPr>
          <p:cNvPr id="66" name="Rounded Rectangle 65"/>
          <p:cNvSpPr/>
          <p:nvPr/>
        </p:nvSpPr>
        <p:spPr>
          <a:xfrm>
            <a:off x="9731410" y="4034535"/>
            <a:ext cx="329184" cy="32918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731410" y="4089399"/>
            <a:ext cx="329184" cy="237744"/>
          </a:xfrm>
          <a:prstGeom prst="rect">
            <a:avLst/>
          </a:prstGeom>
          <a:noFill/>
        </p:spPr>
        <p:txBody>
          <a:bodyPr wrap="square" lIns="0" rIns="0" tIns="0" bIns="0" anchor="t">
            <a:spAutoFit/>
          </a:bodyPr>
          <a:lstStyle/>
          <a:p>
            <a:pPr algn="ctr"/>
            <a:r>
              <a:rPr sz="1100" b="1" i="0">
                <a:solidFill>
                  <a:srgbClr val="FFFFFF"/>
                </a:solidFill>
                <a:latin typeface="Segoe UI Semibold"/>
              </a:rPr>
              <a:t>C</a:t>
            </a:r>
          </a:p>
        </p:txBody>
      </p:sp>
      <p:sp>
        <p:nvSpPr>
          <p:cNvPr id="68" name="TextBox 67"/>
          <p:cNvSpPr txBox="1"/>
          <p:nvPr/>
        </p:nvSpPr>
        <p:spPr>
          <a:xfrm>
            <a:off x="10115458" y="4089399"/>
            <a:ext cx="1308140" cy="256032"/>
          </a:xfrm>
          <a:prstGeom prst="rect">
            <a:avLst/>
          </a:prstGeom>
          <a:noFill/>
        </p:spPr>
        <p:txBody>
          <a:bodyPr wrap="square" lIns="0" rIns="0" tIns="0" bIns="0" anchor="t">
            <a:spAutoFit/>
          </a:bodyPr>
          <a:lstStyle/>
          <a:p>
            <a:r>
              <a:rPr sz="800" b="0" i="0">
                <a:solidFill>
                  <a:srgbClr val="7B8C9E"/>
                </a:solidFill>
                <a:latin typeface="Segoe UI"/>
              </a:rPr>
              <a:t>owner</a:t>
            </a:r>
          </a:p>
        </p:txBody>
      </p:sp>
      <p:sp>
        <p:nvSpPr>
          <p:cNvPr id="69" name="Rounded Rectangle 68"/>
          <p:cNvSpPr/>
          <p:nvPr/>
        </p:nvSpPr>
        <p:spPr>
          <a:xfrm>
            <a:off x="621792" y="4711192"/>
            <a:ext cx="5355183" cy="100584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621792" y="4802631"/>
            <a:ext cx="50292" cy="8229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859536" y="4857496"/>
            <a:ext cx="4934559" cy="731520"/>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The frozen contract + privacy by design</a:t>
            </a:r>
          </a:p>
          <a:p>
            <a:pPr>
              <a:lnSpc>
                <a:spcPct val="118000"/>
              </a:lnSpc>
              <a:spcAft>
                <a:spcPts val="300"/>
              </a:spcAft>
            </a:pPr>
            <a:r>
              <a:rPr sz="950" b="0" i="0">
                <a:solidFill>
                  <a:srgbClr val="3C5066"/>
                </a:solidFill>
                <a:latin typeface="Segoe UI"/>
              </a:rPr>
              <a:t>One JSON object per frame, validated against a fixed schema on every run. Identity is computed from motion/geometry only, scoped to one session — no face-recognition database — and two tests enforce it cannot leak between sessions.</a:t>
            </a:r>
          </a:p>
        </p:txBody>
      </p:sp>
      <p:sp>
        <p:nvSpPr>
          <p:cNvPr id="72" name="Rounded Rectangle 71"/>
          <p:cNvSpPr/>
          <p:nvPr/>
        </p:nvSpPr>
        <p:spPr>
          <a:xfrm>
            <a:off x="6214719" y="4711192"/>
            <a:ext cx="5355183" cy="100584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6214719" y="4802631"/>
            <a:ext cx="50292" cy="82296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452463" y="4857496"/>
            <a:ext cx="4934559" cy="731520"/>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The risk that is already retired</a:t>
            </a:r>
          </a:p>
          <a:p>
            <a:pPr>
              <a:lnSpc>
                <a:spcPct val="118000"/>
              </a:lnSpc>
              <a:spcAft>
                <a:spcPts val="300"/>
              </a:spcAft>
            </a:pPr>
            <a:r>
              <a:rPr sz="950" b="0" i="0">
                <a:solidFill>
                  <a:srgbClr val="3C5066"/>
                </a:solidFill>
                <a:latin typeface="Segoe UI"/>
              </a:rPr>
              <a:t>The biggest open question — “can this actually work on real classroom footage from a bad camera angle?” — has been answered empirically, with seven real failure modes found and fixed (next two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RESULTS</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Measured improvements, before and after</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Every figure below is from a real run on real classroom images in this repository — not an estimate.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12</a:t>
            </a:r>
          </a:p>
        </p:txBody>
      </p:sp>
      <p:graphicFrame>
        <p:nvGraphicFramePr>
          <p:cNvPr id="9" name="Table 8"/>
          <p:cNvGraphicFramePr>
            <a:graphicFrameLocks noGrp="1"/>
          </p:cNvGraphicFramePr>
          <p:nvPr/>
        </p:nvGraphicFramePr>
        <p:xfrm>
          <a:off x="621792" y="1689227"/>
          <a:ext cx="7498080" cy="2651760"/>
        </p:xfrm>
        <a:graphic>
          <a:graphicData uri="http://schemas.openxmlformats.org/drawingml/2006/table">
            <a:tbl>
              <a:tblPr>
                <a:tableStyleId>{5C22544A-7EE6-4342-B048-85BDC9FD1C3A}</a:tableStyleId>
              </a:tblPr>
              <a:tblGrid>
                <a:gridCol w="4023360"/>
                <a:gridCol w="1143000"/>
                <a:gridCol w="1143000"/>
                <a:gridCol w="1188720"/>
              </a:tblGrid>
              <a:tr h="347472">
                <a:tc>
                  <a:txBody>
                    <a:bodyPr wrap="square"/>
                    <a:lstStyle/>
                    <a:p>
                      <a:r>
                        <a:rPr sz="950" b="1">
                          <a:solidFill>
                            <a:srgbClr val="FFFFFF"/>
                          </a:solidFill>
                          <a:latin typeface="Segoe UI Semibold"/>
                        </a:rPr>
                        <a:t>Metric</a:t>
                      </a:r>
                    </a:p>
                  </a:txBody>
                  <a:tcPr marL="91440" marR="73152" marT="36576" marB="36576" anchor="ctr">
                    <a:solidFill>
                      <a:srgbClr val="10273F"/>
                    </a:solidFill>
                  </a:tcPr>
                </a:tc>
                <a:tc>
                  <a:txBody>
                    <a:bodyPr wrap="square"/>
                    <a:lstStyle/>
                    <a:p>
                      <a:r>
                        <a:rPr sz="950" b="1">
                          <a:solidFill>
                            <a:srgbClr val="FFFFFF"/>
                          </a:solidFill>
                          <a:latin typeface="Segoe UI Semibold"/>
                        </a:rPr>
                        <a:t>Before</a:t>
                      </a:r>
                    </a:p>
                  </a:txBody>
                  <a:tcPr marL="91440" marR="73152" marT="36576" marB="36576" anchor="ctr">
                    <a:solidFill>
                      <a:srgbClr val="10273F"/>
                    </a:solidFill>
                  </a:tcPr>
                </a:tc>
                <a:tc>
                  <a:txBody>
                    <a:bodyPr wrap="square"/>
                    <a:lstStyle/>
                    <a:p>
                      <a:r>
                        <a:rPr sz="950" b="1">
                          <a:solidFill>
                            <a:srgbClr val="FFFFFF"/>
                          </a:solidFill>
                          <a:latin typeface="Segoe UI Semibold"/>
                        </a:rPr>
                        <a:t>After</a:t>
                      </a:r>
                    </a:p>
                  </a:txBody>
                  <a:tcPr marL="91440" marR="73152" marT="36576" marB="36576" anchor="ctr">
                    <a:solidFill>
                      <a:srgbClr val="10273F"/>
                    </a:solidFill>
                  </a:tcPr>
                </a:tc>
                <a:tc>
                  <a:txBody>
                    <a:bodyPr wrap="square"/>
                    <a:lstStyle/>
                    <a:p>
                      <a:r>
                        <a:rPr sz="950" b="1">
                          <a:solidFill>
                            <a:srgbClr val="FFFFFF"/>
                          </a:solidFill>
                          <a:latin typeface="Segoe UI Semibold"/>
                        </a:rPr>
                        <a:t>Change</a:t>
                      </a:r>
                    </a:p>
                  </a:txBody>
                  <a:tcPr marL="91440" marR="73152" marT="36576" marB="36576" anchor="ctr">
                    <a:solidFill>
                      <a:srgbClr val="10273F"/>
                    </a:solidFill>
                  </a:tcPr>
                </a:tc>
              </a:tr>
              <a:tr h="384048">
                <a:tc>
                  <a:txBody>
                    <a:bodyPr wrap="square"/>
                    <a:lstStyle/>
                    <a:p>
                      <a:r>
                        <a:rPr sz="950" b="1">
                          <a:solidFill>
                            <a:srgbClr val="3C5066"/>
                          </a:solidFill>
                          <a:latin typeface="Segoe UI"/>
                        </a:rPr>
                        <a:t>Persons detected — 12-image classroom set</a:t>
                      </a:r>
                    </a:p>
                  </a:txBody>
                  <a:tcPr marL="91440" marR="73152" marT="36576" marB="36576" anchor="ctr">
                    <a:solidFill>
                      <a:srgbClr val="FFFFFF"/>
                    </a:solidFill>
                  </a:tcPr>
                </a:tc>
                <a:tc>
                  <a:txBody>
                    <a:bodyPr wrap="square"/>
                    <a:lstStyle/>
                    <a:p>
                      <a:r>
                        <a:rPr sz="900" b="0">
                          <a:solidFill>
                            <a:srgbClr val="7B8C9E"/>
                          </a:solidFill>
                          <a:latin typeface="Consolas"/>
                        </a:rPr>
                        <a:t>139</a:t>
                      </a:r>
                    </a:p>
                  </a:txBody>
                  <a:tcPr marL="91440" marR="73152" marT="36576" marB="36576" anchor="ctr">
                    <a:solidFill>
                      <a:srgbClr val="FFFFFF"/>
                    </a:solidFill>
                  </a:tcPr>
                </a:tc>
                <a:tc>
                  <a:txBody>
                    <a:bodyPr wrap="square"/>
                    <a:lstStyle/>
                    <a:p>
                      <a:r>
                        <a:rPr sz="900" b="0">
                          <a:solidFill>
                            <a:srgbClr val="3C5066"/>
                          </a:solidFill>
                          <a:latin typeface="Consolas"/>
                        </a:rPr>
                        <a:t>236</a:t>
                      </a:r>
                    </a:p>
                  </a:txBody>
                  <a:tcPr marL="91440" marR="73152" marT="36576" marB="36576" anchor="ctr">
                    <a:solidFill>
                      <a:srgbClr val="FFFFFF"/>
                    </a:solidFill>
                  </a:tcPr>
                </a:tc>
                <a:tc>
                  <a:txBody>
                    <a:bodyPr wrap="square"/>
                    <a:lstStyle/>
                    <a:p>
                      <a:r>
                        <a:rPr sz="900" b="1">
                          <a:solidFill>
                            <a:srgbClr val="1F6F50"/>
                          </a:solidFill>
                          <a:latin typeface="Consolas"/>
                        </a:rPr>
                        <a:t>+70%</a:t>
                      </a:r>
                    </a:p>
                  </a:txBody>
                  <a:tcPr marL="91440" marR="73152" marT="36576" marB="36576" anchor="ctr">
                    <a:solidFill>
                      <a:srgbClr val="FFFFFF"/>
                    </a:solidFill>
                  </a:tcPr>
                </a:tc>
              </a:tr>
              <a:tr h="384048">
                <a:tc>
                  <a:txBody>
                    <a:bodyPr wrap="square"/>
                    <a:lstStyle/>
                    <a:p>
                      <a:r>
                        <a:rPr sz="950" b="1">
                          <a:solidFill>
                            <a:srgbClr val="3C5066"/>
                          </a:solidFill>
                          <a:latin typeface="Segoe UI"/>
                        </a:rPr>
                        <a:t>Persons detected — img01.jpg (~42 visible, counted by eye)</a:t>
                      </a:r>
                    </a:p>
                  </a:txBody>
                  <a:tcPr marL="91440" marR="73152" marT="36576" marB="36576" anchor="ctr">
                    <a:solidFill>
                      <a:srgbClr val="F3F7FA"/>
                    </a:solidFill>
                  </a:tcPr>
                </a:tc>
                <a:tc>
                  <a:txBody>
                    <a:bodyPr wrap="square"/>
                    <a:lstStyle/>
                    <a:p>
                      <a:r>
                        <a:rPr sz="900" b="0">
                          <a:solidFill>
                            <a:srgbClr val="7B8C9E"/>
                          </a:solidFill>
                          <a:latin typeface="Consolas"/>
                        </a:rPr>
                        <a:t>20 (48%)</a:t>
                      </a:r>
                    </a:p>
                  </a:txBody>
                  <a:tcPr marL="91440" marR="73152" marT="36576" marB="36576" anchor="ctr">
                    <a:solidFill>
                      <a:srgbClr val="F3F7FA"/>
                    </a:solidFill>
                  </a:tcPr>
                </a:tc>
                <a:tc>
                  <a:txBody>
                    <a:bodyPr wrap="square"/>
                    <a:lstStyle/>
                    <a:p>
                      <a:r>
                        <a:rPr sz="900" b="0">
                          <a:solidFill>
                            <a:srgbClr val="3C5066"/>
                          </a:solidFill>
                          <a:latin typeface="Consolas"/>
                        </a:rPr>
                        <a:t>30 (71%)</a:t>
                      </a:r>
                    </a:p>
                  </a:txBody>
                  <a:tcPr marL="91440" marR="73152" marT="36576" marB="36576" anchor="ctr">
                    <a:solidFill>
                      <a:srgbClr val="F3F7FA"/>
                    </a:solidFill>
                  </a:tcPr>
                </a:tc>
                <a:tc>
                  <a:txBody>
                    <a:bodyPr wrap="square"/>
                    <a:lstStyle/>
                    <a:p>
                      <a:r>
                        <a:rPr sz="900" b="1">
                          <a:solidFill>
                            <a:srgbClr val="1F6F50"/>
                          </a:solidFill>
                          <a:latin typeface="Consolas"/>
                        </a:rPr>
                        <a:t>recall +23 pts</a:t>
                      </a:r>
                    </a:p>
                  </a:txBody>
                  <a:tcPr marL="91440" marR="73152" marT="36576" marB="36576" anchor="ctr">
                    <a:solidFill>
                      <a:srgbClr val="F3F7FA"/>
                    </a:solidFill>
                  </a:tcPr>
                </a:tc>
              </a:tr>
              <a:tr h="384048">
                <a:tc>
                  <a:txBody>
                    <a:bodyPr wrap="square"/>
                    <a:lstStyle/>
                    <a:p>
                      <a:r>
                        <a:rPr sz="950" b="1">
                          <a:solidFill>
                            <a:srgbClr val="3C5066"/>
                          </a:solidFill>
                          <a:latin typeface="Segoe UI"/>
                        </a:rPr>
                        <a:t>Faces detected on real footage — same 12 images</a:t>
                      </a:r>
                    </a:p>
                  </a:txBody>
                  <a:tcPr marL="91440" marR="73152" marT="36576" marB="36576" anchor="ctr">
                    <a:solidFill>
                      <a:srgbClr val="FFFFFF"/>
                    </a:solidFill>
                  </a:tcPr>
                </a:tc>
                <a:tc>
                  <a:txBody>
                    <a:bodyPr wrap="square"/>
                    <a:lstStyle/>
                    <a:p>
                      <a:r>
                        <a:rPr sz="900" b="0">
                          <a:solidFill>
                            <a:srgbClr val="7B8C9E"/>
                          </a:solidFill>
                          <a:latin typeface="Consolas"/>
                        </a:rPr>
                        <a:t>0</a:t>
                      </a:r>
                    </a:p>
                  </a:txBody>
                  <a:tcPr marL="91440" marR="73152" marT="36576" marB="36576" anchor="ctr">
                    <a:solidFill>
                      <a:srgbClr val="FFFFFF"/>
                    </a:solidFill>
                  </a:tcPr>
                </a:tc>
                <a:tc>
                  <a:txBody>
                    <a:bodyPr wrap="square"/>
                    <a:lstStyle/>
                    <a:p>
                      <a:r>
                        <a:rPr sz="900" b="0">
                          <a:solidFill>
                            <a:srgbClr val="3C5066"/>
                          </a:solidFill>
                          <a:latin typeface="Consolas"/>
                        </a:rPr>
                        <a:t>95</a:t>
                      </a:r>
                    </a:p>
                  </a:txBody>
                  <a:tcPr marL="91440" marR="73152" marT="36576" marB="36576" anchor="ctr">
                    <a:solidFill>
                      <a:srgbClr val="FFFFFF"/>
                    </a:solidFill>
                  </a:tcPr>
                </a:tc>
                <a:tc>
                  <a:txBody>
                    <a:bodyPr wrap="square"/>
                    <a:lstStyle/>
                    <a:p>
                      <a:r>
                        <a:rPr sz="900" b="1">
                          <a:solidFill>
                            <a:srgbClr val="1F6F50"/>
                          </a:solidFill>
                          <a:latin typeface="Consolas"/>
                        </a:rPr>
                        <a:t>0 → usable</a:t>
                      </a:r>
                    </a:p>
                  </a:txBody>
                  <a:tcPr marL="91440" marR="73152" marT="36576" marB="36576" anchor="ctr">
                    <a:solidFill>
                      <a:srgbClr val="FFFFFF"/>
                    </a:solidFill>
                  </a:tcPr>
                </a:tc>
              </a:tr>
              <a:tr h="384048">
                <a:tc>
                  <a:txBody>
                    <a:bodyPr wrap="square"/>
                    <a:lstStyle/>
                    <a:p>
                      <a:r>
                        <a:rPr sz="950" b="1">
                          <a:solidFill>
                            <a:srgbClr val="3C5066"/>
                          </a:solidFill>
                          <a:latin typeface="Segoe UI"/>
                        </a:rPr>
                        <a:t>Gaze label “down” reachable at all</a:t>
                      </a:r>
                    </a:p>
                  </a:txBody>
                  <a:tcPr marL="91440" marR="73152" marT="36576" marB="36576" anchor="ctr">
                    <a:solidFill>
                      <a:srgbClr val="F3F7FA"/>
                    </a:solidFill>
                  </a:tcPr>
                </a:tc>
                <a:tc>
                  <a:txBody>
                    <a:bodyPr wrap="square"/>
                    <a:lstStyle/>
                    <a:p>
                      <a:r>
                        <a:rPr sz="900" b="0">
                          <a:solidFill>
                            <a:srgbClr val="7B8C9E"/>
                          </a:solidFill>
                          <a:latin typeface="Consolas"/>
                        </a:rPr>
                        <a:t>No (bug)</a:t>
                      </a:r>
                    </a:p>
                  </a:txBody>
                  <a:tcPr marL="91440" marR="73152" marT="36576" marB="36576" anchor="ctr">
                    <a:solidFill>
                      <a:srgbClr val="F3F7FA"/>
                    </a:solidFill>
                  </a:tcPr>
                </a:tc>
                <a:tc>
                  <a:txBody>
                    <a:bodyPr wrap="square"/>
                    <a:lstStyle/>
                    <a:p>
                      <a:r>
                        <a:rPr sz="900" b="0">
                          <a:solidFill>
                            <a:srgbClr val="3C5066"/>
                          </a:solidFill>
                          <a:latin typeface="Consolas"/>
                        </a:rPr>
                        <a:t>Yes</a:t>
                      </a:r>
                    </a:p>
                  </a:txBody>
                  <a:tcPr marL="91440" marR="73152" marT="36576" marB="36576" anchor="ctr">
                    <a:solidFill>
                      <a:srgbClr val="F3F7FA"/>
                    </a:solidFill>
                  </a:tcPr>
                </a:tc>
                <a:tc>
                  <a:txBody>
                    <a:bodyPr wrap="square"/>
                    <a:lstStyle/>
                    <a:p>
                      <a:r>
                        <a:rPr sz="900" b="1">
                          <a:solidFill>
                            <a:srgbClr val="1F6F50"/>
                          </a:solidFill>
                          <a:latin typeface="Consolas"/>
                        </a:rPr>
                        <a:t>fixed</a:t>
                      </a:r>
                    </a:p>
                  </a:txBody>
                  <a:tcPr marL="91440" marR="73152" marT="36576" marB="36576" anchor="ctr">
                    <a:solidFill>
                      <a:srgbClr val="F3F7FA"/>
                    </a:solidFill>
                  </a:tcPr>
                </a:tc>
              </a:tr>
              <a:tr h="384048">
                <a:tc>
                  <a:txBody>
                    <a:bodyPr wrap="square"/>
                    <a:lstStyle/>
                    <a:p>
                      <a:r>
                        <a:rPr sz="950" b="1">
                          <a:solidFill>
                            <a:srgbClr val="3C5066"/>
                          </a:solidFill>
                          <a:latin typeface="Segoe UI"/>
                        </a:rPr>
                        <a:t>Automated tests passing</a:t>
                      </a:r>
                    </a:p>
                  </a:txBody>
                  <a:tcPr marL="91440" marR="73152" marT="36576" marB="36576" anchor="ctr">
                    <a:solidFill>
                      <a:srgbClr val="FFFFFF"/>
                    </a:solidFill>
                  </a:tcPr>
                </a:tc>
                <a:tc>
                  <a:txBody>
                    <a:bodyPr wrap="square"/>
                    <a:lstStyle/>
                    <a:p>
                      <a:r>
                        <a:rPr sz="900" b="0">
                          <a:solidFill>
                            <a:srgbClr val="7B8C9E"/>
                          </a:solidFill>
                          <a:latin typeface="Consolas"/>
                        </a:rPr>
                        <a:t>10 (9 skipped)</a:t>
                      </a:r>
                    </a:p>
                  </a:txBody>
                  <a:tcPr marL="91440" marR="73152" marT="36576" marB="36576" anchor="ctr">
                    <a:solidFill>
                      <a:srgbClr val="FFFFFF"/>
                    </a:solidFill>
                  </a:tcPr>
                </a:tc>
                <a:tc>
                  <a:txBody>
                    <a:bodyPr wrap="square"/>
                    <a:lstStyle/>
                    <a:p>
                      <a:r>
                        <a:rPr sz="900" b="0">
                          <a:solidFill>
                            <a:srgbClr val="3C5066"/>
                          </a:solidFill>
                          <a:latin typeface="Consolas"/>
                        </a:rPr>
                        <a:t>109 (0 skipped)</a:t>
                      </a:r>
                    </a:p>
                  </a:txBody>
                  <a:tcPr marL="91440" marR="73152" marT="36576" marB="36576" anchor="ctr">
                    <a:solidFill>
                      <a:srgbClr val="FFFFFF"/>
                    </a:solidFill>
                  </a:tcPr>
                </a:tc>
                <a:tc>
                  <a:txBody>
                    <a:bodyPr wrap="square"/>
                    <a:lstStyle/>
                    <a:p>
                      <a:r>
                        <a:rPr sz="900" b="1">
                          <a:solidFill>
                            <a:srgbClr val="1F6F50"/>
                          </a:solidFill>
                          <a:latin typeface="Consolas"/>
                        </a:rPr>
                        <a:t>+99</a:t>
                      </a:r>
                    </a:p>
                  </a:txBody>
                  <a:tcPr marL="91440" marR="73152" marT="36576" marB="36576" anchor="ctr">
                    <a:solidFill>
                      <a:srgbClr val="FFFFFF"/>
                    </a:solidFill>
                  </a:tcPr>
                </a:tc>
              </a:tr>
              <a:tr h="384048">
                <a:tc>
                  <a:txBody>
                    <a:bodyPr wrap="square"/>
                    <a:lstStyle/>
                    <a:p>
                      <a:r>
                        <a:rPr sz="950" b="1">
                          <a:solidFill>
                            <a:srgbClr val="3C5066"/>
                          </a:solidFill>
                          <a:latin typeface="Segoe UI"/>
                        </a:rPr>
                        <a:t>Throughput, 4K video on RTX 4050</a:t>
                      </a:r>
                    </a:p>
                  </a:txBody>
                  <a:tcPr marL="91440" marR="73152" marT="36576" marB="36576" anchor="ctr">
                    <a:solidFill>
                      <a:srgbClr val="F3F7FA"/>
                    </a:solidFill>
                  </a:tcPr>
                </a:tc>
                <a:tc>
                  <a:txBody>
                    <a:bodyPr wrap="square"/>
                    <a:lstStyle/>
                    <a:p>
                      <a:r>
                        <a:rPr sz="900" b="0">
                          <a:solidFill>
                            <a:srgbClr val="7B8C9E"/>
                          </a:solidFill>
                          <a:latin typeface="Consolas"/>
                        </a:rPr>
                        <a:t>11.0 FPS</a:t>
                      </a:r>
                    </a:p>
                  </a:txBody>
                  <a:tcPr marL="91440" marR="73152" marT="36576" marB="36576" anchor="ctr">
                    <a:solidFill>
                      <a:srgbClr val="F3F7FA"/>
                    </a:solidFill>
                  </a:tcPr>
                </a:tc>
                <a:tc>
                  <a:txBody>
                    <a:bodyPr wrap="square"/>
                    <a:lstStyle/>
                    <a:p>
                      <a:r>
                        <a:rPr sz="900" b="0">
                          <a:solidFill>
                            <a:srgbClr val="3C5066"/>
                          </a:solidFill>
                          <a:latin typeface="Consolas"/>
                        </a:rPr>
                        <a:t>7.8 FPS</a:t>
                      </a:r>
                    </a:p>
                  </a:txBody>
                  <a:tcPr marL="91440" marR="73152" marT="36576" marB="36576" anchor="ctr">
                    <a:solidFill>
                      <a:srgbClr val="F3F7FA"/>
                    </a:solidFill>
                  </a:tcPr>
                </a:tc>
                <a:tc>
                  <a:txBody>
                    <a:bodyPr wrap="square"/>
                    <a:lstStyle/>
                    <a:p>
                      <a:r>
                        <a:rPr sz="900" b="1">
                          <a:solidFill>
                            <a:srgbClr val="B47A14"/>
                          </a:solidFill>
                          <a:latin typeface="Consolas"/>
                        </a:rPr>
                        <a:t>cost of posture</a:t>
                      </a:r>
                    </a:p>
                  </a:txBody>
                  <a:tcPr marL="91440" marR="73152" marT="36576" marB="36576" anchor="ctr">
                    <a:solidFill>
                      <a:srgbClr val="F3F7FA"/>
                    </a:solidFill>
                  </a:tcPr>
                </a:tc>
              </a:tr>
            </a:tbl>
          </a:graphicData>
        </a:graphic>
      </p:graphicFrame>
      <p:sp>
        <p:nvSpPr>
          <p:cNvPr id="10" name="Rounded Rectangle 9"/>
          <p:cNvSpPr/>
          <p:nvPr/>
        </p:nvSpPr>
        <p:spPr>
          <a:xfrm>
            <a:off x="621792" y="4194683"/>
            <a:ext cx="7498079" cy="9692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4286123"/>
            <a:ext cx="50292" cy="786384"/>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59536" y="4340987"/>
            <a:ext cx="7077455" cy="69494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Why the throughput row is on this slide</a:t>
            </a:r>
          </a:p>
          <a:p>
            <a:pPr>
              <a:lnSpc>
                <a:spcPct val="118000"/>
              </a:lnSpc>
              <a:spcAft>
                <a:spcPts val="300"/>
              </a:spcAft>
            </a:pPr>
            <a:r>
              <a:rPr sz="950" b="0" i="0">
                <a:solidFill>
                  <a:srgbClr val="3C5066"/>
                </a:solidFill>
                <a:latin typeface="Segoe UI"/>
              </a:rPr>
              <a:t>Adding the body-pose fallback took us from 11.0 to 7.8 FPS. We are reporting the cost next to the benefit rather than quoting only the coverage gain — the trade is worth it for offline analysis, and it is the number a reviewer should be able to challenge us on.</a:t>
            </a:r>
          </a:p>
        </p:txBody>
      </p:sp>
      <p:sp>
        <p:nvSpPr>
          <p:cNvPr id="13" name="TextBox 12"/>
          <p:cNvSpPr txBox="1"/>
          <p:nvPr/>
        </p:nvSpPr>
        <p:spPr>
          <a:xfrm>
            <a:off x="8460943" y="1689227"/>
            <a:ext cx="3108960" cy="219456"/>
          </a:xfrm>
          <a:prstGeom prst="rect">
            <a:avLst/>
          </a:prstGeom>
          <a:noFill/>
        </p:spPr>
        <p:txBody>
          <a:bodyPr wrap="square" lIns="0" rIns="0" tIns="0" bIns="0" anchor="t">
            <a:spAutoFit/>
          </a:bodyPr>
          <a:lstStyle/>
          <a:p>
            <a:r>
              <a:rPr sz="900" b="1" i="0">
                <a:solidFill>
                  <a:srgbClr val="A9332A"/>
                </a:solidFill>
                <a:latin typeface="Segoe UI Semibold"/>
              </a:rPr>
              <a:t>BEFORE — 960 px, conf 0.40 → 20 found</a:t>
            </a:r>
          </a:p>
        </p:txBody>
      </p:sp>
      <p:pic>
        <p:nvPicPr>
          <p:cNvPr id="14" name="Picture 13" descr="annot_baseline_960_c40.jpg"/>
          <p:cNvPicPr>
            <a:picLocks noChangeAspect="1"/>
          </p:cNvPicPr>
          <p:nvPr/>
        </p:nvPicPr>
        <p:blipFill>
          <a:blip r:embed="rId2"/>
          <a:stretch>
            <a:fillRect/>
          </a:stretch>
        </p:blipFill>
        <p:spPr>
          <a:xfrm>
            <a:off x="8460943" y="1945259"/>
            <a:ext cx="3108960" cy="1761744"/>
          </a:xfrm>
          <a:prstGeom prst="rect">
            <a:avLst/>
          </a:prstGeom>
        </p:spPr>
      </p:pic>
      <p:sp>
        <p:nvSpPr>
          <p:cNvPr id="15" name="TextBox 14"/>
          <p:cNvSpPr txBox="1"/>
          <p:nvPr/>
        </p:nvSpPr>
        <p:spPr>
          <a:xfrm>
            <a:off x="8460943" y="3889883"/>
            <a:ext cx="3108960" cy="219456"/>
          </a:xfrm>
          <a:prstGeom prst="rect">
            <a:avLst/>
          </a:prstGeom>
          <a:noFill/>
        </p:spPr>
        <p:txBody>
          <a:bodyPr wrap="square" lIns="0" rIns="0" tIns="0" bIns="0" anchor="t">
            <a:spAutoFit/>
          </a:bodyPr>
          <a:lstStyle/>
          <a:p>
            <a:r>
              <a:rPr sz="900" b="1" i="0">
                <a:solidFill>
                  <a:srgbClr val="1F6F50"/>
                </a:solidFill>
                <a:latin typeface="Segoe UI Semibold"/>
              </a:rPr>
              <a:t>AFTER — 1536 px, conf 0.30 → 35 found</a:t>
            </a:r>
          </a:p>
        </p:txBody>
      </p:sp>
      <p:pic>
        <p:nvPicPr>
          <p:cNvPr id="16" name="Picture 15" descr="annot_candidate_1536_c30.jpg"/>
          <p:cNvPicPr>
            <a:picLocks noChangeAspect="1"/>
          </p:cNvPicPr>
          <p:nvPr/>
        </p:nvPicPr>
        <p:blipFill>
          <a:blip r:embed="rId3"/>
          <a:stretch>
            <a:fillRect/>
          </a:stretch>
        </p:blipFill>
        <p:spPr>
          <a:xfrm>
            <a:off x="8460943" y="4145915"/>
            <a:ext cx="3108960" cy="1761744"/>
          </a:xfrm>
          <a:prstGeom prst="rect">
            <a:avLst/>
          </a:prstGeom>
        </p:spPr>
      </p:pic>
      <p:sp>
        <p:nvSpPr>
          <p:cNvPr id="17" name="TextBox 16"/>
          <p:cNvSpPr txBox="1"/>
          <p:nvPr/>
        </p:nvSpPr>
        <p:spPr>
          <a:xfrm>
            <a:off x="8460943" y="5999099"/>
            <a:ext cx="3108960" cy="493776"/>
          </a:xfrm>
          <a:prstGeom prst="rect">
            <a:avLst/>
          </a:prstGeom>
          <a:noFill/>
        </p:spPr>
        <p:txBody>
          <a:bodyPr wrap="square" lIns="0" rIns="0" tIns="0" bIns="0" anchor="t">
            <a:spAutoFit/>
          </a:bodyPr>
          <a:lstStyle/>
          <a:p>
            <a:pPr>
              <a:lnSpc>
                <a:spcPct val="116000"/>
              </a:lnSpc>
            </a:pPr>
            <a:r>
              <a:rPr sz="800" b="0" i="0">
                <a:solidFill>
                  <a:srgbClr val="7B8C9E"/>
                </a:solidFill>
                <a:latin typeface="Segoe UI"/>
              </a:rPr>
              <a:t>Rendered at 1536 px so the extra boxes are easy to see. The shipped default is 1280 px (30 found, the number in the table) — 1536 finds a few more still, at 1.5× the compute cost.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PROBLEMS FACED (1 / 2)</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Perception problems, root causes, and what we did</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These were found by running the pipeline on real footage — none of them were visible in synthetic tests.</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13</a:t>
            </a:r>
          </a:p>
        </p:txBody>
      </p:sp>
      <p:sp>
        <p:nvSpPr>
          <p:cNvPr id="9" name="Rounded Rectangle 8"/>
          <p:cNvSpPr/>
          <p:nvPr/>
        </p:nvSpPr>
        <p:spPr>
          <a:xfrm>
            <a:off x="621792" y="1689227"/>
            <a:ext cx="3712464" cy="3017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689227"/>
            <a:ext cx="3712464"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1872106"/>
            <a:ext cx="3273552" cy="219456"/>
          </a:xfrm>
          <a:prstGeom prst="rect">
            <a:avLst/>
          </a:prstGeom>
          <a:noFill/>
        </p:spPr>
        <p:txBody>
          <a:bodyPr wrap="square" lIns="0" rIns="0" tIns="0" bIns="0" anchor="t">
            <a:spAutoFit/>
          </a:bodyPr>
          <a:lstStyle/>
          <a:p>
            <a:r>
              <a:rPr sz="900" b="1" i="0">
                <a:solidFill>
                  <a:srgbClr val="A9332A"/>
                </a:solidFill>
                <a:latin typeface="Segoe UI Semibold"/>
              </a:rPr>
              <a:t>PROBLEM 1</a:t>
            </a:r>
          </a:p>
        </p:txBody>
      </p:sp>
      <p:sp>
        <p:nvSpPr>
          <p:cNvPr id="12" name="TextBox 11"/>
          <p:cNvSpPr txBox="1"/>
          <p:nvPr/>
        </p:nvSpPr>
        <p:spPr>
          <a:xfrm>
            <a:off x="841248" y="2128139"/>
            <a:ext cx="3273552" cy="475488"/>
          </a:xfrm>
          <a:prstGeom prst="rect">
            <a:avLst/>
          </a:prstGeom>
          <a:noFill/>
        </p:spPr>
        <p:txBody>
          <a:bodyPr wrap="square" lIns="0" rIns="0" tIns="0" bIns="0" anchor="t">
            <a:spAutoFit/>
          </a:bodyPr>
          <a:lstStyle/>
          <a:p>
            <a:pPr>
              <a:lnSpc>
                <a:spcPct val="108000"/>
              </a:lnSpc>
            </a:pPr>
            <a:r>
              <a:rPr sz="1300" b="1" i="0">
                <a:solidFill>
                  <a:srgbClr val="10273F"/>
                </a:solidFill>
                <a:latin typeface="Segoe UI Semibold"/>
              </a:rPr>
              <a:t>Camera angle — a hard ceiling, not a bug</a:t>
            </a:r>
          </a:p>
        </p:txBody>
      </p:sp>
      <p:sp>
        <p:nvSpPr>
          <p:cNvPr id="13" name="TextBox 12"/>
          <p:cNvSpPr txBox="1"/>
          <p:nvPr/>
        </p:nvSpPr>
        <p:spPr>
          <a:xfrm>
            <a:off x="841248" y="2640202"/>
            <a:ext cx="3273552" cy="1024128"/>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Real classroom cameras sit high in a rear corner. A student bowed over a desk shows the camera the crown of their head. We measured a ~45% ceiling on face availability: 130 of 236 detected students had no face that ANY face model could find.</a:t>
            </a:r>
          </a:p>
        </p:txBody>
      </p:sp>
      <p:sp>
        <p:nvSpPr>
          <p:cNvPr id="14" name="Rectangle 13"/>
          <p:cNvSpPr/>
          <p:nvPr/>
        </p:nvSpPr>
        <p:spPr>
          <a:xfrm>
            <a:off x="841248" y="3719195"/>
            <a:ext cx="327355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41248" y="3828922"/>
            <a:ext cx="3273552" cy="841248"/>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Accepted it as a constraint instead of chasing it. Added a face-independent signal (body pose) so those students are still measurable — coverage went from 265/321 to 321/321.</a:t>
            </a:r>
          </a:p>
        </p:txBody>
      </p:sp>
      <p:sp>
        <p:nvSpPr>
          <p:cNvPr id="16" name="Rounded Rectangle 15"/>
          <p:cNvSpPr/>
          <p:nvPr/>
        </p:nvSpPr>
        <p:spPr>
          <a:xfrm>
            <a:off x="4590288" y="1689227"/>
            <a:ext cx="3712464" cy="3017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90288" y="1689227"/>
            <a:ext cx="3712464"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809744" y="1872106"/>
            <a:ext cx="3273552" cy="219456"/>
          </a:xfrm>
          <a:prstGeom prst="rect">
            <a:avLst/>
          </a:prstGeom>
          <a:noFill/>
        </p:spPr>
        <p:txBody>
          <a:bodyPr wrap="square" lIns="0" rIns="0" tIns="0" bIns="0" anchor="t">
            <a:spAutoFit/>
          </a:bodyPr>
          <a:lstStyle/>
          <a:p>
            <a:r>
              <a:rPr sz="900" b="1" i="0">
                <a:solidFill>
                  <a:srgbClr val="A9332A"/>
                </a:solidFill>
                <a:latin typeface="Segoe UI Semibold"/>
              </a:rPr>
              <a:t>PROBLEM 2</a:t>
            </a:r>
          </a:p>
        </p:txBody>
      </p:sp>
      <p:sp>
        <p:nvSpPr>
          <p:cNvPr id="19" name="TextBox 18"/>
          <p:cNvSpPr txBox="1"/>
          <p:nvPr/>
        </p:nvSpPr>
        <p:spPr>
          <a:xfrm>
            <a:off x="4809744" y="2128139"/>
            <a:ext cx="3273552" cy="475488"/>
          </a:xfrm>
          <a:prstGeom prst="rect">
            <a:avLst/>
          </a:prstGeom>
          <a:noFill/>
        </p:spPr>
        <p:txBody>
          <a:bodyPr wrap="square" lIns="0" rIns="0" tIns="0" bIns="0" anchor="t">
            <a:spAutoFit/>
          </a:bodyPr>
          <a:lstStyle/>
          <a:p>
            <a:pPr>
              <a:lnSpc>
                <a:spcPct val="108000"/>
              </a:lnSpc>
            </a:pPr>
            <a:r>
              <a:rPr sz="1300" b="1" i="0">
                <a:solidFill>
                  <a:srgbClr val="10273F"/>
                </a:solidFill>
                <a:latin typeface="Segoe UI Semibold"/>
              </a:rPr>
              <a:t>Face detection returned zero faces on real footage</a:t>
            </a:r>
          </a:p>
        </p:txBody>
      </p:sp>
      <p:sp>
        <p:nvSpPr>
          <p:cNvPr id="20" name="TextBox 19"/>
          <p:cNvSpPr txBox="1"/>
          <p:nvPr/>
        </p:nvSpPr>
        <p:spPr>
          <a:xfrm>
            <a:off x="4809744" y="2640202"/>
            <a:ext cx="3273552" cy="1024128"/>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Face Mesh was run once over the whole frame. MediaPipe downscales its input, so a face that is small relative to a 4K frame is destroyed before detection runs. Result: 0 faces on every real image, while synthetic tests passed.</a:t>
            </a:r>
          </a:p>
        </p:txBody>
      </p:sp>
      <p:sp>
        <p:nvSpPr>
          <p:cNvPr id="21" name="Rectangle 20"/>
          <p:cNvSpPr/>
          <p:nvPr/>
        </p:nvSpPr>
        <p:spPr>
          <a:xfrm>
            <a:off x="4809744" y="3719195"/>
            <a:ext cx="327355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809744" y="3828922"/>
            <a:ext cx="3273552" cy="841248"/>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Run Face Mesh per detected person crop instead. 0/139 → 95/139 faces. We also measured that padding the crop makes it worse, and shipped zero padding against our own initial intuition.</a:t>
            </a:r>
          </a:p>
        </p:txBody>
      </p:sp>
      <p:sp>
        <p:nvSpPr>
          <p:cNvPr id="23" name="TextBox 22"/>
          <p:cNvSpPr txBox="1"/>
          <p:nvPr/>
        </p:nvSpPr>
        <p:spPr>
          <a:xfrm>
            <a:off x="8577072" y="1689227"/>
            <a:ext cx="2992831" cy="219456"/>
          </a:xfrm>
          <a:prstGeom prst="rect">
            <a:avLst/>
          </a:prstGeom>
          <a:noFill/>
        </p:spPr>
        <p:txBody>
          <a:bodyPr wrap="square" lIns="0" rIns="0" tIns="0" bIns="0" anchor="t">
            <a:spAutoFit/>
          </a:bodyPr>
          <a:lstStyle/>
          <a:p>
            <a:r>
              <a:rPr sz="850" b="1" i="0">
                <a:solidFill>
                  <a:srgbClr val="1F6F50"/>
                </a:solidFill>
                <a:latin typeface="Segoe UI Semibold"/>
              </a:rPr>
              <a:t>THE FALLBACK, WORKING</a:t>
            </a:r>
          </a:p>
        </p:txBody>
      </p:sp>
      <p:pic>
        <p:nvPicPr>
          <p:cNvPr id="24" name="Picture 23" descr="t1_pose.jpg"/>
          <p:cNvPicPr>
            <a:picLocks noChangeAspect="1"/>
          </p:cNvPicPr>
          <p:nvPr/>
        </p:nvPicPr>
        <p:blipFill>
          <a:blip r:embed="rId2"/>
          <a:stretch>
            <a:fillRect/>
          </a:stretch>
        </p:blipFill>
        <p:spPr>
          <a:xfrm>
            <a:off x="8577072" y="1945259"/>
            <a:ext cx="2992831" cy="1683467"/>
          </a:xfrm>
          <a:prstGeom prst="rect">
            <a:avLst/>
          </a:prstGeom>
        </p:spPr>
      </p:pic>
      <p:sp>
        <p:nvSpPr>
          <p:cNvPr id="25" name="TextBox 24"/>
          <p:cNvSpPr txBox="1"/>
          <p:nvPr/>
        </p:nvSpPr>
        <p:spPr>
          <a:xfrm>
            <a:off x="8577072" y="3720166"/>
            <a:ext cx="2992831" cy="822960"/>
          </a:xfrm>
          <a:prstGeom prst="rect">
            <a:avLst/>
          </a:prstGeom>
          <a:noFill/>
        </p:spPr>
        <p:txBody>
          <a:bodyPr wrap="square" lIns="0" rIns="0" tIns="0" bIns="0" anchor="t">
            <a:spAutoFit/>
          </a:bodyPr>
          <a:lstStyle/>
          <a:p>
            <a:pPr>
              <a:lnSpc>
                <a:spcPct val="118000"/>
              </a:lnSpc>
            </a:pPr>
            <a:r>
              <a:rPr sz="850" b="0" i="0">
                <a:solidFill>
                  <a:srgbClr val="7B8C9E"/>
                </a:solidFill>
                <a:latin typeface="Segoe UI"/>
              </a:rPr>
              <a:t>Body pose recovered for students with no detectable face. The single upright skeleton is the standing teacher — correctly distinguished from every seated student, which is a real check that the signal means something.</a:t>
            </a:r>
          </a:p>
        </p:txBody>
      </p:sp>
      <p:sp>
        <p:nvSpPr>
          <p:cNvPr id="26" name="Rounded Rectangle 25"/>
          <p:cNvSpPr/>
          <p:nvPr/>
        </p:nvSpPr>
        <p:spPr>
          <a:xfrm>
            <a:off x="621792" y="4926203"/>
            <a:ext cx="5346039"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2960" y="5072507"/>
            <a:ext cx="4943703" cy="201168"/>
          </a:xfrm>
          <a:prstGeom prst="rect">
            <a:avLst/>
          </a:prstGeom>
          <a:noFill/>
        </p:spPr>
        <p:txBody>
          <a:bodyPr wrap="square" lIns="0" rIns="0" tIns="0" bIns="0" anchor="t">
            <a:spAutoFit/>
          </a:bodyPr>
          <a:lstStyle/>
          <a:p>
            <a:r>
              <a:rPr sz="850" b="1" i="0">
                <a:solidFill>
                  <a:srgbClr val="B47A14"/>
                </a:solidFill>
                <a:latin typeface="Segoe UI Semibold"/>
              </a:rPr>
              <a:t>PROBLEM 3</a:t>
            </a:r>
          </a:p>
        </p:txBody>
      </p:sp>
      <p:sp>
        <p:nvSpPr>
          <p:cNvPr id="28" name="TextBox 27"/>
          <p:cNvSpPr txBox="1"/>
          <p:nvPr/>
        </p:nvSpPr>
        <p:spPr>
          <a:xfrm>
            <a:off x="822960" y="5291963"/>
            <a:ext cx="4943703" cy="274320"/>
          </a:xfrm>
          <a:prstGeom prst="rect">
            <a:avLst/>
          </a:prstGeom>
          <a:noFill/>
        </p:spPr>
        <p:txBody>
          <a:bodyPr wrap="square" lIns="0" rIns="0" tIns="0" bIns="0" anchor="t">
            <a:spAutoFit/>
          </a:bodyPr>
          <a:lstStyle/>
          <a:p>
            <a:pPr>
              <a:lnSpc>
                <a:spcPct val="110000"/>
              </a:lnSpc>
            </a:pPr>
            <a:r>
              <a:rPr sz="1050" b="1" i="0">
                <a:solidFill>
                  <a:srgbClr val="10273F"/>
                </a:solidFill>
                <a:latin typeface="Segoe UI Semibold"/>
              </a:rPr>
              <a:t>Back-row students missed entirely</a:t>
            </a:r>
          </a:p>
        </p:txBody>
      </p:sp>
      <p:sp>
        <p:nvSpPr>
          <p:cNvPr id="29" name="TextBox 28"/>
          <p:cNvSpPr txBox="1"/>
          <p:nvPr/>
        </p:nvSpPr>
        <p:spPr>
          <a:xfrm>
            <a:off x="822960" y="5602859"/>
            <a:ext cx="4943703" cy="310896"/>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Inference resolution 960 px shrank a 60 px student to ~30 px.</a:t>
            </a:r>
          </a:p>
        </p:txBody>
      </p:sp>
      <p:sp>
        <p:nvSpPr>
          <p:cNvPr id="30" name="TextBox 29"/>
          <p:cNvSpPr txBox="1"/>
          <p:nvPr/>
        </p:nvSpPr>
        <p:spPr>
          <a:xfrm>
            <a:off x="822960" y="5932043"/>
            <a:ext cx="4943703" cy="237744"/>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imgsz 1280 + conf 0.30 → 139 to 236 persons.</a:t>
            </a:r>
          </a:p>
        </p:txBody>
      </p:sp>
      <p:sp>
        <p:nvSpPr>
          <p:cNvPr id="31" name="Rounded Rectangle 30"/>
          <p:cNvSpPr/>
          <p:nvPr/>
        </p:nvSpPr>
        <p:spPr>
          <a:xfrm>
            <a:off x="6223863" y="4926203"/>
            <a:ext cx="5346039"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25031" y="5072507"/>
            <a:ext cx="4943703" cy="201168"/>
          </a:xfrm>
          <a:prstGeom prst="rect">
            <a:avLst/>
          </a:prstGeom>
          <a:noFill/>
        </p:spPr>
        <p:txBody>
          <a:bodyPr wrap="square" lIns="0" rIns="0" tIns="0" bIns="0" anchor="t">
            <a:spAutoFit/>
          </a:bodyPr>
          <a:lstStyle/>
          <a:p>
            <a:r>
              <a:rPr sz="850" b="1" i="0">
                <a:solidFill>
                  <a:srgbClr val="B47A14"/>
                </a:solidFill>
                <a:latin typeface="Segoe UI Semibold"/>
              </a:rPr>
              <a:t>PROBLEM 4</a:t>
            </a:r>
          </a:p>
        </p:txBody>
      </p:sp>
      <p:sp>
        <p:nvSpPr>
          <p:cNvPr id="33" name="TextBox 32"/>
          <p:cNvSpPr txBox="1"/>
          <p:nvPr/>
        </p:nvSpPr>
        <p:spPr>
          <a:xfrm>
            <a:off x="6425031" y="5291963"/>
            <a:ext cx="4943703" cy="274320"/>
          </a:xfrm>
          <a:prstGeom prst="rect">
            <a:avLst/>
          </a:prstGeom>
          <a:noFill/>
        </p:spPr>
        <p:txBody>
          <a:bodyPr wrap="square" lIns="0" rIns="0" tIns="0" bIns="0" anchor="t">
            <a:spAutoFit/>
          </a:bodyPr>
          <a:lstStyle/>
          <a:p>
            <a:pPr>
              <a:lnSpc>
                <a:spcPct val="110000"/>
              </a:lnSpc>
            </a:pPr>
            <a:r>
              <a:rPr sz="1050" b="1" i="0">
                <a:solidFill>
                  <a:srgbClr val="10273F"/>
                </a:solidFill>
                <a:latin typeface="Segoe UI Semibold"/>
              </a:rPr>
              <a:t>Low-resolution input collapses face detection</a:t>
            </a:r>
          </a:p>
        </p:txBody>
      </p:sp>
      <p:sp>
        <p:nvSpPr>
          <p:cNvPr id="34" name="TextBox 33"/>
          <p:cNvSpPr txBox="1"/>
          <p:nvPr/>
        </p:nvSpPr>
        <p:spPr>
          <a:xfrm>
            <a:off x="6425031" y="5602859"/>
            <a:ext cx="4943703" cy="310896"/>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Measured 7% face rate below 480 px vs 44% at 720–1080 px.</a:t>
            </a:r>
          </a:p>
        </p:txBody>
      </p:sp>
      <p:sp>
        <p:nvSpPr>
          <p:cNvPr id="35" name="TextBox 34"/>
          <p:cNvSpPr txBox="1"/>
          <p:nvPr/>
        </p:nvSpPr>
        <p:spPr>
          <a:xfrm>
            <a:off x="6425031" y="5932043"/>
            <a:ext cx="4943703" cy="237744"/>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Set a minimum capture resolution as a deployment requirement.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PROBLEMS FACED (2 / 2)</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Interpretation problems — and where we say “we cannot tell”</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14</a:t>
            </a:r>
          </a:p>
        </p:txBody>
      </p:sp>
      <p:sp>
        <p:nvSpPr>
          <p:cNvPr id="8" name="Rounded Rectangle 7"/>
          <p:cNvSpPr/>
          <p:nvPr/>
        </p:nvSpPr>
        <p:spPr>
          <a:xfrm>
            <a:off x="621792" y="1373886"/>
            <a:ext cx="5532120" cy="21031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373886"/>
            <a:ext cx="5532120"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1248" y="1575054"/>
            <a:ext cx="5120640" cy="219456"/>
          </a:xfrm>
          <a:prstGeom prst="rect">
            <a:avLst/>
          </a:prstGeom>
          <a:noFill/>
        </p:spPr>
        <p:txBody>
          <a:bodyPr wrap="square" lIns="0" rIns="0" tIns="0" bIns="0" anchor="t">
            <a:spAutoFit/>
          </a:bodyPr>
          <a:lstStyle/>
          <a:p>
            <a:r>
              <a:rPr sz="900" b="1" i="0">
                <a:solidFill>
                  <a:srgbClr val="A9332A"/>
                </a:solidFill>
                <a:latin typeface="Segoe UI Semibold"/>
              </a:rPr>
              <a:t>PROBLEM 5</a:t>
            </a:r>
          </a:p>
        </p:txBody>
      </p:sp>
      <p:sp>
        <p:nvSpPr>
          <p:cNvPr id="11" name="TextBox 10"/>
          <p:cNvSpPr txBox="1"/>
          <p:nvPr/>
        </p:nvSpPr>
        <p:spPr>
          <a:xfrm>
            <a:off x="841248" y="1831086"/>
            <a:ext cx="5120640" cy="274320"/>
          </a:xfrm>
          <a:prstGeom prst="rect">
            <a:avLst/>
          </a:prstGeom>
          <a:noFill/>
        </p:spPr>
        <p:txBody>
          <a:bodyPr wrap="square" lIns="0" rIns="0" tIns="0" bIns="0" anchor="t">
            <a:spAutoFit/>
          </a:bodyPr>
          <a:lstStyle/>
          <a:p>
            <a:r>
              <a:rPr sz="1300" b="1" i="0">
                <a:solidFill>
                  <a:srgbClr val="10273F"/>
                </a:solidFill>
                <a:latin typeface="Segoe UI Semibold"/>
              </a:rPr>
              <a:t>Gaze direction was silently inverted</a:t>
            </a:r>
          </a:p>
        </p:txBody>
      </p:sp>
      <p:sp>
        <p:nvSpPr>
          <p:cNvPr id="12" name="TextBox 11"/>
          <p:cNvSpPr txBox="1"/>
          <p:nvPr/>
        </p:nvSpPr>
        <p:spPr>
          <a:xfrm>
            <a:off x="841248" y="2196846"/>
            <a:ext cx="5120640" cy="731520"/>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The head-pose model reports pitch as up-positive; our contract assumed down-positive. Students bowed over desks were being labelled “looking back/up”, and “down” could never fire at all. Confirmed by reading the library's own source, not guessed.</a:t>
            </a:r>
          </a:p>
        </p:txBody>
      </p:sp>
      <p:sp>
        <p:nvSpPr>
          <p:cNvPr id="13" name="TextBox 12"/>
          <p:cNvSpPr txBox="1"/>
          <p:nvPr/>
        </p:nvSpPr>
        <p:spPr>
          <a:xfrm>
            <a:off x="841248" y="2983230"/>
            <a:ext cx="5120640" cy="402336"/>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negate at the source + a regression test pinning the convention. “down” labels went 0 → 6 on the same images; “back” 2 → 0.</a:t>
            </a:r>
          </a:p>
        </p:txBody>
      </p:sp>
      <p:sp>
        <p:nvSpPr>
          <p:cNvPr id="14" name="Rounded Rectangle 13"/>
          <p:cNvSpPr/>
          <p:nvPr/>
        </p:nvSpPr>
        <p:spPr>
          <a:xfrm>
            <a:off x="6409944" y="1373886"/>
            <a:ext cx="5159959" cy="21031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09944" y="1373886"/>
            <a:ext cx="5159959"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29400" y="1575054"/>
            <a:ext cx="4721047" cy="219456"/>
          </a:xfrm>
          <a:prstGeom prst="rect">
            <a:avLst/>
          </a:prstGeom>
          <a:noFill/>
        </p:spPr>
        <p:txBody>
          <a:bodyPr wrap="square" lIns="0" rIns="0" tIns="0" bIns="0" anchor="t">
            <a:spAutoFit/>
          </a:bodyPr>
          <a:lstStyle/>
          <a:p>
            <a:r>
              <a:rPr sz="900" b="1" i="0">
                <a:solidFill>
                  <a:srgbClr val="B47A14"/>
                </a:solidFill>
                <a:latin typeface="Segoe UI Semibold"/>
              </a:rPr>
              <a:t>PROBLEM 6 — THE TWO DISTRACTION CASES</a:t>
            </a:r>
          </a:p>
        </p:txBody>
      </p:sp>
      <p:sp>
        <p:nvSpPr>
          <p:cNvPr id="17" name="TextBox 16"/>
          <p:cNvSpPr txBox="1"/>
          <p:nvPr/>
        </p:nvSpPr>
        <p:spPr>
          <a:xfrm>
            <a:off x="6629400" y="1831086"/>
            <a:ext cx="4721047" cy="274320"/>
          </a:xfrm>
          <a:prstGeom prst="rect">
            <a:avLst/>
          </a:prstGeom>
          <a:noFill/>
        </p:spPr>
        <p:txBody>
          <a:bodyPr wrap="square" lIns="0" rIns="0" tIns="0" bIns="0" anchor="t">
            <a:spAutoFit/>
          </a:bodyPr>
          <a:lstStyle/>
          <a:p>
            <a:r>
              <a:rPr sz="1300" b="1" i="0">
                <a:solidFill>
                  <a:srgbClr val="10273F"/>
                </a:solidFill>
                <a:latin typeface="Segoe UI Semibold"/>
              </a:rPr>
              <a:t>“Head down” means two different things</a:t>
            </a:r>
          </a:p>
        </p:txBody>
      </p:sp>
      <p:sp>
        <p:nvSpPr>
          <p:cNvPr id="18" name="Rounded Rectangle 17"/>
          <p:cNvSpPr/>
          <p:nvPr/>
        </p:nvSpPr>
        <p:spPr>
          <a:xfrm>
            <a:off x="6629400" y="2178558"/>
            <a:ext cx="2296515" cy="11887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757416" y="2288286"/>
            <a:ext cx="2040483" cy="329184"/>
          </a:xfrm>
          <a:prstGeom prst="rect">
            <a:avLst/>
          </a:prstGeom>
          <a:noFill/>
        </p:spPr>
        <p:txBody>
          <a:bodyPr wrap="square" lIns="0" rIns="0" tIns="0" bIns="0" anchor="t">
            <a:spAutoFit/>
          </a:bodyPr>
          <a:lstStyle/>
          <a:p>
            <a:pPr>
              <a:lnSpc>
                <a:spcPct val="110000"/>
              </a:lnSpc>
            </a:pPr>
            <a:r>
              <a:rPr sz="850" b="1" i="0">
                <a:solidFill>
                  <a:srgbClr val="1F6F50"/>
                </a:solidFill>
                <a:latin typeface="Consolas"/>
              </a:rPr>
              <a:t>head_down_WITH_device</a:t>
            </a:r>
          </a:p>
        </p:txBody>
      </p:sp>
      <p:sp>
        <p:nvSpPr>
          <p:cNvPr id="20" name="TextBox 19"/>
          <p:cNvSpPr txBox="1"/>
          <p:nvPr/>
        </p:nvSpPr>
        <p:spPr>
          <a:xfrm>
            <a:off x="6757416" y="2654046"/>
            <a:ext cx="2040483" cy="658368"/>
          </a:xfrm>
          <a:prstGeom prst="rect">
            <a:avLst/>
          </a:prstGeom>
          <a:noFill/>
        </p:spPr>
        <p:txBody>
          <a:bodyPr wrap="square" lIns="0" rIns="0" tIns="0" bIns="0" anchor="t">
            <a:spAutoFit/>
          </a:bodyPr>
          <a:lstStyle/>
          <a:p>
            <a:pPr>
              <a:lnSpc>
                <a:spcPct val="118000"/>
              </a:lnSpc>
            </a:pPr>
            <a:r>
              <a:rPr sz="900" b="0" i="0">
                <a:solidFill>
                  <a:srgbClr val="3C5066"/>
                </a:solidFill>
                <a:latin typeface="Segoe UI"/>
              </a:rPr>
              <a:t>Gaze down + a phone detected overlapping the student. Defensible behavioural reading → we do flag this.</a:t>
            </a:r>
          </a:p>
        </p:txBody>
      </p:sp>
      <p:sp>
        <p:nvSpPr>
          <p:cNvPr id="21" name="Rounded Rectangle 20"/>
          <p:cNvSpPr/>
          <p:nvPr/>
        </p:nvSpPr>
        <p:spPr>
          <a:xfrm>
            <a:off x="9053931" y="2178558"/>
            <a:ext cx="2296515" cy="11887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181947" y="2288286"/>
            <a:ext cx="2040483" cy="329184"/>
          </a:xfrm>
          <a:prstGeom prst="rect">
            <a:avLst/>
          </a:prstGeom>
          <a:noFill/>
        </p:spPr>
        <p:txBody>
          <a:bodyPr wrap="square" lIns="0" rIns="0" tIns="0" bIns="0" anchor="t">
            <a:spAutoFit/>
          </a:bodyPr>
          <a:lstStyle/>
          <a:p>
            <a:pPr>
              <a:lnSpc>
                <a:spcPct val="110000"/>
              </a:lnSpc>
            </a:pPr>
            <a:r>
              <a:rPr sz="850" b="1" i="0">
                <a:solidFill>
                  <a:srgbClr val="B47A14"/>
                </a:solidFill>
                <a:latin typeface="Consolas"/>
              </a:rPr>
              <a:t>head_down_NO_device</a:t>
            </a:r>
          </a:p>
        </p:txBody>
      </p:sp>
      <p:sp>
        <p:nvSpPr>
          <p:cNvPr id="23" name="TextBox 22"/>
          <p:cNvSpPr txBox="1"/>
          <p:nvPr/>
        </p:nvSpPr>
        <p:spPr>
          <a:xfrm>
            <a:off x="9181947" y="2654046"/>
            <a:ext cx="2040483" cy="658368"/>
          </a:xfrm>
          <a:prstGeom prst="rect">
            <a:avLst/>
          </a:prstGeom>
          <a:noFill/>
        </p:spPr>
        <p:txBody>
          <a:bodyPr wrap="square" lIns="0" rIns="0" tIns="0" bIns="0" anchor="t">
            <a:spAutoFit/>
          </a:bodyPr>
          <a:lstStyle/>
          <a:p>
            <a:pPr>
              <a:lnSpc>
                <a:spcPct val="118000"/>
              </a:lnSpc>
            </a:pPr>
            <a:r>
              <a:rPr sz="900" b="0" i="0">
                <a:solidFill>
                  <a:srgbClr val="3C5066"/>
                </a:solidFill>
                <a:latin typeface="Segoe UI"/>
              </a:rPr>
              <a:t>Gaze down, nothing detected. Could be reading, writing, thinking — or disengaged. We refuse to guess.</a:t>
            </a:r>
          </a:p>
        </p:txBody>
      </p:sp>
      <p:sp>
        <p:nvSpPr>
          <p:cNvPr id="24" name="Rounded Rectangle 23"/>
          <p:cNvSpPr/>
          <p:nvPr/>
        </p:nvSpPr>
        <p:spPr>
          <a:xfrm>
            <a:off x="621792" y="3714750"/>
            <a:ext cx="5532120" cy="1481328"/>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3897630"/>
            <a:ext cx="5074920" cy="256032"/>
          </a:xfrm>
          <a:prstGeom prst="rect">
            <a:avLst/>
          </a:prstGeom>
          <a:noFill/>
        </p:spPr>
        <p:txBody>
          <a:bodyPr wrap="square" lIns="0" rIns="0" tIns="0" bIns="0" anchor="t">
            <a:spAutoFit/>
          </a:bodyPr>
          <a:lstStyle/>
          <a:p>
            <a:r>
              <a:rPr sz="950" b="1" i="0">
                <a:solidFill>
                  <a:srgbClr val="6FC5CE"/>
                </a:solidFill>
                <a:latin typeface="Segoe UI Semibold"/>
              </a:rPr>
              <a:t>THE PRINCIPLE WE ADOPTED</a:t>
            </a:r>
          </a:p>
        </p:txBody>
      </p:sp>
      <p:sp>
        <p:nvSpPr>
          <p:cNvPr id="26" name="TextBox 25"/>
          <p:cNvSpPr txBox="1"/>
          <p:nvPr/>
        </p:nvSpPr>
        <p:spPr>
          <a:xfrm>
            <a:off x="859536" y="4208526"/>
            <a:ext cx="5074920" cy="859536"/>
          </a:xfrm>
          <a:prstGeom prst="rect">
            <a:avLst/>
          </a:prstGeom>
          <a:noFill/>
        </p:spPr>
        <p:txBody>
          <a:bodyPr wrap="square" lIns="0" rIns="0" tIns="0" bIns="0" anchor="t">
            <a:spAutoFit/>
          </a:bodyPr>
          <a:lstStyle/>
          <a:p>
            <a:pPr>
              <a:lnSpc>
                <a:spcPct val="124000"/>
              </a:lnSpc>
            </a:pPr>
            <a:r>
              <a:rPr sz="1050" b="0" i="0">
                <a:solidFill>
                  <a:srgbClr val="FFFFFF"/>
                </a:solidFill>
                <a:latin typeface="Segoe UI"/>
              </a:rPr>
              <a:t>Keep ambiguous cases ambiguous. BOSS — a validated human observation instrument — has the same unresolved confusion between “quiet, head down, working” and “quiet, head down, disengaged”. Forcing a confident split would be less honest than the established instrument itself.</a:t>
            </a:r>
          </a:p>
        </p:txBody>
      </p:sp>
      <p:sp>
        <p:nvSpPr>
          <p:cNvPr id="27" name="Rounded Rectangle 26"/>
          <p:cNvSpPr/>
          <p:nvPr/>
        </p:nvSpPr>
        <p:spPr>
          <a:xfrm>
            <a:off x="6409944" y="3714750"/>
            <a:ext cx="5159959"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409944" y="3806189"/>
            <a:ext cx="50292" cy="129844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47688" y="3861054"/>
            <a:ext cx="4739335" cy="1207008"/>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PROBLEM 7 — Peer interaction: a false positive we found and kept</a:t>
            </a:r>
          </a:p>
          <a:p>
            <a:pPr>
              <a:lnSpc>
                <a:spcPct val="118000"/>
              </a:lnSpc>
              <a:spcAft>
                <a:spcPts val="300"/>
              </a:spcAft>
            </a:pPr>
            <a:r>
              <a:rPr sz="950" b="0" i="0">
                <a:solidFill>
                  <a:srgbClr val="3C5066"/>
                </a:solidFill>
                <a:latin typeface="Segoe UI"/>
              </a:rPr>
              <a:t>Our geometric pair detector flagged its highest-confidence pair on real footage. We rendered it and looked: two students at different, non-adjacent desks, both bent over their own work, not interacting.</a:t>
            </a:r>
          </a:p>
          <a:p>
            <a:pPr>
              <a:lnSpc>
                <a:spcPct val="118000"/>
              </a:lnSpc>
              <a:spcAft>
                <a:spcPts val="300"/>
              </a:spcAft>
            </a:pPr>
            <a:r>
              <a:rPr sz="950" b="0" i="0">
                <a:solidFill>
                  <a:srgbClr val="3C5066"/>
                </a:solidFill>
                <a:latin typeface="Segoe UI"/>
              </a:rPr>
              <a:t>We documented the false positive in the code and measured that the proximity threshold is looser than real desk spacing — rather than quietly tuning it until the demo looked good.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ORIGINALITY</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Three things we can do that no single pillar can do alone</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Each needs identity AND relations AND time together — that is the argument for why all three pillars must coexist in one system.</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15</a:t>
            </a:r>
          </a:p>
        </p:txBody>
      </p:sp>
      <p:sp>
        <p:nvSpPr>
          <p:cNvPr id="9" name="Rounded Rectangle 8"/>
          <p:cNvSpPr/>
          <p:nvPr/>
        </p:nvSpPr>
        <p:spPr>
          <a:xfrm>
            <a:off x="621792"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1248"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01</a:t>
            </a:r>
          </a:p>
        </p:txBody>
      </p:sp>
      <p:sp>
        <p:nvSpPr>
          <p:cNvPr id="11" name="TextBox 10"/>
          <p:cNvSpPr txBox="1"/>
          <p:nvPr/>
        </p:nvSpPr>
        <p:spPr>
          <a:xfrm>
            <a:off x="841248" y="2457323"/>
            <a:ext cx="3051962" cy="822960"/>
          </a:xfrm>
          <a:prstGeom prst="rect">
            <a:avLst/>
          </a:prstGeom>
          <a:noFill/>
        </p:spPr>
        <p:txBody>
          <a:bodyPr wrap="square" lIns="0" rIns="0" tIns="0" bIns="0" anchor="t">
            <a:spAutoFit/>
          </a:bodyPr>
          <a:lstStyle/>
          <a:p>
            <a:pPr>
              <a:lnSpc>
                <a:spcPct val="114000"/>
              </a:lnSpc>
            </a:pPr>
            <a:r>
              <a:rPr sz="1300" b="1" i="0">
                <a:solidFill>
                  <a:srgbClr val="10273F"/>
                </a:solidFill>
                <a:latin typeface="Segoe UI Semibold"/>
              </a:rPr>
              <a:t>See a student's attention as a trend, not a snapshot</a:t>
            </a:r>
          </a:p>
        </p:txBody>
      </p:sp>
      <p:sp>
        <p:nvSpPr>
          <p:cNvPr id="12" name="TextBox 11"/>
          <p:cNvSpPr txBox="1"/>
          <p:nvPr/>
        </p:nvSpPr>
        <p:spPr>
          <a:xfrm>
            <a:off x="841248" y="3316859"/>
            <a:ext cx="3051962" cy="1188720"/>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Because we know it's the same student for the whole class, we can draw one line per student across the entire lecture and point to exactly when it dropped — instead of a pile of disconnected per-frame guesses.</a:t>
            </a:r>
          </a:p>
        </p:txBody>
      </p:sp>
      <p:sp>
        <p:nvSpPr>
          <p:cNvPr id="13" name="Rounded Rectangle 12"/>
          <p:cNvSpPr/>
          <p:nvPr/>
        </p:nvSpPr>
        <p:spPr>
          <a:xfrm>
            <a:off x="4350410"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69866"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02</a:t>
            </a:r>
          </a:p>
        </p:txBody>
      </p:sp>
      <p:sp>
        <p:nvSpPr>
          <p:cNvPr id="15" name="TextBox 14"/>
          <p:cNvSpPr txBox="1"/>
          <p:nvPr/>
        </p:nvSpPr>
        <p:spPr>
          <a:xfrm>
            <a:off x="4569866" y="2457323"/>
            <a:ext cx="3051962" cy="822960"/>
          </a:xfrm>
          <a:prstGeom prst="rect">
            <a:avLst/>
          </a:prstGeom>
          <a:noFill/>
        </p:spPr>
        <p:txBody>
          <a:bodyPr wrap="square" lIns="0" rIns="0" tIns="0" bIns="0" anchor="t">
            <a:spAutoFit/>
          </a:bodyPr>
          <a:lstStyle/>
          <a:p>
            <a:pPr>
              <a:lnSpc>
                <a:spcPct val="114000"/>
              </a:lnSpc>
            </a:pPr>
            <a:r>
              <a:rPr sz="1300" b="1" i="0">
                <a:solidFill>
                  <a:srgbClr val="10273F"/>
                </a:solidFill>
                <a:latin typeface="Segoe UI Semibold"/>
              </a:rPr>
              <a:t>Notice when distraction spreads between neighbours</a:t>
            </a:r>
          </a:p>
        </p:txBody>
      </p:sp>
      <p:sp>
        <p:nvSpPr>
          <p:cNvPr id="16" name="TextBox 15"/>
          <p:cNvSpPr txBox="1"/>
          <p:nvPr/>
        </p:nvSpPr>
        <p:spPr>
          <a:xfrm>
            <a:off x="4569866" y="3316859"/>
            <a:ext cx="3051962" cy="1188720"/>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By connecting students who are near and facing each other, we can ask whether one student losing focus is followed by the student next to them doing the same — a pattern invisible if every student is analysed alone.</a:t>
            </a:r>
          </a:p>
        </p:txBody>
      </p:sp>
      <p:sp>
        <p:nvSpPr>
          <p:cNvPr id="17" name="Rounded Rectangle 16"/>
          <p:cNvSpPr/>
          <p:nvPr/>
        </p:nvSpPr>
        <p:spPr>
          <a:xfrm>
            <a:off x="8079028"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98484"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03</a:t>
            </a:r>
          </a:p>
        </p:txBody>
      </p:sp>
      <p:sp>
        <p:nvSpPr>
          <p:cNvPr id="19" name="TextBox 18"/>
          <p:cNvSpPr txBox="1"/>
          <p:nvPr/>
        </p:nvSpPr>
        <p:spPr>
          <a:xfrm>
            <a:off x="8298484" y="2457323"/>
            <a:ext cx="3051962" cy="822960"/>
          </a:xfrm>
          <a:prstGeom prst="rect">
            <a:avLst/>
          </a:prstGeom>
          <a:noFill/>
        </p:spPr>
        <p:txBody>
          <a:bodyPr wrap="square" lIns="0" rIns="0" tIns="0" bIns="0" anchor="t">
            <a:spAutoFit/>
          </a:bodyPr>
          <a:lstStyle/>
          <a:p>
            <a:pPr>
              <a:lnSpc>
                <a:spcPct val="114000"/>
              </a:lnSpc>
            </a:pPr>
            <a:r>
              <a:rPr sz="1300" b="1" i="0">
                <a:solidFill>
                  <a:srgbClr val="10273F"/>
                </a:solidFill>
                <a:latin typeface="Segoe UI Semibold"/>
              </a:rPr>
              <a:t>Say “we don't know” instead of guessing</a:t>
            </a:r>
          </a:p>
        </p:txBody>
      </p:sp>
      <p:sp>
        <p:nvSpPr>
          <p:cNvPr id="20" name="TextBox 19"/>
          <p:cNvSpPr txBox="1"/>
          <p:nvPr/>
        </p:nvSpPr>
        <p:spPr>
          <a:xfrm>
            <a:off x="8298484" y="3316859"/>
            <a:ext cx="3051962" cy="1188720"/>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When a student's face is hidden, or two students could be discussing the lesson or just chatting, we report exactly that — instead of forcing a confident answer we can't actually back up. That's what makes the output safe to hand to a teacher.</a:t>
            </a:r>
          </a:p>
        </p:txBody>
      </p:sp>
      <p:sp>
        <p:nvSpPr>
          <p:cNvPr id="21" name="Rounded Rectangle 20"/>
          <p:cNvSpPr/>
          <p:nvPr/>
        </p:nvSpPr>
        <p:spPr>
          <a:xfrm>
            <a:off x="621792" y="4853051"/>
            <a:ext cx="10948111" cy="932688"/>
          </a:xfrm>
          <a:prstGeom prst="roundRect">
            <a:avLst>
              <a:gd name="adj" fmla="val 4500"/>
            </a:avLst>
          </a:prstGeom>
          <a:solidFill>
            <a:srgbClr val="E9F1F4"/>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7824" y="5017642"/>
            <a:ext cx="10436047" cy="640080"/>
          </a:xfrm>
          <a:prstGeom prst="rect">
            <a:avLst/>
          </a:prstGeom>
          <a:noFill/>
        </p:spPr>
        <p:txBody>
          <a:bodyPr wrap="square" lIns="0" rIns="0" tIns="0" bIns="0" anchor="t">
            <a:spAutoFit/>
          </a:bodyPr>
          <a:lstStyle/>
          <a:p>
            <a:pPr>
              <a:lnSpc>
                <a:spcPct val="124000"/>
              </a:lnSpc>
            </a:pPr>
            <a:r>
              <a:rPr sz="1100" b="1" i="0">
                <a:solidFill>
                  <a:srgbClr val="085961"/>
                </a:solidFill>
                <a:latin typeface="Segoe UI Semibold"/>
              </a:rPr>
              <a:t>Framed honestly:  </a:t>
            </a:r>
            <a:r>
              <a:rPr sz="1100" b="0" i="0">
                <a:solidFill>
                  <a:srgbClr val="10273F"/>
                </a:solidFill>
                <a:latin typeface="Segoe UI"/>
              </a:rPr>
              <a:t>novel in combination and in this domain — not a claim to have invented a better Re-ID, scene-graph or group-activity method on its own. That's a defensible position for a course project and an honest one for a paper.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