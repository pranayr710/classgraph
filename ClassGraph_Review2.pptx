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807708"/>
            <a:ext cx="12191695" cy="50292"/>
          </a:xfrm>
          <a:prstGeom prst="rect">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21792" y="1481328"/>
            <a:ext cx="10948111" cy="365760"/>
          </a:xfrm>
          <a:prstGeom prst="rect">
            <a:avLst/>
          </a:prstGeom>
          <a:noFill/>
        </p:spPr>
        <p:txBody>
          <a:bodyPr wrap="square" lIns="0" rIns="0" tIns="0" bIns="0" anchor="t">
            <a:spAutoFit/>
          </a:bodyPr>
          <a:lstStyle/>
          <a:p>
            <a:r>
              <a:rPr sz="1150" b="1" i="0">
                <a:solidFill>
                  <a:srgbClr val="0E7C86"/>
                </a:solidFill>
                <a:latin typeface="Segoe UI Semibold"/>
              </a:rPr>
              <a:t>CV PROJECT REVIEW 2</a:t>
            </a:r>
          </a:p>
        </p:txBody>
      </p:sp>
      <p:sp>
        <p:nvSpPr>
          <p:cNvPr id="5" name="TextBox 4"/>
          <p:cNvSpPr txBox="1"/>
          <p:nvPr/>
        </p:nvSpPr>
        <p:spPr>
          <a:xfrm>
            <a:off x="621792" y="1874519"/>
            <a:ext cx="10948111" cy="960120"/>
          </a:xfrm>
          <a:prstGeom prst="rect">
            <a:avLst/>
          </a:prstGeom>
          <a:noFill/>
        </p:spPr>
        <p:txBody>
          <a:bodyPr wrap="square" lIns="0" rIns="0" tIns="0" bIns="0" anchor="t">
            <a:spAutoFit/>
          </a:bodyPr>
          <a:lstStyle/>
          <a:p>
            <a:r>
              <a:rPr sz="5800" b="1" i="0">
                <a:solidFill>
                  <a:srgbClr val="10273F"/>
                </a:solidFill>
                <a:latin typeface="Segoe UI Semibold"/>
              </a:rPr>
              <a:t>ClassGraph</a:t>
            </a:r>
          </a:p>
        </p:txBody>
      </p:sp>
      <p:sp>
        <p:nvSpPr>
          <p:cNvPr id="6" name="TextBox 5"/>
          <p:cNvSpPr txBox="1"/>
          <p:nvPr/>
        </p:nvSpPr>
        <p:spPr>
          <a:xfrm>
            <a:off x="621792" y="2889504"/>
            <a:ext cx="8778240" cy="566928"/>
          </a:xfrm>
          <a:prstGeom prst="rect">
            <a:avLst/>
          </a:prstGeom>
          <a:noFill/>
        </p:spPr>
        <p:txBody>
          <a:bodyPr wrap="square" lIns="0" rIns="0" tIns="0" bIns="0" anchor="t">
            <a:spAutoFit/>
          </a:bodyPr>
          <a:lstStyle/>
          <a:p>
            <a:pPr>
              <a:lnSpc>
                <a:spcPct val="110000"/>
              </a:lnSpc>
            </a:pPr>
            <a:r>
              <a:rPr sz="2000" b="0" i="0">
                <a:solidFill>
                  <a:srgbClr val="085961"/>
                </a:solidFill>
                <a:latin typeface="Segoe UI Semibold"/>
              </a:rPr>
              <a:t>Temporal Scene-Graph Group-Activity Analytics for Classrooms</a:t>
            </a:r>
          </a:p>
        </p:txBody>
      </p:sp>
      <p:sp>
        <p:nvSpPr>
          <p:cNvPr id="7" name="Rectangle 6"/>
          <p:cNvSpPr/>
          <p:nvPr/>
        </p:nvSpPr>
        <p:spPr>
          <a:xfrm>
            <a:off x="621792" y="3611880"/>
            <a:ext cx="1371600" cy="2560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21792" y="3840480"/>
            <a:ext cx="8503920" cy="914400"/>
          </a:xfrm>
          <a:prstGeom prst="rect">
            <a:avLst/>
          </a:prstGeom>
          <a:noFill/>
        </p:spPr>
        <p:txBody>
          <a:bodyPr wrap="square" lIns="0" rIns="0" tIns="0" bIns="0" anchor="t">
            <a:spAutoFit/>
          </a:bodyPr>
          <a:lstStyle/>
          <a:p>
            <a:pPr>
              <a:lnSpc>
                <a:spcPct val="132000"/>
              </a:lnSpc>
            </a:pPr>
            <a:r>
              <a:rPr sz="1300" b="0" i="0">
                <a:solidFill>
                  <a:srgbClr val="3C5066"/>
                </a:solidFill>
                <a:latin typeface="Segoe UI"/>
              </a:rPr>
              <a:t>Identity-persistent, behaviour-level engagement analytics — turning raw classroom video into per-student attention trajectories and group-level insight, without reducing students to a single score.</a:t>
            </a:r>
          </a:p>
        </p:txBody>
      </p:sp>
      <p:sp>
        <p:nvSpPr>
          <p:cNvPr id="9" name="Rounded Rectangle 8"/>
          <p:cNvSpPr/>
          <p:nvPr/>
        </p:nvSpPr>
        <p:spPr>
          <a:xfrm>
            <a:off x="621792" y="5074920"/>
            <a:ext cx="3515258" cy="78638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5166359"/>
            <a:ext cx="50292" cy="60350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9536" y="5221224"/>
            <a:ext cx="3094634" cy="51206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Perception + Identity</a:t>
            </a:r>
          </a:p>
          <a:p>
            <a:pPr>
              <a:lnSpc>
                <a:spcPct val="118000"/>
              </a:lnSpc>
              <a:spcAft>
                <a:spcPts val="300"/>
              </a:spcAft>
            </a:pPr>
            <a:r>
              <a:rPr sz="950" b="0" i="0">
                <a:solidFill>
                  <a:srgbClr val="3C5066"/>
                </a:solidFill>
                <a:latin typeface="Segoe UI"/>
              </a:rPr>
              <a:t>Stages 1–2 built &amp; tested</a:t>
            </a:r>
          </a:p>
        </p:txBody>
      </p:sp>
      <p:sp>
        <p:nvSpPr>
          <p:cNvPr id="12" name="Rounded Rectangle 11"/>
          <p:cNvSpPr/>
          <p:nvPr/>
        </p:nvSpPr>
        <p:spPr>
          <a:xfrm>
            <a:off x="4338218" y="5074920"/>
            <a:ext cx="3515258" cy="78638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38218" y="5166359"/>
            <a:ext cx="50292" cy="603503"/>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75962" y="5221224"/>
            <a:ext cx="3094634" cy="51206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Scene Graph + Temporal</a:t>
            </a:r>
          </a:p>
          <a:p>
            <a:pPr>
              <a:lnSpc>
                <a:spcPct val="118000"/>
              </a:lnSpc>
              <a:spcAft>
                <a:spcPts val="300"/>
              </a:spcAft>
            </a:pPr>
            <a:r>
              <a:rPr sz="950" b="0" i="0">
                <a:solidFill>
                  <a:srgbClr val="3C5066"/>
                </a:solidFill>
                <a:latin typeface="Segoe UI"/>
              </a:rPr>
              <a:t>Stages 3–4 designed</a:t>
            </a:r>
          </a:p>
        </p:txBody>
      </p:sp>
      <p:sp>
        <p:nvSpPr>
          <p:cNvPr id="15" name="Rounded Rectangle 14"/>
          <p:cNvSpPr/>
          <p:nvPr/>
        </p:nvSpPr>
        <p:spPr>
          <a:xfrm>
            <a:off x="8054644" y="5074920"/>
            <a:ext cx="3515258" cy="78638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54644" y="5166359"/>
            <a:ext cx="50292" cy="603503"/>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92388" y="5221224"/>
            <a:ext cx="3094634" cy="51206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Group Activity</a:t>
            </a:r>
          </a:p>
          <a:p>
            <a:pPr>
              <a:lnSpc>
                <a:spcPct val="118000"/>
              </a:lnSpc>
              <a:spcAft>
                <a:spcPts val="300"/>
              </a:spcAft>
            </a:pPr>
            <a:r>
              <a:rPr sz="950" b="0" i="0">
                <a:solidFill>
                  <a:srgbClr val="3C5066"/>
                </a:solidFill>
                <a:latin typeface="Segoe UI"/>
              </a:rPr>
              <a:t>Stage 5 designed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21792" y="420624"/>
            <a:ext cx="10948111" cy="486918"/>
          </a:xfrm>
          <a:prstGeom prst="rect">
            <a:avLst/>
          </a:prstGeom>
          <a:noFill/>
        </p:spPr>
        <p:txBody>
          <a:bodyPr wrap="square" lIns="0" rIns="0" tIns="0" bIns="0" anchor="t">
            <a:spAutoFit/>
          </a:bodyPr>
          <a:lstStyle/>
          <a:p>
            <a:r>
              <a:rPr sz="2700" b="1" i="0">
                <a:solidFill>
                  <a:srgbClr val="10273F"/>
                </a:solidFill>
                <a:latin typeface="Segoe UI Semibold"/>
              </a:rPr>
              <a:t>Review Roadmap</a:t>
            </a:r>
          </a:p>
        </p:txBody>
      </p:sp>
      <p:sp>
        <p:nvSpPr>
          <p:cNvPr id="3" name="TextBox 2"/>
          <p:cNvSpPr txBox="1"/>
          <p:nvPr/>
        </p:nvSpPr>
        <p:spPr>
          <a:xfrm>
            <a:off x="621792" y="1008126"/>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This deck is organised 1:1 against the five evaluation criteria.</a:t>
            </a:r>
          </a:p>
        </p:txBody>
      </p:sp>
      <p:sp>
        <p:nvSpPr>
          <p:cNvPr id="4" name="Rectangle 3"/>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6" name="TextBox 5"/>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2</a:t>
            </a:r>
          </a:p>
        </p:txBody>
      </p:sp>
      <p:sp>
        <p:nvSpPr>
          <p:cNvPr id="7" name="Rounded Rectangle 6"/>
          <p:cNvSpPr/>
          <p:nvPr/>
        </p:nvSpPr>
        <p:spPr>
          <a:xfrm>
            <a:off x="621792" y="146977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749808" y="158864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49808" y="164350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1</a:t>
            </a:r>
          </a:p>
        </p:txBody>
      </p:sp>
      <p:sp>
        <p:nvSpPr>
          <p:cNvPr id="10" name="TextBox 9"/>
          <p:cNvSpPr txBox="1"/>
          <p:nvPr/>
        </p:nvSpPr>
        <p:spPr>
          <a:xfrm>
            <a:off x="1261872" y="1570355"/>
            <a:ext cx="3657600" cy="237744"/>
          </a:xfrm>
          <a:prstGeom prst="rect">
            <a:avLst/>
          </a:prstGeom>
          <a:noFill/>
        </p:spPr>
        <p:txBody>
          <a:bodyPr wrap="square" lIns="0" rIns="0" tIns="0" bIns="0" anchor="t">
            <a:spAutoFit/>
          </a:bodyPr>
          <a:lstStyle/>
          <a:p>
            <a:r>
              <a:rPr sz="1250" b="1" i="0">
                <a:solidFill>
                  <a:srgbClr val="10273F"/>
                </a:solidFill>
                <a:latin typeface="Segoe UI Semibold"/>
              </a:rPr>
              <a:t>Problem Understanding</a:t>
            </a:r>
          </a:p>
        </p:txBody>
      </p:sp>
      <p:sp>
        <p:nvSpPr>
          <p:cNvPr id="11" name="TextBox 10"/>
          <p:cNvSpPr txBox="1"/>
          <p:nvPr/>
        </p:nvSpPr>
        <p:spPr>
          <a:xfrm>
            <a:off x="1261872" y="1798955"/>
            <a:ext cx="4754880" cy="219456"/>
          </a:xfrm>
          <a:prstGeom prst="rect">
            <a:avLst/>
          </a:prstGeom>
          <a:noFill/>
        </p:spPr>
        <p:txBody>
          <a:bodyPr wrap="square" lIns="0" rIns="0" tIns="0" bIns="0" anchor="t">
            <a:spAutoFit/>
          </a:bodyPr>
          <a:lstStyle/>
          <a:p>
            <a:r>
              <a:rPr sz="950" b="0" i="0">
                <a:solidFill>
                  <a:srgbClr val="7B8C9E"/>
                </a:solidFill>
                <a:latin typeface="Segoe UI"/>
              </a:rPr>
              <a:t>Clarity of problem, objectives, motivation</a:t>
            </a:r>
          </a:p>
        </p:txBody>
      </p:sp>
      <p:sp>
        <p:nvSpPr>
          <p:cNvPr id="12" name="TextBox 11"/>
          <p:cNvSpPr txBox="1"/>
          <p:nvPr/>
        </p:nvSpPr>
        <p:spPr>
          <a:xfrm>
            <a:off x="6291071" y="167093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3</a:t>
            </a:r>
          </a:p>
        </p:txBody>
      </p:sp>
      <p:sp>
        <p:nvSpPr>
          <p:cNvPr id="13" name="Rounded Rectangle 12"/>
          <p:cNvSpPr/>
          <p:nvPr/>
        </p:nvSpPr>
        <p:spPr>
          <a:xfrm>
            <a:off x="621792" y="220129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749808" y="232016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237502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2</a:t>
            </a:r>
          </a:p>
        </p:txBody>
      </p:sp>
      <p:sp>
        <p:nvSpPr>
          <p:cNvPr id="16" name="TextBox 15"/>
          <p:cNvSpPr txBox="1"/>
          <p:nvPr/>
        </p:nvSpPr>
        <p:spPr>
          <a:xfrm>
            <a:off x="1261872" y="2301875"/>
            <a:ext cx="3657600" cy="237744"/>
          </a:xfrm>
          <a:prstGeom prst="rect">
            <a:avLst/>
          </a:prstGeom>
          <a:noFill/>
        </p:spPr>
        <p:txBody>
          <a:bodyPr wrap="square" lIns="0" rIns="0" tIns="0" bIns="0" anchor="t">
            <a:spAutoFit/>
          </a:bodyPr>
          <a:lstStyle/>
          <a:p>
            <a:r>
              <a:rPr sz="1250" b="1" i="0">
                <a:solidFill>
                  <a:srgbClr val="10273F"/>
                </a:solidFill>
                <a:latin typeface="Segoe UI Semibold"/>
              </a:rPr>
              <a:t>Research Paper Selection</a:t>
            </a:r>
          </a:p>
        </p:txBody>
      </p:sp>
      <p:sp>
        <p:nvSpPr>
          <p:cNvPr id="17" name="TextBox 16"/>
          <p:cNvSpPr txBox="1"/>
          <p:nvPr/>
        </p:nvSpPr>
        <p:spPr>
          <a:xfrm>
            <a:off x="1261872" y="2530475"/>
            <a:ext cx="4754880" cy="219456"/>
          </a:xfrm>
          <a:prstGeom prst="rect">
            <a:avLst/>
          </a:prstGeom>
          <a:noFill/>
        </p:spPr>
        <p:txBody>
          <a:bodyPr wrap="square" lIns="0" rIns="0" tIns="0" bIns="0" anchor="t">
            <a:spAutoFit/>
          </a:bodyPr>
          <a:lstStyle/>
          <a:p>
            <a:r>
              <a:rPr sz="950" b="0" i="0">
                <a:solidFill>
                  <a:srgbClr val="7B8C9E"/>
                </a:solidFill>
                <a:latin typeface="Segoe UI"/>
              </a:rPr>
              <a:t>Relevance, novelty, correctness of base paper</a:t>
            </a:r>
          </a:p>
        </p:txBody>
      </p:sp>
      <p:sp>
        <p:nvSpPr>
          <p:cNvPr id="18" name="TextBox 17"/>
          <p:cNvSpPr txBox="1"/>
          <p:nvPr/>
        </p:nvSpPr>
        <p:spPr>
          <a:xfrm>
            <a:off x="6291071" y="240245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6</a:t>
            </a:r>
          </a:p>
        </p:txBody>
      </p:sp>
      <p:sp>
        <p:nvSpPr>
          <p:cNvPr id="19" name="Rounded Rectangle 18"/>
          <p:cNvSpPr/>
          <p:nvPr/>
        </p:nvSpPr>
        <p:spPr>
          <a:xfrm>
            <a:off x="621792" y="293281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749808" y="305168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9808" y="310654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3</a:t>
            </a:r>
          </a:p>
        </p:txBody>
      </p:sp>
      <p:sp>
        <p:nvSpPr>
          <p:cNvPr id="22" name="TextBox 21"/>
          <p:cNvSpPr txBox="1"/>
          <p:nvPr/>
        </p:nvSpPr>
        <p:spPr>
          <a:xfrm>
            <a:off x="1261872" y="3033395"/>
            <a:ext cx="3657600" cy="237744"/>
          </a:xfrm>
          <a:prstGeom prst="rect">
            <a:avLst/>
          </a:prstGeom>
          <a:noFill/>
        </p:spPr>
        <p:txBody>
          <a:bodyPr wrap="square" lIns="0" rIns="0" tIns="0" bIns="0" anchor="t">
            <a:spAutoFit/>
          </a:bodyPr>
          <a:lstStyle/>
          <a:p>
            <a:r>
              <a:rPr sz="1250" b="1" i="0">
                <a:solidFill>
                  <a:srgbClr val="10273F"/>
                </a:solidFill>
                <a:latin typeface="Segoe UI Semibold"/>
              </a:rPr>
              <a:t>Literature Review Depth</a:t>
            </a:r>
          </a:p>
        </p:txBody>
      </p:sp>
      <p:sp>
        <p:nvSpPr>
          <p:cNvPr id="23" name="TextBox 22"/>
          <p:cNvSpPr txBox="1"/>
          <p:nvPr/>
        </p:nvSpPr>
        <p:spPr>
          <a:xfrm>
            <a:off x="1261872" y="3261995"/>
            <a:ext cx="4754880" cy="219456"/>
          </a:xfrm>
          <a:prstGeom prst="rect">
            <a:avLst/>
          </a:prstGeom>
          <a:noFill/>
        </p:spPr>
        <p:txBody>
          <a:bodyPr wrap="square" lIns="0" rIns="0" tIns="0" bIns="0" anchor="t">
            <a:spAutoFit/>
          </a:bodyPr>
          <a:lstStyle/>
          <a:p>
            <a:r>
              <a:rPr sz="950" b="0" i="0">
                <a:solidFill>
                  <a:srgbClr val="7B8C9E"/>
                </a:solidFill>
                <a:latin typeface="Segoe UI"/>
              </a:rPr>
              <a:t>Related work identification &amp; comparison</a:t>
            </a:r>
          </a:p>
        </p:txBody>
      </p:sp>
      <p:sp>
        <p:nvSpPr>
          <p:cNvPr id="24" name="TextBox 23"/>
          <p:cNvSpPr txBox="1"/>
          <p:nvPr/>
        </p:nvSpPr>
        <p:spPr>
          <a:xfrm>
            <a:off x="6291071" y="313397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7</a:t>
            </a:r>
          </a:p>
        </p:txBody>
      </p:sp>
      <p:sp>
        <p:nvSpPr>
          <p:cNvPr id="25" name="Rounded Rectangle 24"/>
          <p:cNvSpPr/>
          <p:nvPr/>
        </p:nvSpPr>
        <p:spPr>
          <a:xfrm>
            <a:off x="621792" y="366433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49808" y="378320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49808" y="383806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4</a:t>
            </a:r>
          </a:p>
        </p:txBody>
      </p:sp>
      <p:sp>
        <p:nvSpPr>
          <p:cNvPr id="28" name="TextBox 27"/>
          <p:cNvSpPr txBox="1"/>
          <p:nvPr/>
        </p:nvSpPr>
        <p:spPr>
          <a:xfrm>
            <a:off x="1261872" y="3764915"/>
            <a:ext cx="3657600" cy="237744"/>
          </a:xfrm>
          <a:prstGeom prst="rect">
            <a:avLst/>
          </a:prstGeom>
          <a:noFill/>
        </p:spPr>
        <p:txBody>
          <a:bodyPr wrap="square" lIns="0" rIns="0" tIns="0" bIns="0" anchor="t">
            <a:spAutoFit/>
          </a:bodyPr>
          <a:lstStyle/>
          <a:p>
            <a:r>
              <a:rPr sz="1250" b="1" i="0">
                <a:solidFill>
                  <a:srgbClr val="10273F"/>
                </a:solidFill>
                <a:latin typeface="Segoe UI Semibold"/>
              </a:rPr>
              <a:t>Dataset Identification</a:t>
            </a:r>
          </a:p>
        </p:txBody>
      </p:sp>
      <p:sp>
        <p:nvSpPr>
          <p:cNvPr id="29" name="TextBox 28"/>
          <p:cNvSpPr txBox="1"/>
          <p:nvPr/>
        </p:nvSpPr>
        <p:spPr>
          <a:xfrm>
            <a:off x="1261872" y="3993515"/>
            <a:ext cx="4754880" cy="219456"/>
          </a:xfrm>
          <a:prstGeom prst="rect">
            <a:avLst/>
          </a:prstGeom>
          <a:noFill/>
        </p:spPr>
        <p:txBody>
          <a:bodyPr wrap="square" lIns="0" rIns="0" tIns="0" bIns="0" anchor="t">
            <a:spAutoFit/>
          </a:bodyPr>
          <a:lstStyle/>
          <a:p>
            <a:r>
              <a:rPr sz="950" b="0" i="0">
                <a:solidFill>
                  <a:srgbClr val="7B8C9E"/>
                </a:solidFill>
                <a:latin typeface="Segoe UI"/>
              </a:rPr>
              <a:t>Appropriateness, data format, challenges</a:t>
            </a:r>
          </a:p>
        </p:txBody>
      </p:sp>
      <p:sp>
        <p:nvSpPr>
          <p:cNvPr id="30" name="TextBox 29"/>
          <p:cNvSpPr txBox="1"/>
          <p:nvPr/>
        </p:nvSpPr>
        <p:spPr>
          <a:xfrm>
            <a:off x="6291071" y="386549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10</a:t>
            </a:r>
          </a:p>
        </p:txBody>
      </p:sp>
      <p:sp>
        <p:nvSpPr>
          <p:cNvPr id="31" name="Rounded Rectangle 30"/>
          <p:cNvSpPr/>
          <p:nvPr/>
        </p:nvSpPr>
        <p:spPr>
          <a:xfrm>
            <a:off x="621792" y="4395851"/>
            <a:ext cx="6720840" cy="621792"/>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749808" y="4514723"/>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9808" y="4569587"/>
            <a:ext cx="384048" cy="274320"/>
          </a:xfrm>
          <a:prstGeom prst="rect">
            <a:avLst/>
          </a:prstGeom>
          <a:noFill/>
        </p:spPr>
        <p:txBody>
          <a:bodyPr wrap="square" lIns="0" rIns="0" tIns="0" bIns="0" anchor="t">
            <a:spAutoFit/>
          </a:bodyPr>
          <a:lstStyle/>
          <a:p>
            <a:pPr algn="ctr"/>
            <a:r>
              <a:rPr sz="1300" b="1" i="0">
                <a:solidFill>
                  <a:srgbClr val="FFFFFF"/>
                </a:solidFill>
                <a:latin typeface="Segoe UI Semibold"/>
              </a:rPr>
              <a:t>5</a:t>
            </a:r>
          </a:p>
        </p:txBody>
      </p:sp>
      <p:sp>
        <p:nvSpPr>
          <p:cNvPr id="34" name="TextBox 33"/>
          <p:cNvSpPr txBox="1"/>
          <p:nvPr/>
        </p:nvSpPr>
        <p:spPr>
          <a:xfrm>
            <a:off x="1261872" y="4496435"/>
            <a:ext cx="3657600" cy="237744"/>
          </a:xfrm>
          <a:prstGeom prst="rect">
            <a:avLst/>
          </a:prstGeom>
          <a:noFill/>
        </p:spPr>
        <p:txBody>
          <a:bodyPr wrap="square" lIns="0" rIns="0" tIns="0" bIns="0" anchor="t">
            <a:spAutoFit/>
          </a:bodyPr>
          <a:lstStyle/>
          <a:p>
            <a:r>
              <a:rPr sz="1250" b="1" i="0">
                <a:solidFill>
                  <a:srgbClr val="10273F"/>
                </a:solidFill>
                <a:latin typeface="Segoe UI Semibold"/>
              </a:rPr>
              <a:t>Project Feasibility &amp; Plan</a:t>
            </a:r>
          </a:p>
        </p:txBody>
      </p:sp>
      <p:sp>
        <p:nvSpPr>
          <p:cNvPr id="35" name="TextBox 34"/>
          <p:cNvSpPr txBox="1"/>
          <p:nvPr/>
        </p:nvSpPr>
        <p:spPr>
          <a:xfrm>
            <a:off x="1261872" y="4725035"/>
            <a:ext cx="4754880" cy="219456"/>
          </a:xfrm>
          <a:prstGeom prst="rect">
            <a:avLst/>
          </a:prstGeom>
          <a:noFill/>
        </p:spPr>
        <p:txBody>
          <a:bodyPr wrap="square" lIns="0" rIns="0" tIns="0" bIns="0" anchor="t">
            <a:spAutoFit/>
          </a:bodyPr>
          <a:lstStyle/>
          <a:p>
            <a:r>
              <a:rPr sz="950" b="0" i="0">
                <a:solidFill>
                  <a:srgbClr val="7B8C9E"/>
                </a:solidFill>
                <a:latin typeface="Segoe UI"/>
              </a:rPr>
              <a:t>Workflow, timeline, results, risks</a:t>
            </a:r>
          </a:p>
        </p:txBody>
      </p:sp>
      <p:sp>
        <p:nvSpPr>
          <p:cNvPr id="36" name="TextBox 35"/>
          <p:cNvSpPr txBox="1"/>
          <p:nvPr/>
        </p:nvSpPr>
        <p:spPr>
          <a:xfrm>
            <a:off x="6291071" y="4597019"/>
            <a:ext cx="914400" cy="237744"/>
          </a:xfrm>
          <a:prstGeom prst="rect">
            <a:avLst/>
          </a:prstGeom>
          <a:noFill/>
        </p:spPr>
        <p:txBody>
          <a:bodyPr wrap="square" lIns="0" rIns="0" tIns="0" bIns="0" anchor="t">
            <a:spAutoFit/>
          </a:bodyPr>
          <a:lstStyle/>
          <a:p>
            <a:pPr algn="r"/>
            <a:r>
              <a:rPr sz="900" b="1" i="0">
                <a:solidFill>
                  <a:srgbClr val="0E7C86"/>
                </a:solidFill>
                <a:latin typeface="Segoe UI"/>
              </a:rPr>
              <a:t>slide 12</a:t>
            </a:r>
          </a:p>
        </p:txBody>
      </p:sp>
      <p:sp>
        <p:nvSpPr>
          <p:cNvPr id="37" name="Rounded Rectangle 36"/>
          <p:cNvSpPr/>
          <p:nvPr/>
        </p:nvSpPr>
        <p:spPr>
          <a:xfrm>
            <a:off x="7616952" y="1469771"/>
            <a:ext cx="3952951" cy="3054096"/>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891272" y="1707515"/>
            <a:ext cx="3404311" cy="274320"/>
          </a:xfrm>
          <a:prstGeom prst="rect">
            <a:avLst/>
          </a:prstGeom>
          <a:noFill/>
        </p:spPr>
        <p:txBody>
          <a:bodyPr wrap="square" lIns="0" rIns="0" tIns="0" bIns="0" anchor="t">
            <a:spAutoFit/>
          </a:bodyPr>
          <a:lstStyle/>
          <a:p>
            <a:r>
              <a:rPr sz="1000" b="1" i="0">
                <a:solidFill>
                  <a:srgbClr val="6FC5CE"/>
                </a:solidFill>
                <a:latin typeface="Segoe UI Semibold"/>
              </a:rPr>
              <a:t>THE THESIS</a:t>
            </a:r>
          </a:p>
        </p:txBody>
      </p:sp>
      <p:sp>
        <p:nvSpPr>
          <p:cNvPr id="39" name="TextBox 38"/>
          <p:cNvSpPr txBox="1"/>
          <p:nvPr/>
        </p:nvSpPr>
        <p:spPr>
          <a:xfrm>
            <a:off x="7891272" y="2073275"/>
            <a:ext cx="3404311" cy="2194560"/>
          </a:xfrm>
          <a:prstGeom prst="rect">
            <a:avLst/>
          </a:prstGeom>
          <a:noFill/>
        </p:spPr>
        <p:txBody>
          <a:bodyPr wrap="square" lIns="0" rIns="0" tIns="0" bIns="0" anchor="t">
            <a:spAutoFit/>
          </a:bodyPr>
          <a:lstStyle/>
          <a:p>
            <a:pPr>
              <a:lnSpc>
                <a:spcPct val="134000"/>
              </a:lnSpc>
            </a:pPr>
            <a:r>
              <a:rPr sz="1350" b="0" i="0">
                <a:solidFill>
                  <a:srgbClr val="FFFFFF"/>
                </a:solidFill>
                <a:latin typeface="Segoe UI"/>
              </a:rPr>
              <a:t>Represent a classroom as a dynamic scene graph — students are nodes, attention behaviours are edges — keep identity stable within the session, and reason over how that graph evolves to recognise individual and group engagement.</a:t>
            </a:r>
          </a:p>
        </p:txBody>
      </p:sp>
      <p:sp>
        <p:nvSpPr>
          <p:cNvPr id="40" name="Rounded Rectangle 39"/>
          <p:cNvSpPr/>
          <p:nvPr/>
        </p:nvSpPr>
        <p:spPr>
          <a:xfrm>
            <a:off x="7616952" y="4670171"/>
            <a:ext cx="3952951" cy="786384"/>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7616952" y="4761611"/>
            <a:ext cx="50292" cy="603503"/>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54696" y="4816475"/>
            <a:ext cx="3532327" cy="51206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Status at this review</a:t>
            </a:r>
          </a:p>
          <a:p>
            <a:pPr>
              <a:lnSpc>
                <a:spcPct val="118000"/>
              </a:lnSpc>
              <a:spcAft>
                <a:spcPts val="300"/>
              </a:spcAft>
            </a:pPr>
            <a:r>
              <a:rPr sz="950" b="0" i="0">
                <a:solidFill>
                  <a:srgbClr val="3C5066"/>
                </a:solidFill>
                <a:latin typeface="Segoe UI"/>
              </a:rPr>
              <a:t>Stages 1–2 implemented, 109 automated tests passing, validated on real classroom footage.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1 — PROBLEM UNDERSTANDING</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Attendance is solved. Engagement is not.</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The classroom already has cameras. What it does not have is any way to answer the question a teacher actually cares about.</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3</a:t>
            </a:r>
          </a:p>
        </p:txBody>
      </p:sp>
      <p:sp>
        <p:nvSpPr>
          <p:cNvPr id="9" name="Rounded Rectangle 8"/>
          <p:cNvSpPr/>
          <p:nvPr/>
        </p:nvSpPr>
        <p:spPr>
          <a:xfrm>
            <a:off x="621792" y="1689227"/>
            <a:ext cx="5623560"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780667"/>
            <a:ext cx="50292" cy="1298448"/>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9536" y="1835530"/>
            <a:ext cx="5202936" cy="1207008"/>
          </a:xfrm>
          <a:prstGeom prst="rect">
            <a:avLst/>
          </a:prstGeom>
          <a:noFill/>
        </p:spPr>
        <p:txBody>
          <a:bodyPr wrap="square" lIns="0" rIns="0" tIns="0" bIns="0" anchor="t">
            <a:spAutoFit/>
          </a:bodyPr>
          <a:lstStyle/>
          <a:p>
            <a:pPr>
              <a:lnSpc>
                <a:spcPct val="105000"/>
              </a:lnSpc>
              <a:spcAft>
                <a:spcPts val="500"/>
              </a:spcAft>
            </a:pPr>
            <a:r>
              <a:rPr sz="1300" b="1" i="0">
                <a:solidFill>
                  <a:srgbClr val="10273F"/>
                </a:solidFill>
                <a:latin typeface="Segoe UI Semibold"/>
              </a:rPr>
              <a:t>The problem</a:t>
            </a:r>
          </a:p>
          <a:p>
            <a:pPr>
              <a:lnSpc>
                <a:spcPct val="118000"/>
              </a:lnSpc>
              <a:spcAft>
                <a:spcPts val="300"/>
              </a:spcAft>
            </a:pPr>
            <a:r>
              <a:rPr sz="1050" b="0" i="0">
                <a:solidFill>
                  <a:srgbClr val="3C5066"/>
                </a:solidFill>
                <a:latin typeface="Segoe UI"/>
              </a:rPr>
              <a:t>A teacher cannot continuously observe 30–40 students while also teaching.</a:t>
            </a:r>
          </a:p>
          <a:p>
            <a:pPr>
              <a:lnSpc>
                <a:spcPct val="118000"/>
              </a:lnSpc>
              <a:spcAft>
                <a:spcPts val="300"/>
              </a:spcAft>
            </a:pPr>
            <a:r>
              <a:rPr sz="1050" b="0" i="0">
                <a:solidFill>
                  <a:srgbClr val="3C5066"/>
                </a:solidFill>
                <a:latin typeface="Segoe UI"/>
              </a:rPr>
              <a:t>Manual observation is subjective, sampled at a few moments, and does not scale to every student across a whole lecture.</a:t>
            </a:r>
          </a:p>
        </p:txBody>
      </p:sp>
      <p:sp>
        <p:nvSpPr>
          <p:cNvPr id="12" name="Rounded Rectangle 11"/>
          <p:cNvSpPr/>
          <p:nvPr/>
        </p:nvSpPr>
        <p:spPr>
          <a:xfrm>
            <a:off x="6519672" y="1689227"/>
            <a:ext cx="5623560"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519672" y="1780667"/>
            <a:ext cx="50292" cy="1298448"/>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757416" y="1835530"/>
            <a:ext cx="5202936" cy="1207008"/>
          </a:xfrm>
          <a:prstGeom prst="rect">
            <a:avLst/>
          </a:prstGeom>
          <a:noFill/>
        </p:spPr>
        <p:txBody>
          <a:bodyPr wrap="square" lIns="0" rIns="0" tIns="0" bIns="0" anchor="t">
            <a:spAutoFit/>
          </a:bodyPr>
          <a:lstStyle/>
          <a:p>
            <a:pPr>
              <a:lnSpc>
                <a:spcPct val="105000"/>
              </a:lnSpc>
              <a:spcAft>
                <a:spcPts val="500"/>
              </a:spcAft>
            </a:pPr>
            <a:r>
              <a:rPr sz="1300" b="1" i="0">
                <a:solidFill>
                  <a:srgbClr val="10273F"/>
                </a:solidFill>
                <a:latin typeface="Segoe UI Semibold"/>
              </a:rPr>
              <a:t>Why existing tools fall short</a:t>
            </a:r>
          </a:p>
          <a:p>
            <a:pPr>
              <a:lnSpc>
                <a:spcPct val="118000"/>
              </a:lnSpc>
              <a:spcAft>
                <a:spcPts val="300"/>
              </a:spcAft>
            </a:pPr>
            <a:r>
              <a:rPr sz="1050" b="0" i="0">
                <a:solidFill>
                  <a:srgbClr val="3C5066"/>
                </a:solidFill>
                <a:latin typeface="Segoe UI"/>
              </a:rPr>
              <a:t>Attendance and face-recognition systems answer “who is present”, not “who is engaged”.</a:t>
            </a:r>
          </a:p>
          <a:p>
            <a:pPr>
              <a:lnSpc>
                <a:spcPct val="118000"/>
              </a:lnSpc>
              <a:spcAft>
                <a:spcPts val="300"/>
              </a:spcAft>
            </a:pPr>
            <a:r>
              <a:rPr sz="1050" b="0" i="0">
                <a:solidFill>
                  <a:srgbClr val="3C5066"/>
                </a:solidFill>
                <a:latin typeface="Segoe UI"/>
              </a:rPr>
              <a:t>Emotion classifiers give a per-frame label with no memory — no system reasons about behaviour over time or across the group.</a:t>
            </a:r>
          </a:p>
        </p:txBody>
      </p:sp>
      <p:sp>
        <p:nvSpPr>
          <p:cNvPr id="15" name="TextBox 14"/>
          <p:cNvSpPr txBox="1"/>
          <p:nvPr/>
        </p:nvSpPr>
        <p:spPr>
          <a:xfrm>
            <a:off x="621792" y="3390011"/>
            <a:ext cx="10948111" cy="274320"/>
          </a:xfrm>
          <a:prstGeom prst="rect">
            <a:avLst/>
          </a:prstGeom>
          <a:noFill/>
        </p:spPr>
        <p:txBody>
          <a:bodyPr wrap="square" lIns="0" rIns="0" tIns="0" bIns="0" anchor="t">
            <a:spAutoFit/>
          </a:bodyPr>
          <a:lstStyle/>
          <a:p>
            <a:r>
              <a:rPr sz="1350" b="1" i="0">
                <a:solidFill>
                  <a:srgbClr val="10273F"/>
                </a:solidFill>
                <a:latin typeface="Segoe UI Semibold"/>
              </a:rPr>
              <a:t>What we mean by “engagement” — defined before it is measured</a:t>
            </a:r>
          </a:p>
        </p:txBody>
      </p:sp>
      <p:sp>
        <p:nvSpPr>
          <p:cNvPr id="16" name="TextBox 15"/>
          <p:cNvSpPr txBox="1"/>
          <p:nvPr/>
        </p:nvSpPr>
        <p:spPr>
          <a:xfrm>
            <a:off x="621792" y="3700907"/>
            <a:ext cx="10948111" cy="914400"/>
          </a:xfrm>
          <a:prstGeom prst="rect">
            <a:avLst/>
          </a:prstGeom>
          <a:noFill/>
        </p:spPr>
        <p:txBody>
          <a:bodyPr wrap="square" lIns="0" rIns="0" tIns="0" bIns="0" anchor="t">
            <a:spAutoFit/>
          </a:bodyPr>
          <a:lstStyle/>
          <a:p>
            <a:pPr>
              <a:lnSpc>
                <a:spcPct val="122000"/>
              </a:lnSpc>
            </a:pPr>
            <a:r>
              <a:rPr sz="1100" b="0" i="0">
                <a:solidFill>
                  <a:srgbClr val="3C5066"/>
                </a:solidFill>
                <a:latin typeface="Segoe UI"/>
              </a:rPr>
              <a:t>We measure </a:t>
            </a:r>
            <a:r>
              <a:rPr sz="1100" b="1" i="0">
                <a:solidFill>
                  <a:srgbClr val="0E7C86"/>
                </a:solidFill>
                <a:latin typeface="Segoe UI"/>
              </a:rPr>
              <a:t>observable behaviour</a:t>
            </a:r>
            <a:r>
              <a:rPr sz="1100" b="0" i="0">
                <a:solidFill>
                  <a:srgbClr val="3C5066"/>
                </a:solidFill>
                <a:latin typeface="Segoe UI"/>
              </a:rPr>
              <a:t>, not inner emotional state. </a:t>
            </a:r>
            <a:r>
              <a:rPr sz="1100" b="0" i="0">
                <a:solidFill>
                  <a:srgbClr val="3C5066"/>
                </a:solidFill>
                <a:latin typeface="Segoe UI"/>
              </a:rPr>
              <a:t>Where a student is looking, whether their eyes are open, whether a phone is present, how their body is oriented, and how all of that changes over time. </a:t>
            </a:r>
            <a:r>
              <a:rPr sz="1100" b="0" i="0">
                <a:solidFill>
                  <a:srgbClr val="B47A14"/>
                </a:solidFill>
                <a:latin typeface="Segoe UI"/>
              </a:rPr>
              <a:t>We never infer feelings — that is both scientifically weaker and, in education settings, legally restricted.</a:t>
            </a:r>
          </a:p>
        </p:txBody>
      </p:sp>
      <p:sp>
        <p:nvSpPr>
          <p:cNvPr id="17" name="Rounded Rectangle 16"/>
          <p:cNvSpPr/>
          <p:nvPr/>
        </p:nvSpPr>
        <p:spPr>
          <a:xfrm>
            <a:off x="621792"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49808"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Detect</a:t>
            </a:r>
          </a:p>
        </p:txBody>
      </p:sp>
      <p:sp>
        <p:nvSpPr>
          <p:cNvPr id="19" name="TextBox 18"/>
          <p:cNvSpPr txBox="1"/>
          <p:nvPr/>
        </p:nvSpPr>
        <p:spPr>
          <a:xfrm>
            <a:off x="749808"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every student in frame, including back rows</a:t>
            </a:r>
          </a:p>
        </p:txBody>
      </p:sp>
      <p:sp>
        <p:nvSpPr>
          <p:cNvPr id="20" name="Rounded Rectangle 19"/>
          <p:cNvSpPr/>
          <p:nvPr/>
        </p:nvSpPr>
        <p:spPr>
          <a:xfrm>
            <a:off x="2470861"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98877"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Track</a:t>
            </a:r>
          </a:p>
        </p:txBody>
      </p:sp>
      <p:sp>
        <p:nvSpPr>
          <p:cNvPr id="22" name="TextBox 21"/>
          <p:cNvSpPr txBox="1"/>
          <p:nvPr/>
        </p:nvSpPr>
        <p:spPr>
          <a:xfrm>
            <a:off x="2598877"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stable identity for the whole session</a:t>
            </a:r>
          </a:p>
        </p:txBody>
      </p:sp>
      <p:sp>
        <p:nvSpPr>
          <p:cNvPr id="23" name="Rounded Rectangle 22"/>
          <p:cNvSpPr/>
          <p:nvPr/>
        </p:nvSpPr>
        <p:spPr>
          <a:xfrm>
            <a:off x="4319930"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447946"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Estimate</a:t>
            </a:r>
          </a:p>
        </p:txBody>
      </p:sp>
      <p:sp>
        <p:nvSpPr>
          <p:cNvPr id="25" name="TextBox 24"/>
          <p:cNvSpPr txBox="1"/>
          <p:nvPr/>
        </p:nvSpPr>
        <p:spPr>
          <a:xfrm>
            <a:off x="4447946"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attention state over a time window</a:t>
            </a:r>
          </a:p>
        </p:txBody>
      </p:sp>
      <p:sp>
        <p:nvSpPr>
          <p:cNvPr id="26" name="Rounded Rectangle 25"/>
          <p:cNvSpPr/>
          <p:nvPr/>
        </p:nvSpPr>
        <p:spPr>
          <a:xfrm>
            <a:off x="6168999"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97015"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Flag</a:t>
            </a:r>
          </a:p>
        </p:txBody>
      </p:sp>
      <p:sp>
        <p:nvSpPr>
          <p:cNvPr id="28" name="TextBox 27"/>
          <p:cNvSpPr txBox="1"/>
          <p:nvPr/>
        </p:nvSpPr>
        <p:spPr>
          <a:xfrm>
            <a:off x="6297015"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device distraction &amp; eye closure</a:t>
            </a:r>
          </a:p>
        </p:txBody>
      </p:sp>
      <p:sp>
        <p:nvSpPr>
          <p:cNvPr id="29" name="Rounded Rectangle 28"/>
          <p:cNvSpPr/>
          <p:nvPr/>
        </p:nvSpPr>
        <p:spPr>
          <a:xfrm>
            <a:off x="8018068"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146084"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Relate</a:t>
            </a:r>
          </a:p>
        </p:txBody>
      </p:sp>
      <p:sp>
        <p:nvSpPr>
          <p:cNvPr id="31" name="TextBox 30"/>
          <p:cNvSpPr txBox="1"/>
          <p:nvPr/>
        </p:nvSpPr>
        <p:spPr>
          <a:xfrm>
            <a:off x="8146084"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peer orientation &amp; group activity</a:t>
            </a:r>
          </a:p>
        </p:txBody>
      </p:sp>
      <p:sp>
        <p:nvSpPr>
          <p:cNvPr id="32" name="Rounded Rectangle 31"/>
          <p:cNvSpPr/>
          <p:nvPr/>
        </p:nvSpPr>
        <p:spPr>
          <a:xfrm>
            <a:off x="9867138" y="4725035"/>
            <a:ext cx="1702765" cy="102412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995154" y="4853051"/>
            <a:ext cx="1446733" cy="237744"/>
          </a:xfrm>
          <a:prstGeom prst="rect">
            <a:avLst/>
          </a:prstGeom>
          <a:noFill/>
        </p:spPr>
        <p:txBody>
          <a:bodyPr wrap="square" lIns="0" rIns="0" tIns="0" bIns="0" anchor="t">
            <a:spAutoFit/>
          </a:bodyPr>
          <a:lstStyle/>
          <a:p>
            <a:r>
              <a:rPr sz="1200" b="1" i="0">
                <a:solidFill>
                  <a:srgbClr val="085961"/>
                </a:solidFill>
                <a:latin typeface="Segoe UI Semibold"/>
              </a:rPr>
              <a:t>Report</a:t>
            </a:r>
          </a:p>
        </p:txBody>
      </p:sp>
      <p:sp>
        <p:nvSpPr>
          <p:cNvPr id="34" name="TextBox 33"/>
          <p:cNvSpPr txBox="1"/>
          <p:nvPr/>
        </p:nvSpPr>
        <p:spPr>
          <a:xfrm>
            <a:off x="9995154" y="5127371"/>
            <a:ext cx="1446733" cy="56692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trajectories + class-level trends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1 — MOTIVATION</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Why this matters, and why now</a:t>
            </a:r>
          </a:p>
        </p:txBody>
      </p:sp>
      <p:sp>
        <p:nvSpPr>
          <p:cNvPr id="5" name="Rectangle 4"/>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7" name="TextBox 6"/>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4</a:t>
            </a:r>
          </a:p>
        </p:txBody>
      </p:sp>
      <p:sp>
        <p:nvSpPr>
          <p:cNvPr id="8" name="Rounded Rectangle 7"/>
          <p:cNvSpPr/>
          <p:nvPr/>
        </p:nvSpPr>
        <p:spPr>
          <a:xfrm>
            <a:off x="621792" y="1373886"/>
            <a:ext cx="2572435"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49808" y="1520189"/>
            <a:ext cx="2316403" cy="548640"/>
          </a:xfrm>
          <a:prstGeom prst="rect">
            <a:avLst/>
          </a:prstGeom>
          <a:noFill/>
        </p:spPr>
        <p:txBody>
          <a:bodyPr wrap="square" lIns="0" rIns="0" tIns="0" bIns="0" anchor="t">
            <a:spAutoFit/>
          </a:bodyPr>
          <a:lstStyle/>
          <a:p>
            <a:pPr algn="ctr"/>
            <a:r>
              <a:rPr sz="3000" b="1" i="0">
                <a:solidFill>
                  <a:srgbClr val="0E7C86"/>
                </a:solidFill>
                <a:latin typeface="Segoe UI Semibold"/>
              </a:rPr>
              <a:t>30–40</a:t>
            </a:r>
          </a:p>
        </p:txBody>
      </p:sp>
      <p:sp>
        <p:nvSpPr>
          <p:cNvPr id="10" name="TextBox 9"/>
          <p:cNvSpPr txBox="1"/>
          <p:nvPr/>
        </p:nvSpPr>
        <p:spPr>
          <a:xfrm>
            <a:off x="749808" y="2123694"/>
            <a:ext cx="2316403" cy="612648"/>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students one teacher must monitor simultaneously in a typical class</a:t>
            </a:r>
          </a:p>
        </p:txBody>
      </p:sp>
      <p:sp>
        <p:nvSpPr>
          <p:cNvPr id="11" name="Rounded Rectangle 10"/>
          <p:cNvSpPr/>
          <p:nvPr/>
        </p:nvSpPr>
        <p:spPr>
          <a:xfrm>
            <a:off x="3413683" y="1373886"/>
            <a:ext cx="2572435"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541699" y="1520189"/>
            <a:ext cx="2316403" cy="548640"/>
          </a:xfrm>
          <a:prstGeom prst="rect">
            <a:avLst/>
          </a:prstGeom>
          <a:noFill/>
        </p:spPr>
        <p:txBody>
          <a:bodyPr wrap="square" lIns="0" rIns="0" tIns="0" bIns="0" anchor="t">
            <a:spAutoFit/>
          </a:bodyPr>
          <a:lstStyle/>
          <a:p>
            <a:pPr algn="ctr"/>
            <a:r>
              <a:rPr sz="3000" b="1" i="0">
                <a:solidFill>
                  <a:srgbClr val="B47A14"/>
                </a:solidFill>
                <a:latin typeface="Segoe UI Semibold"/>
              </a:rPr>
              <a:t>~50%</a:t>
            </a:r>
          </a:p>
        </p:txBody>
      </p:sp>
      <p:sp>
        <p:nvSpPr>
          <p:cNvPr id="13" name="TextBox 12"/>
          <p:cNvSpPr txBox="1"/>
          <p:nvPr/>
        </p:nvSpPr>
        <p:spPr>
          <a:xfrm>
            <a:off x="3541699" y="2123694"/>
            <a:ext cx="2316403" cy="612648"/>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of detected students have no usable face from a real ceiling camera — measured on our own footage</a:t>
            </a:r>
          </a:p>
        </p:txBody>
      </p:sp>
      <p:sp>
        <p:nvSpPr>
          <p:cNvPr id="14" name="Rounded Rectangle 13"/>
          <p:cNvSpPr/>
          <p:nvPr/>
        </p:nvSpPr>
        <p:spPr>
          <a:xfrm>
            <a:off x="6205575" y="1373886"/>
            <a:ext cx="2572435"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33591" y="1520189"/>
            <a:ext cx="2316403" cy="548640"/>
          </a:xfrm>
          <a:prstGeom prst="rect">
            <a:avLst/>
          </a:prstGeom>
          <a:noFill/>
        </p:spPr>
        <p:txBody>
          <a:bodyPr wrap="square" lIns="0" rIns="0" tIns="0" bIns="0" anchor="t">
            <a:spAutoFit/>
          </a:bodyPr>
          <a:lstStyle/>
          <a:p>
            <a:pPr algn="ctr"/>
            <a:r>
              <a:rPr sz="3000" b="1" i="0">
                <a:solidFill>
                  <a:srgbClr val="0E7C86"/>
                </a:solidFill>
                <a:latin typeface="Segoe UI Semibold"/>
              </a:rPr>
              <a:t>5</a:t>
            </a:r>
          </a:p>
        </p:txBody>
      </p:sp>
      <p:sp>
        <p:nvSpPr>
          <p:cNvPr id="16" name="TextBox 15"/>
          <p:cNvSpPr txBox="1"/>
          <p:nvPr/>
        </p:nvSpPr>
        <p:spPr>
          <a:xfrm>
            <a:off x="6333591" y="2123694"/>
            <a:ext cx="2316403" cy="612648"/>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mature CV subfields that can now be combined without training from scratch</a:t>
            </a:r>
          </a:p>
        </p:txBody>
      </p:sp>
      <p:sp>
        <p:nvSpPr>
          <p:cNvPr id="17" name="Rounded Rectangle 16"/>
          <p:cNvSpPr/>
          <p:nvPr/>
        </p:nvSpPr>
        <p:spPr>
          <a:xfrm>
            <a:off x="8997467" y="1373886"/>
            <a:ext cx="2572435"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25483" y="1520189"/>
            <a:ext cx="2316403" cy="548640"/>
          </a:xfrm>
          <a:prstGeom prst="rect">
            <a:avLst/>
          </a:prstGeom>
          <a:noFill/>
        </p:spPr>
        <p:txBody>
          <a:bodyPr wrap="square" lIns="0" rIns="0" tIns="0" bIns="0" anchor="t">
            <a:spAutoFit/>
          </a:bodyPr>
          <a:lstStyle/>
          <a:p>
            <a:pPr algn="ctr"/>
            <a:r>
              <a:rPr sz="3000" b="1" i="0">
                <a:solidFill>
                  <a:srgbClr val="B47A14"/>
                </a:solidFill>
                <a:latin typeface="Segoe UI Semibold"/>
              </a:rPr>
              <a:t>0</a:t>
            </a:r>
          </a:p>
        </p:txBody>
      </p:sp>
      <p:sp>
        <p:nvSpPr>
          <p:cNvPr id="19" name="TextBox 18"/>
          <p:cNvSpPr txBox="1"/>
          <p:nvPr/>
        </p:nvSpPr>
        <p:spPr>
          <a:xfrm>
            <a:off x="9125483" y="2123694"/>
            <a:ext cx="2316403" cy="612648"/>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deployed tools that track engagement per student over a full session</a:t>
            </a:r>
          </a:p>
        </p:txBody>
      </p:sp>
      <p:sp>
        <p:nvSpPr>
          <p:cNvPr id="20" name="Rounded Rectangle 19"/>
          <p:cNvSpPr/>
          <p:nvPr/>
        </p:nvSpPr>
        <p:spPr>
          <a:xfrm>
            <a:off x="621792" y="3111246"/>
            <a:ext cx="5623560" cy="129844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1792" y="3202686"/>
            <a:ext cx="50292" cy="111556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59536" y="3257550"/>
            <a:ext cx="5202936" cy="1024127"/>
          </a:xfrm>
          <a:prstGeom prst="rect">
            <a:avLst/>
          </a:prstGeom>
          <a:noFill/>
        </p:spPr>
        <p:txBody>
          <a:bodyPr wrap="square" lIns="0" rIns="0" tIns="0" bIns="0" anchor="t">
            <a:spAutoFit/>
          </a:bodyPr>
          <a:lstStyle/>
          <a:p>
            <a:pPr>
              <a:lnSpc>
                <a:spcPct val="105000"/>
              </a:lnSpc>
              <a:spcAft>
                <a:spcPts val="500"/>
              </a:spcAft>
            </a:pPr>
            <a:r>
              <a:rPr sz="1300" b="1" i="0">
                <a:solidFill>
                  <a:srgbClr val="10273F"/>
                </a:solidFill>
                <a:latin typeface="Segoe UI Semibold"/>
              </a:rPr>
              <a:t>Why now — feasibility changed</a:t>
            </a:r>
          </a:p>
          <a:p>
            <a:pPr>
              <a:lnSpc>
                <a:spcPct val="118000"/>
              </a:lnSpc>
              <a:spcAft>
                <a:spcPts val="300"/>
              </a:spcAft>
            </a:pPr>
            <a:r>
              <a:rPr sz="1050" b="0" i="0">
                <a:solidFill>
                  <a:srgbClr val="3C5066"/>
                </a:solidFill>
                <a:latin typeface="Segoe UI"/>
              </a:rPr>
              <a:t>Detection, face mesh, head pose and body pose are all available as strong pretrained models. The research problem is no longer “can we see it” but “what does it mean, and over what timescale”.</a:t>
            </a:r>
          </a:p>
        </p:txBody>
      </p:sp>
      <p:sp>
        <p:nvSpPr>
          <p:cNvPr id="23" name="Rounded Rectangle 22"/>
          <p:cNvSpPr/>
          <p:nvPr/>
        </p:nvSpPr>
        <p:spPr>
          <a:xfrm>
            <a:off x="6519672" y="3111246"/>
            <a:ext cx="5623560" cy="129844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19672" y="3202686"/>
            <a:ext cx="50292" cy="111556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57416" y="3257550"/>
            <a:ext cx="5202936" cy="1024127"/>
          </a:xfrm>
          <a:prstGeom prst="rect">
            <a:avLst/>
          </a:prstGeom>
          <a:noFill/>
        </p:spPr>
        <p:txBody>
          <a:bodyPr wrap="square" lIns="0" rIns="0" tIns="0" bIns="0" anchor="t">
            <a:spAutoFit/>
          </a:bodyPr>
          <a:lstStyle/>
          <a:p>
            <a:pPr>
              <a:lnSpc>
                <a:spcPct val="105000"/>
              </a:lnSpc>
              <a:spcAft>
                <a:spcPts val="500"/>
              </a:spcAft>
            </a:pPr>
            <a:r>
              <a:rPr sz="1300" b="1" i="0">
                <a:solidFill>
                  <a:srgbClr val="10273F"/>
                </a:solidFill>
                <a:latin typeface="Segoe UI Semibold"/>
              </a:rPr>
              <a:t>Where it applies</a:t>
            </a:r>
          </a:p>
          <a:p>
            <a:pPr>
              <a:lnSpc>
                <a:spcPct val="118000"/>
              </a:lnSpc>
              <a:spcAft>
                <a:spcPts val="300"/>
              </a:spcAft>
            </a:pPr>
            <a:r>
              <a:rPr sz="1050" b="0" i="0">
                <a:solidFill>
                  <a:srgbClr val="3C5066"/>
                </a:solidFill>
                <a:latin typeface="Segoe UI"/>
              </a:rPr>
              <a:t>Schools, colleges and coaching centres · hybrid learning · corporate training · teaching-quality feedback · educational research on attention.</a:t>
            </a:r>
          </a:p>
        </p:txBody>
      </p:sp>
      <p:sp>
        <p:nvSpPr>
          <p:cNvPr id="26" name="Rounded Rectangle 25"/>
          <p:cNvSpPr/>
          <p:nvPr/>
        </p:nvSpPr>
        <p:spPr>
          <a:xfrm>
            <a:off x="621792" y="4629150"/>
            <a:ext cx="10948111" cy="1042415"/>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96112" y="4775454"/>
            <a:ext cx="10399471" cy="804672"/>
          </a:xfrm>
          <a:prstGeom prst="rect">
            <a:avLst/>
          </a:prstGeom>
          <a:noFill/>
        </p:spPr>
        <p:txBody>
          <a:bodyPr wrap="square" lIns="0" rIns="0" tIns="0" bIns="0" anchor="t">
            <a:spAutoFit/>
          </a:bodyPr>
          <a:lstStyle/>
          <a:p>
            <a:pPr>
              <a:lnSpc>
                <a:spcPct val="126000"/>
              </a:lnSpc>
            </a:pPr>
            <a:r>
              <a:rPr sz="1200" b="1" i="0">
                <a:solidFill>
                  <a:srgbClr val="6FC5CE"/>
                </a:solidFill>
                <a:latin typeface="Segoe UI Semibold"/>
              </a:rPr>
              <a:t>Our framing:  </a:t>
            </a:r>
            <a:r>
              <a:rPr sz="1200" b="0" i="0">
                <a:solidFill>
                  <a:srgbClr val="FFFFFF"/>
                </a:solidFill>
                <a:latin typeface="Segoe UI"/>
              </a:rPr>
              <a:t>the useful output is not a score per student — it is a </a:t>
            </a:r>
            <a:r>
              <a:rPr sz="1200" b="1" i="0">
                <a:solidFill>
                  <a:srgbClr val="FFFFFF"/>
                </a:solidFill>
                <a:latin typeface="Segoe UI Semibold"/>
              </a:rPr>
              <a:t>trend a teacher can act on</a:t>
            </a:r>
            <a:r>
              <a:rPr sz="1200" b="0" i="0">
                <a:solidFill>
                  <a:srgbClr val="FFFFFF"/>
                </a:solidFill>
                <a:latin typeface="Segoe UI"/>
              </a:rPr>
              <a:t>. “Attention across the room dropped sharply 22 minutes in” is actionable and fair. “Student 7 is disengaged” is neither.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1 — OBJECTIVES</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Objectives, each with a measurable success criterion</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Stated so progress can be checked rather than asserted. Status reflects this review.</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5</a:t>
            </a:r>
          </a:p>
        </p:txBody>
      </p:sp>
      <p:graphicFrame>
        <p:nvGraphicFramePr>
          <p:cNvPr id="9" name="Table 8"/>
          <p:cNvGraphicFramePr>
            <a:graphicFrameLocks noGrp="1"/>
          </p:cNvGraphicFramePr>
          <p:nvPr/>
        </p:nvGraphicFramePr>
        <p:xfrm>
          <a:off x="621792" y="1689227"/>
          <a:ext cx="10945368" cy="3218688"/>
        </p:xfrm>
        <a:graphic>
          <a:graphicData uri="http://schemas.openxmlformats.org/drawingml/2006/table">
            <a:tbl>
              <a:tblPr>
                <a:tableStyleId>{5C22544A-7EE6-4342-B048-85BDC9FD1C3A}</a:tableStyleId>
              </a:tblPr>
              <a:tblGrid>
                <a:gridCol w="475488"/>
                <a:gridCol w="3017520"/>
                <a:gridCol w="5989320"/>
                <a:gridCol w="1463040"/>
              </a:tblGrid>
              <a:tr h="365760">
                <a:tc>
                  <a:txBody>
                    <a:bodyPr wrap="square"/>
                    <a:lstStyle/>
                    <a:p>
                      <a:r>
                        <a:rPr sz="1000" b="1">
                          <a:solidFill>
                            <a:srgbClr val="FFFFFF"/>
                          </a:solidFill>
                          <a:latin typeface="Segoe UI Semibold"/>
                        </a:rPr>
                        <a:t>#</a:t>
                      </a:r>
                    </a:p>
                  </a:txBody>
                  <a:tcPr marL="91440" marR="73152" marT="36576" marB="36576" anchor="ctr">
                    <a:solidFill>
                      <a:srgbClr val="10273F"/>
                    </a:solidFill>
                  </a:tcPr>
                </a:tc>
                <a:tc>
                  <a:txBody>
                    <a:bodyPr wrap="square"/>
                    <a:lstStyle/>
                    <a:p>
                      <a:r>
                        <a:rPr sz="1000" b="1">
                          <a:solidFill>
                            <a:srgbClr val="FFFFFF"/>
                          </a:solidFill>
                          <a:latin typeface="Segoe UI Semibold"/>
                        </a:rPr>
                        <a:t>Objective</a:t>
                      </a:r>
                    </a:p>
                  </a:txBody>
                  <a:tcPr marL="91440" marR="73152" marT="36576" marB="36576" anchor="ctr">
                    <a:solidFill>
                      <a:srgbClr val="10273F"/>
                    </a:solidFill>
                  </a:tcPr>
                </a:tc>
                <a:tc>
                  <a:txBody>
                    <a:bodyPr wrap="square"/>
                    <a:lstStyle/>
                    <a:p>
                      <a:r>
                        <a:rPr sz="1000" b="1">
                          <a:solidFill>
                            <a:srgbClr val="FFFFFF"/>
                          </a:solidFill>
                          <a:latin typeface="Segoe UI Semibold"/>
                        </a:rPr>
                        <a:t>Measurable success criterion</a:t>
                      </a:r>
                    </a:p>
                  </a:txBody>
                  <a:tcPr marL="91440" marR="73152" marT="36576" marB="36576" anchor="ctr">
                    <a:solidFill>
                      <a:srgbClr val="10273F"/>
                    </a:solidFill>
                  </a:tcPr>
                </a:tc>
                <a:tc>
                  <a:txBody>
                    <a:bodyPr wrap="square"/>
                    <a:lstStyle/>
                    <a:p>
                      <a:r>
                        <a:rPr sz="1000" b="1">
                          <a:solidFill>
                            <a:srgbClr val="FFFFFF"/>
                          </a:solidFill>
                          <a:latin typeface="Segoe UI Semibold"/>
                        </a:rPr>
                        <a:t>Status</a:t>
                      </a:r>
                    </a:p>
                  </a:txBody>
                  <a:tcPr marL="91440" marR="73152" marT="36576" marB="36576" anchor="ctr">
                    <a:solidFill>
                      <a:srgbClr val="10273F"/>
                    </a:solidFill>
                  </a:tcPr>
                </a:tc>
              </a:tr>
              <a:tr h="475488">
                <a:tc>
                  <a:txBody>
                    <a:bodyPr wrap="square"/>
                    <a:lstStyle/>
                    <a:p>
                      <a:r>
                        <a:rPr sz="1000" b="0">
                          <a:solidFill>
                            <a:srgbClr val="3C5066"/>
                          </a:solidFill>
                          <a:latin typeface="Segoe UI"/>
                        </a:rPr>
                        <a:t>O1</a:t>
                      </a:r>
                    </a:p>
                  </a:txBody>
                  <a:tcPr marL="91440" marR="73152" marT="36576" marB="36576" anchor="ctr">
                    <a:solidFill>
                      <a:srgbClr val="FFFFFF"/>
                    </a:solidFill>
                  </a:tcPr>
                </a:tc>
                <a:tc>
                  <a:txBody>
                    <a:bodyPr wrap="square"/>
                    <a:lstStyle/>
                    <a:p>
                      <a:r>
                        <a:rPr sz="1000" b="1">
                          <a:solidFill>
                            <a:srgbClr val="3C5066"/>
                          </a:solidFill>
                          <a:latin typeface="Segoe UI"/>
                        </a:rPr>
                        <a:t>Detect every student in frame</a:t>
                      </a:r>
                    </a:p>
                  </a:txBody>
                  <a:tcPr marL="91440" marR="73152" marT="36576" marB="36576" anchor="ctr">
                    <a:solidFill>
                      <a:srgbClr val="FFFFFF"/>
                    </a:solidFill>
                  </a:tcPr>
                </a:tc>
                <a:tc>
                  <a:txBody>
                    <a:bodyPr wrap="square"/>
                    <a:lstStyle/>
                    <a:p>
                      <a:r>
                        <a:rPr sz="1000" b="0">
                          <a:solidFill>
                            <a:srgbClr val="3C5066"/>
                          </a:solidFill>
                          <a:latin typeface="Segoe UI"/>
                        </a:rPr>
                        <a:t>Recall on real classroom frames; back rows not lost to downscaling</a:t>
                      </a:r>
                    </a:p>
                  </a:txBody>
                  <a:tcPr marL="91440" marR="73152" marT="36576" marB="36576" anchor="ctr">
                    <a:solidFill>
                      <a:srgbClr val="FFFFFF"/>
                    </a:solidFill>
                  </a:tcPr>
                </a:tc>
                <a:tc>
                  <a:txBody>
                    <a:bodyPr wrap="square"/>
                    <a:lstStyle/>
                    <a:p>
                      <a:r>
                        <a:rPr sz="1000" b="1">
                          <a:solidFill>
                            <a:srgbClr val="1F6F50"/>
                          </a:solidFill>
                          <a:latin typeface="Segoe UI"/>
                        </a:rPr>
                        <a:t>Done</a:t>
                      </a:r>
                    </a:p>
                  </a:txBody>
                  <a:tcPr marL="91440" marR="73152" marT="36576" marB="36576" anchor="ctr">
                    <a:solidFill>
                      <a:srgbClr val="FFFFFF"/>
                    </a:solidFill>
                  </a:tcPr>
                </a:tc>
              </a:tr>
              <a:tr h="475488">
                <a:tc>
                  <a:txBody>
                    <a:bodyPr wrap="square"/>
                    <a:lstStyle/>
                    <a:p>
                      <a:r>
                        <a:rPr sz="1000" b="0">
                          <a:solidFill>
                            <a:srgbClr val="3C5066"/>
                          </a:solidFill>
                          <a:latin typeface="Segoe UI"/>
                        </a:rPr>
                        <a:t>O2</a:t>
                      </a:r>
                    </a:p>
                  </a:txBody>
                  <a:tcPr marL="91440" marR="73152" marT="36576" marB="36576" anchor="ctr">
                    <a:solidFill>
                      <a:srgbClr val="F3F7FA"/>
                    </a:solidFill>
                  </a:tcPr>
                </a:tc>
                <a:tc>
                  <a:txBody>
                    <a:bodyPr wrap="square"/>
                    <a:lstStyle/>
                    <a:p>
                      <a:r>
                        <a:rPr sz="1000" b="1">
                          <a:solidFill>
                            <a:srgbClr val="3C5066"/>
                          </a:solidFill>
                          <a:latin typeface="Segoe UI"/>
                        </a:rPr>
                        <a:t>Maintain stable identity within a session</a:t>
                      </a:r>
                    </a:p>
                  </a:txBody>
                  <a:tcPr marL="91440" marR="73152" marT="36576" marB="36576" anchor="ctr">
                    <a:solidFill>
                      <a:srgbClr val="F3F7FA"/>
                    </a:solidFill>
                  </a:tcPr>
                </a:tc>
                <a:tc>
                  <a:txBody>
                    <a:bodyPr wrap="square"/>
                    <a:lstStyle/>
                    <a:p>
                      <a:r>
                        <a:rPr sz="1000" b="0">
                          <a:solidFill>
                            <a:srgbClr val="3C5066"/>
                          </a:solidFill>
                          <a:latin typeface="Segoe UI"/>
                        </a:rPr>
                        <a:t>One track_id per student across occlusion; identity never crosses sessions</a:t>
                      </a:r>
                    </a:p>
                  </a:txBody>
                  <a:tcPr marL="91440" marR="73152" marT="36576" marB="36576" anchor="ctr">
                    <a:solidFill>
                      <a:srgbClr val="F3F7FA"/>
                    </a:solidFill>
                  </a:tcPr>
                </a:tc>
                <a:tc>
                  <a:txBody>
                    <a:bodyPr wrap="square"/>
                    <a:lstStyle/>
                    <a:p>
                      <a:r>
                        <a:rPr sz="1000" b="1">
                          <a:solidFill>
                            <a:srgbClr val="1F6F50"/>
                          </a:solidFill>
                          <a:latin typeface="Segoe UI"/>
                        </a:rPr>
                        <a:t>Done</a:t>
                      </a:r>
                    </a:p>
                  </a:txBody>
                  <a:tcPr marL="91440" marR="73152" marT="36576" marB="36576" anchor="ctr">
                    <a:solidFill>
                      <a:srgbClr val="F3F7FA"/>
                    </a:solidFill>
                  </a:tcPr>
                </a:tc>
              </a:tr>
              <a:tr h="475488">
                <a:tc>
                  <a:txBody>
                    <a:bodyPr wrap="square"/>
                    <a:lstStyle/>
                    <a:p>
                      <a:r>
                        <a:rPr sz="1000" b="0">
                          <a:solidFill>
                            <a:srgbClr val="3C5066"/>
                          </a:solidFill>
                          <a:latin typeface="Segoe UI"/>
                        </a:rPr>
                        <a:t>O3</a:t>
                      </a:r>
                    </a:p>
                  </a:txBody>
                  <a:tcPr marL="91440" marR="73152" marT="36576" marB="36576" anchor="ctr">
                    <a:solidFill>
                      <a:srgbClr val="FFFFFF"/>
                    </a:solidFill>
                  </a:tcPr>
                </a:tc>
                <a:tc>
                  <a:txBody>
                    <a:bodyPr wrap="square"/>
                    <a:lstStyle/>
                    <a:p>
                      <a:r>
                        <a:rPr sz="1000" b="1">
                          <a:solidFill>
                            <a:srgbClr val="3C5066"/>
                          </a:solidFill>
                          <a:latin typeface="Segoe UI"/>
                        </a:rPr>
                        <a:t>Per-student attention state over time</a:t>
                      </a:r>
                    </a:p>
                  </a:txBody>
                  <a:tcPr marL="91440" marR="73152" marT="36576" marB="36576" anchor="ctr">
                    <a:solidFill>
                      <a:srgbClr val="FFFFFF"/>
                    </a:solidFill>
                  </a:tcPr>
                </a:tc>
                <a:tc>
                  <a:txBody>
                    <a:bodyPr wrap="square"/>
                    <a:lstStyle/>
                    <a:p>
                      <a:r>
                        <a:rPr sz="1000" b="0">
                          <a:solidFill>
                            <a:srgbClr val="3C5066"/>
                          </a:solidFill>
                          <a:latin typeface="Segoe UI"/>
                        </a:rPr>
                        <a:t>Windowed distribution over 6 behaviour categories, not per-frame verdicts</a:t>
                      </a:r>
                    </a:p>
                  </a:txBody>
                  <a:tcPr marL="91440" marR="73152" marT="36576" marB="36576" anchor="ctr">
                    <a:solidFill>
                      <a:srgbClr val="FFFFFF"/>
                    </a:solidFill>
                  </a:tcPr>
                </a:tc>
                <a:tc>
                  <a:txBody>
                    <a:bodyPr wrap="square"/>
                    <a:lstStyle/>
                    <a:p>
                      <a:r>
                        <a:rPr sz="1000" b="1">
                          <a:solidFill>
                            <a:srgbClr val="1F6F50"/>
                          </a:solidFill>
                          <a:latin typeface="Segoe UI"/>
                        </a:rPr>
                        <a:t>Done</a:t>
                      </a:r>
                    </a:p>
                  </a:txBody>
                  <a:tcPr marL="91440" marR="73152" marT="36576" marB="36576" anchor="ctr">
                    <a:solidFill>
                      <a:srgbClr val="FFFFFF"/>
                    </a:solidFill>
                  </a:tcPr>
                </a:tc>
              </a:tr>
              <a:tr h="475488">
                <a:tc>
                  <a:txBody>
                    <a:bodyPr wrap="square"/>
                    <a:lstStyle/>
                    <a:p>
                      <a:r>
                        <a:rPr sz="1000" b="0">
                          <a:solidFill>
                            <a:srgbClr val="3C5066"/>
                          </a:solidFill>
                          <a:latin typeface="Segoe UI"/>
                        </a:rPr>
                        <a:t>O4</a:t>
                      </a:r>
                    </a:p>
                  </a:txBody>
                  <a:tcPr marL="91440" marR="73152" marT="36576" marB="36576" anchor="ctr">
                    <a:solidFill>
                      <a:srgbClr val="F3F7FA"/>
                    </a:solidFill>
                  </a:tcPr>
                </a:tc>
                <a:tc>
                  <a:txBody>
                    <a:bodyPr wrap="square"/>
                    <a:lstStyle/>
                    <a:p>
                      <a:r>
                        <a:rPr sz="1000" b="1">
                          <a:solidFill>
                            <a:srgbClr val="3C5066"/>
                          </a:solidFill>
                          <a:latin typeface="Segoe UI"/>
                        </a:rPr>
                        <a:t>Flag device distraction and eye closure</a:t>
                      </a:r>
                    </a:p>
                  </a:txBody>
                  <a:tcPr marL="91440" marR="73152" marT="36576" marB="36576" anchor="ctr">
                    <a:solidFill>
                      <a:srgbClr val="F3F7FA"/>
                    </a:solidFill>
                  </a:tcPr>
                </a:tc>
                <a:tc>
                  <a:txBody>
                    <a:bodyPr wrap="square"/>
                    <a:lstStyle/>
                    <a:p>
                      <a:r>
                        <a:rPr sz="1000" b="0">
                          <a:solidFill>
                            <a:srgbClr val="3C5066"/>
                          </a:solidFill>
                          <a:latin typeface="Segoe UI"/>
                        </a:rPr>
                        <a:t>Phone-overlap + gaze-down evidence; EAR-based eye state</a:t>
                      </a:r>
                    </a:p>
                  </a:txBody>
                  <a:tcPr marL="91440" marR="73152" marT="36576" marB="36576" anchor="ctr">
                    <a:solidFill>
                      <a:srgbClr val="F3F7FA"/>
                    </a:solidFill>
                  </a:tcPr>
                </a:tc>
                <a:tc>
                  <a:txBody>
                    <a:bodyPr wrap="square"/>
                    <a:lstStyle/>
                    <a:p>
                      <a:r>
                        <a:rPr sz="1000" b="1">
                          <a:solidFill>
                            <a:srgbClr val="1F6F50"/>
                          </a:solidFill>
                          <a:latin typeface="Segoe UI"/>
                        </a:rPr>
                        <a:t>Done</a:t>
                      </a:r>
                    </a:p>
                  </a:txBody>
                  <a:tcPr marL="91440" marR="73152" marT="36576" marB="36576" anchor="ctr">
                    <a:solidFill>
                      <a:srgbClr val="F3F7FA"/>
                    </a:solidFill>
                  </a:tcPr>
                </a:tc>
              </a:tr>
              <a:tr h="475488">
                <a:tc>
                  <a:txBody>
                    <a:bodyPr wrap="square"/>
                    <a:lstStyle/>
                    <a:p>
                      <a:r>
                        <a:rPr sz="1000" b="0">
                          <a:solidFill>
                            <a:srgbClr val="3C5066"/>
                          </a:solidFill>
                          <a:latin typeface="Segoe UI"/>
                        </a:rPr>
                        <a:t>O5</a:t>
                      </a:r>
                    </a:p>
                  </a:txBody>
                  <a:tcPr marL="91440" marR="73152" marT="36576" marB="36576" anchor="ctr">
                    <a:solidFill>
                      <a:srgbClr val="FFFFFF"/>
                    </a:solidFill>
                  </a:tcPr>
                </a:tc>
                <a:tc>
                  <a:txBody>
                    <a:bodyPr wrap="square"/>
                    <a:lstStyle/>
                    <a:p>
                      <a:r>
                        <a:rPr sz="1000" b="1">
                          <a:solidFill>
                            <a:srgbClr val="3C5066"/>
                          </a:solidFill>
                          <a:latin typeface="Segoe UI"/>
                        </a:rPr>
                        <a:t>Model peer orientation and group activity</a:t>
                      </a:r>
                    </a:p>
                  </a:txBody>
                  <a:tcPr marL="91440" marR="73152" marT="36576" marB="36576" anchor="ctr">
                    <a:solidFill>
                      <a:srgbClr val="FFFFFF"/>
                    </a:solidFill>
                  </a:tcPr>
                </a:tc>
                <a:tc>
                  <a:txBody>
                    <a:bodyPr wrap="square"/>
                    <a:lstStyle/>
                    <a:p>
                      <a:r>
                        <a:rPr sz="1000" b="0">
                          <a:solidFill>
                            <a:srgbClr val="3C5066"/>
                          </a:solidFill>
                          <a:latin typeface="Segoe UI"/>
                        </a:rPr>
                        <a:t>Geometric pair detection now; scene-graph + GAR next</a:t>
                      </a:r>
                    </a:p>
                  </a:txBody>
                  <a:tcPr marL="91440" marR="73152" marT="36576" marB="36576" anchor="ctr">
                    <a:solidFill>
                      <a:srgbClr val="FFFFFF"/>
                    </a:solidFill>
                  </a:tcPr>
                </a:tc>
                <a:tc>
                  <a:txBody>
                    <a:bodyPr wrap="square"/>
                    <a:lstStyle/>
                    <a:p>
                      <a:r>
                        <a:rPr sz="1000" b="1">
                          <a:solidFill>
                            <a:srgbClr val="B47A14"/>
                          </a:solidFill>
                          <a:latin typeface="Segoe UI"/>
                        </a:rPr>
                        <a:t>In progress</a:t>
                      </a:r>
                    </a:p>
                  </a:txBody>
                  <a:tcPr marL="91440" marR="73152" marT="36576" marB="36576" anchor="ctr">
                    <a:solidFill>
                      <a:srgbClr val="FFFFFF"/>
                    </a:solidFill>
                  </a:tcPr>
                </a:tc>
              </a:tr>
              <a:tr h="475488">
                <a:tc>
                  <a:txBody>
                    <a:bodyPr wrap="square"/>
                    <a:lstStyle/>
                    <a:p>
                      <a:r>
                        <a:rPr sz="1000" b="0">
                          <a:solidFill>
                            <a:srgbClr val="3C5066"/>
                          </a:solidFill>
                          <a:latin typeface="Segoe UI"/>
                        </a:rPr>
                        <a:t>O6</a:t>
                      </a:r>
                    </a:p>
                  </a:txBody>
                  <a:tcPr marL="91440" marR="73152" marT="36576" marB="36576" anchor="ctr">
                    <a:solidFill>
                      <a:srgbClr val="F3F7FA"/>
                    </a:solidFill>
                  </a:tcPr>
                </a:tc>
                <a:tc>
                  <a:txBody>
                    <a:bodyPr wrap="square"/>
                    <a:lstStyle/>
                    <a:p>
                      <a:r>
                        <a:rPr sz="1000" b="1">
                          <a:solidFill>
                            <a:srgbClr val="3C5066"/>
                          </a:solidFill>
                          <a:latin typeface="Segoe UI"/>
                        </a:rPr>
                        <a:t>Report trajectories and class-level trends</a:t>
                      </a:r>
                    </a:p>
                  </a:txBody>
                  <a:tcPr marL="91440" marR="73152" marT="36576" marB="36576" anchor="ctr">
                    <a:solidFill>
                      <a:srgbClr val="F3F7FA"/>
                    </a:solidFill>
                  </a:tcPr>
                </a:tc>
                <a:tc>
                  <a:txBody>
                    <a:bodyPr wrap="square"/>
                    <a:lstStyle/>
                    <a:p>
                      <a:r>
                        <a:rPr sz="1000" b="0">
                          <a:solidFill>
                            <a:srgbClr val="3C5066"/>
                          </a:solidFill>
                          <a:latin typeface="Segoe UI"/>
                        </a:rPr>
                        <a:t>Class summary by default, individual as explicit drill-down</a:t>
                      </a:r>
                    </a:p>
                  </a:txBody>
                  <a:tcPr marL="91440" marR="73152" marT="36576" marB="36576" anchor="ctr">
                    <a:solidFill>
                      <a:srgbClr val="F3F7FA"/>
                    </a:solidFill>
                  </a:tcPr>
                </a:tc>
                <a:tc>
                  <a:txBody>
                    <a:bodyPr wrap="square"/>
                    <a:lstStyle/>
                    <a:p>
                      <a:r>
                        <a:rPr sz="1000" b="1">
                          <a:solidFill>
                            <a:srgbClr val="B47A14"/>
                          </a:solidFill>
                          <a:latin typeface="Segoe UI"/>
                        </a:rPr>
                        <a:t>Partial</a:t>
                      </a:r>
                    </a:p>
                  </a:txBody>
                  <a:tcPr marL="91440" marR="73152" marT="36576" marB="36576" anchor="ctr">
                    <a:solidFill>
                      <a:srgbClr val="F3F7FA"/>
                    </a:solidFill>
                  </a:tcPr>
                </a:tc>
              </a:tr>
            </a:tbl>
          </a:graphicData>
        </a:graphic>
      </p:graphicFrame>
      <p:sp>
        <p:nvSpPr>
          <p:cNvPr id="10" name="TextBox 9"/>
          <p:cNvSpPr txBox="1"/>
          <p:nvPr/>
        </p:nvSpPr>
        <p:spPr>
          <a:xfrm>
            <a:off x="621792" y="4981067"/>
            <a:ext cx="10948111" cy="457200"/>
          </a:xfrm>
          <a:prstGeom prst="rect">
            <a:avLst/>
          </a:prstGeom>
          <a:noFill/>
        </p:spPr>
        <p:txBody>
          <a:bodyPr wrap="square" lIns="0" rIns="0" tIns="0" bIns="0" anchor="t">
            <a:spAutoFit/>
          </a:bodyPr>
          <a:lstStyle/>
          <a:p>
            <a:pPr>
              <a:lnSpc>
                <a:spcPct val="120000"/>
              </a:lnSpc>
            </a:pPr>
            <a:r>
              <a:rPr sz="1050" b="1" i="0">
                <a:solidFill>
                  <a:srgbClr val="10273F"/>
                </a:solidFill>
                <a:latin typeface="Segoe UI Semibold"/>
              </a:rPr>
              <a:t>Note on scope:  </a:t>
            </a:r>
            <a:r>
              <a:rPr sz="1050" b="0" i="0">
                <a:solidFill>
                  <a:srgbClr val="3C5066"/>
                </a:solidFill>
                <a:latin typeface="Segoe UI"/>
              </a:rPr>
              <a:t>O1–O4 are implemented and covered by automated tests. O5–O6 are partially built — the honest position at this review is a working perception + attention core with the relational layer designed and started, not finished.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2 — RESEARCH PAPER SELECTION</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Three base papers, one per technical pillar</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All three are peer-reviewed at top-tier venues (CVPR / ICCV), have public code, and map 1:1 onto a pillar of our architecture.</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6</a:t>
            </a:r>
          </a:p>
        </p:txBody>
      </p:sp>
      <p:sp>
        <p:nvSpPr>
          <p:cNvPr id="9" name="Rounded Rectangle 8"/>
          <p:cNvSpPr/>
          <p:nvPr/>
        </p:nvSpPr>
        <p:spPr>
          <a:xfrm>
            <a:off x="621792" y="1689227"/>
            <a:ext cx="3503066" cy="3584448"/>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689227"/>
            <a:ext cx="3503066"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1908683"/>
            <a:ext cx="3100730" cy="219456"/>
          </a:xfrm>
          <a:prstGeom prst="rect">
            <a:avLst/>
          </a:prstGeom>
          <a:noFill/>
        </p:spPr>
        <p:txBody>
          <a:bodyPr wrap="square" lIns="0" rIns="0" tIns="0" bIns="0" anchor="t">
            <a:spAutoFit/>
          </a:bodyPr>
          <a:lstStyle/>
          <a:p>
            <a:r>
              <a:rPr sz="900" b="1" i="0">
                <a:solidFill>
                  <a:srgbClr val="0E7C86"/>
                </a:solidFill>
                <a:latin typeface="Segoe UI Semibold"/>
              </a:rPr>
              <a:t>PILLAR 1 · IDENTITY</a:t>
            </a:r>
          </a:p>
        </p:txBody>
      </p:sp>
      <p:sp>
        <p:nvSpPr>
          <p:cNvPr id="12" name="TextBox 11"/>
          <p:cNvSpPr txBox="1"/>
          <p:nvPr/>
        </p:nvSpPr>
        <p:spPr>
          <a:xfrm>
            <a:off x="822960" y="2183002"/>
            <a:ext cx="3100730" cy="822960"/>
          </a:xfrm>
          <a:prstGeom prst="rect">
            <a:avLst/>
          </a:prstGeom>
          <a:noFill/>
        </p:spPr>
        <p:txBody>
          <a:bodyPr wrap="square" lIns="0" rIns="0" tIns="0" bIns="0" anchor="t">
            <a:spAutoFit/>
          </a:bodyPr>
          <a:lstStyle/>
          <a:p>
            <a:pPr>
              <a:lnSpc>
                <a:spcPct val="110000"/>
              </a:lnSpc>
            </a:pPr>
            <a:r>
              <a:rPr sz="1250" b="1" i="0">
                <a:solidFill>
                  <a:srgbClr val="10273F"/>
                </a:solidFill>
                <a:latin typeface="Segoe UI Semibold"/>
              </a:rPr>
              <a:t>Clothes-Changing Person Re-Identification With RGB Modality Only</a:t>
            </a:r>
          </a:p>
        </p:txBody>
      </p:sp>
      <p:sp>
        <p:nvSpPr>
          <p:cNvPr id="13" name="TextBox 12"/>
          <p:cNvSpPr txBox="1"/>
          <p:nvPr/>
        </p:nvSpPr>
        <p:spPr>
          <a:xfrm>
            <a:off x="822960" y="3042539"/>
            <a:ext cx="3100730" cy="384048"/>
          </a:xfrm>
          <a:prstGeom prst="rect">
            <a:avLst/>
          </a:prstGeom>
          <a:noFill/>
        </p:spPr>
        <p:txBody>
          <a:bodyPr wrap="square" lIns="0" rIns="0" tIns="0" bIns="0" anchor="t">
            <a:spAutoFit/>
          </a:bodyPr>
          <a:lstStyle/>
          <a:p>
            <a:pPr>
              <a:lnSpc>
                <a:spcPct val="116000"/>
              </a:lnSpc>
            </a:pPr>
            <a:r>
              <a:rPr sz="900" b="1" i="0">
                <a:solidFill>
                  <a:srgbClr val="085961"/>
                </a:solidFill>
                <a:latin typeface="Segoe UI"/>
              </a:rPr>
              <a:t>Gu, Chang, Ma, Bai, Shan &amp; Chen — CVPR 2022, pp. 1060–1069</a:t>
            </a:r>
          </a:p>
        </p:txBody>
      </p:sp>
      <p:sp>
        <p:nvSpPr>
          <p:cNvPr id="14" name="TextBox 13"/>
          <p:cNvSpPr txBox="1"/>
          <p:nvPr/>
        </p:nvSpPr>
        <p:spPr>
          <a:xfrm>
            <a:off x="822960" y="3481450"/>
            <a:ext cx="3100730" cy="1188720"/>
          </a:xfrm>
          <a:prstGeom prst="rect">
            <a:avLst/>
          </a:prstGeom>
          <a:noFill/>
        </p:spPr>
        <p:txBody>
          <a:bodyPr wrap="square" lIns="0" rIns="0" tIns="0" bIns="0" anchor="t">
            <a:spAutoFit/>
          </a:bodyPr>
          <a:lstStyle/>
          <a:p>
            <a:pPr>
              <a:lnSpc>
                <a:spcPct val="120000"/>
              </a:lnSpc>
            </a:pPr>
            <a:r>
              <a:rPr sz="950" b="0" i="0">
                <a:solidFill>
                  <a:srgbClr val="3C5066"/>
                </a:solidFill>
                <a:latin typeface="Segoe UI"/>
              </a:rPr>
              <a:t>Proposes a Clothes-based Adversarial Loss (CAL) that penalises the model's ability to predict clothing, forcing it to learn clothes-irrelevant identity cues (face, hairstyle, body shape, gait) from RGB alone.</a:t>
            </a:r>
          </a:p>
        </p:txBody>
      </p:sp>
      <p:sp>
        <p:nvSpPr>
          <p:cNvPr id="15" name="Rectangle 14"/>
          <p:cNvSpPr/>
          <p:nvPr/>
        </p:nvSpPr>
        <p:spPr>
          <a:xfrm>
            <a:off x="822960" y="4670170"/>
            <a:ext cx="3100730"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2960" y="4779899"/>
            <a:ext cx="3100730" cy="438912"/>
          </a:xfrm>
          <a:prstGeom prst="rect">
            <a:avLst/>
          </a:prstGeom>
          <a:noFill/>
        </p:spPr>
        <p:txBody>
          <a:bodyPr wrap="square" lIns="0" rIns="0" tIns="0" bIns="0" anchor="t">
            <a:spAutoFit/>
          </a:bodyPr>
          <a:lstStyle/>
          <a:p>
            <a:pPr>
              <a:lnSpc>
                <a:spcPct val="118000"/>
              </a:lnSpc>
            </a:pPr>
            <a:r>
              <a:rPr sz="900" b="1" i="0">
                <a:solidFill>
                  <a:srgbClr val="085961"/>
                </a:solidFill>
                <a:latin typeface="Segoe UI"/>
              </a:rPr>
              <a:t>What we take: identity that survives appearance change and occlusion, so a student who turns away and back is not counted as a new person.</a:t>
            </a:r>
          </a:p>
        </p:txBody>
      </p:sp>
      <p:sp>
        <p:nvSpPr>
          <p:cNvPr id="17" name="Rounded Rectangle 16"/>
          <p:cNvSpPr/>
          <p:nvPr/>
        </p:nvSpPr>
        <p:spPr>
          <a:xfrm>
            <a:off x="4344314" y="1689227"/>
            <a:ext cx="3503066" cy="3584448"/>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344314" y="1689227"/>
            <a:ext cx="3503066"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45482" y="1908683"/>
            <a:ext cx="3100730" cy="219456"/>
          </a:xfrm>
          <a:prstGeom prst="rect">
            <a:avLst/>
          </a:prstGeom>
          <a:noFill/>
        </p:spPr>
        <p:txBody>
          <a:bodyPr wrap="square" lIns="0" rIns="0" tIns="0" bIns="0" anchor="t">
            <a:spAutoFit/>
          </a:bodyPr>
          <a:lstStyle/>
          <a:p>
            <a:r>
              <a:rPr sz="900" b="1" i="0">
                <a:solidFill>
                  <a:srgbClr val="0E7C86"/>
                </a:solidFill>
                <a:latin typeface="Segoe UI Semibold"/>
              </a:rPr>
              <a:t>PILLAR 2 · RELATIONS OVER TIME</a:t>
            </a:r>
          </a:p>
        </p:txBody>
      </p:sp>
      <p:sp>
        <p:nvSpPr>
          <p:cNvPr id="20" name="TextBox 19"/>
          <p:cNvSpPr txBox="1"/>
          <p:nvPr/>
        </p:nvSpPr>
        <p:spPr>
          <a:xfrm>
            <a:off x="4545482" y="2183002"/>
            <a:ext cx="3100730" cy="822960"/>
          </a:xfrm>
          <a:prstGeom prst="rect">
            <a:avLst/>
          </a:prstGeom>
          <a:noFill/>
        </p:spPr>
        <p:txBody>
          <a:bodyPr wrap="square" lIns="0" rIns="0" tIns="0" bIns="0" anchor="t">
            <a:spAutoFit/>
          </a:bodyPr>
          <a:lstStyle/>
          <a:p>
            <a:pPr>
              <a:lnSpc>
                <a:spcPct val="110000"/>
              </a:lnSpc>
            </a:pPr>
            <a:r>
              <a:rPr sz="1250" b="1" i="0">
                <a:solidFill>
                  <a:srgbClr val="10273F"/>
                </a:solidFill>
                <a:latin typeface="Segoe UI Semibold"/>
              </a:rPr>
              <a:t>Spatial-Temporal Transformer for Dynamic Scene Graph Generation</a:t>
            </a:r>
          </a:p>
        </p:txBody>
      </p:sp>
      <p:sp>
        <p:nvSpPr>
          <p:cNvPr id="21" name="TextBox 20"/>
          <p:cNvSpPr txBox="1"/>
          <p:nvPr/>
        </p:nvSpPr>
        <p:spPr>
          <a:xfrm>
            <a:off x="4545482" y="3042539"/>
            <a:ext cx="3100730" cy="384048"/>
          </a:xfrm>
          <a:prstGeom prst="rect">
            <a:avLst/>
          </a:prstGeom>
          <a:noFill/>
        </p:spPr>
        <p:txBody>
          <a:bodyPr wrap="square" lIns="0" rIns="0" tIns="0" bIns="0" anchor="t">
            <a:spAutoFit/>
          </a:bodyPr>
          <a:lstStyle/>
          <a:p>
            <a:pPr>
              <a:lnSpc>
                <a:spcPct val="116000"/>
              </a:lnSpc>
            </a:pPr>
            <a:r>
              <a:rPr sz="900" b="1" i="0">
                <a:solidFill>
                  <a:srgbClr val="085961"/>
                </a:solidFill>
                <a:latin typeface="Segoe UI"/>
              </a:rPr>
              <a:t>Cong, Liao, Ackermann, Rosenhahn &amp; Yang — ICCV 2021</a:t>
            </a:r>
          </a:p>
        </p:txBody>
      </p:sp>
      <p:sp>
        <p:nvSpPr>
          <p:cNvPr id="22" name="TextBox 21"/>
          <p:cNvSpPr txBox="1"/>
          <p:nvPr/>
        </p:nvSpPr>
        <p:spPr>
          <a:xfrm>
            <a:off x="4545482" y="3481450"/>
            <a:ext cx="3100730" cy="1188720"/>
          </a:xfrm>
          <a:prstGeom prst="rect">
            <a:avLst/>
          </a:prstGeom>
          <a:noFill/>
        </p:spPr>
        <p:txBody>
          <a:bodyPr wrap="square" lIns="0" rIns="0" tIns="0" bIns="0" anchor="t">
            <a:spAutoFit/>
          </a:bodyPr>
          <a:lstStyle/>
          <a:p>
            <a:pPr>
              <a:lnSpc>
                <a:spcPct val="120000"/>
              </a:lnSpc>
            </a:pPr>
            <a:r>
              <a:rPr sz="950" b="0" i="0">
                <a:solidFill>
                  <a:srgbClr val="3C5066"/>
                </a:solidFill>
                <a:latin typeface="Segoe UI"/>
              </a:rPr>
              <a:t>STTran pairs a spatial encoder (relations within a frame) with a temporal decoder (dependencies across frames), and accepts variable-length video without clipping. Benchmarked on Action Genome.</a:t>
            </a:r>
          </a:p>
        </p:txBody>
      </p:sp>
      <p:sp>
        <p:nvSpPr>
          <p:cNvPr id="23" name="Rectangle 22"/>
          <p:cNvSpPr/>
          <p:nvPr/>
        </p:nvSpPr>
        <p:spPr>
          <a:xfrm>
            <a:off x="4545482" y="4670170"/>
            <a:ext cx="3100730"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45482" y="4779899"/>
            <a:ext cx="3100730" cy="438912"/>
          </a:xfrm>
          <a:prstGeom prst="rect">
            <a:avLst/>
          </a:prstGeom>
          <a:noFill/>
        </p:spPr>
        <p:txBody>
          <a:bodyPr wrap="square" lIns="0" rIns="0" tIns="0" bIns="0" anchor="t">
            <a:spAutoFit/>
          </a:bodyPr>
          <a:lstStyle/>
          <a:p>
            <a:pPr>
              <a:lnSpc>
                <a:spcPct val="118000"/>
              </a:lnSpc>
            </a:pPr>
            <a:r>
              <a:rPr sz="900" b="1" i="0">
                <a:solidFill>
                  <a:srgbClr val="085961"/>
                </a:solidFill>
                <a:latin typeface="Segoe UI"/>
              </a:rPr>
              <a:t>What we take: the dynamic scene-graph formulation and the temporal decoder — our classroom graph must evolve, not be re-guessed every frame.</a:t>
            </a:r>
          </a:p>
        </p:txBody>
      </p:sp>
      <p:sp>
        <p:nvSpPr>
          <p:cNvPr id="25" name="Rounded Rectangle 24"/>
          <p:cNvSpPr/>
          <p:nvPr/>
        </p:nvSpPr>
        <p:spPr>
          <a:xfrm>
            <a:off x="8066836" y="1689227"/>
            <a:ext cx="3503066" cy="3584448"/>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066836" y="1689227"/>
            <a:ext cx="3503066"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68004" y="1908683"/>
            <a:ext cx="3100730" cy="219456"/>
          </a:xfrm>
          <a:prstGeom prst="rect">
            <a:avLst/>
          </a:prstGeom>
          <a:noFill/>
        </p:spPr>
        <p:txBody>
          <a:bodyPr wrap="square" lIns="0" rIns="0" tIns="0" bIns="0" anchor="t">
            <a:spAutoFit/>
          </a:bodyPr>
          <a:lstStyle/>
          <a:p>
            <a:r>
              <a:rPr sz="900" b="1" i="0">
                <a:solidFill>
                  <a:srgbClr val="0E7C86"/>
                </a:solidFill>
                <a:latin typeface="Segoe UI Semibold"/>
              </a:rPr>
              <a:t>PILLAR 3 · THE GROUP</a:t>
            </a:r>
          </a:p>
        </p:txBody>
      </p:sp>
      <p:sp>
        <p:nvSpPr>
          <p:cNvPr id="28" name="TextBox 27"/>
          <p:cNvSpPr txBox="1"/>
          <p:nvPr/>
        </p:nvSpPr>
        <p:spPr>
          <a:xfrm>
            <a:off x="8268004" y="2183002"/>
            <a:ext cx="3100730" cy="822960"/>
          </a:xfrm>
          <a:prstGeom prst="rect">
            <a:avLst/>
          </a:prstGeom>
          <a:noFill/>
        </p:spPr>
        <p:txBody>
          <a:bodyPr wrap="square" lIns="0" rIns="0" tIns="0" bIns="0" anchor="t">
            <a:spAutoFit/>
          </a:bodyPr>
          <a:lstStyle/>
          <a:p>
            <a:pPr>
              <a:lnSpc>
                <a:spcPct val="110000"/>
              </a:lnSpc>
            </a:pPr>
            <a:r>
              <a:rPr sz="1250" b="1" i="0">
                <a:solidFill>
                  <a:srgbClr val="10273F"/>
                </a:solidFill>
                <a:latin typeface="Segoe UI Semibold"/>
              </a:rPr>
              <a:t>Learning Actor Relation Graphs for Group Activity Recognition</a:t>
            </a:r>
          </a:p>
        </p:txBody>
      </p:sp>
      <p:sp>
        <p:nvSpPr>
          <p:cNvPr id="29" name="TextBox 28"/>
          <p:cNvSpPr txBox="1"/>
          <p:nvPr/>
        </p:nvSpPr>
        <p:spPr>
          <a:xfrm>
            <a:off x="8268004" y="3042539"/>
            <a:ext cx="3100730" cy="384048"/>
          </a:xfrm>
          <a:prstGeom prst="rect">
            <a:avLst/>
          </a:prstGeom>
          <a:noFill/>
        </p:spPr>
        <p:txBody>
          <a:bodyPr wrap="square" lIns="0" rIns="0" tIns="0" bIns="0" anchor="t">
            <a:spAutoFit/>
          </a:bodyPr>
          <a:lstStyle/>
          <a:p>
            <a:pPr>
              <a:lnSpc>
                <a:spcPct val="116000"/>
              </a:lnSpc>
            </a:pPr>
            <a:r>
              <a:rPr sz="900" b="1" i="0">
                <a:solidFill>
                  <a:srgbClr val="085961"/>
                </a:solidFill>
                <a:latin typeface="Segoe UI"/>
              </a:rPr>
              <a:t>Wu, Wang, Wang, Guo &amp; Wu — CVPR 2019</a:t>
            </a:r>
          </a:p>
        </p:txBody>
      </p:sp>
      <p:sp>
        <p:nvSpPr>
          <p:cNvPr id="30" name="TextBox 29"/>
          <p:cNvSpPr txBox="1"/>
          <p:nvPr/>
        </p:nvSpPr>
        <p:spPr>
          <a:xfrm>
            <a:off x="8268004" y="3481450"/>
            <a:ext cx="3100730" cy="1188720"/>
          </a:xfrm>
          <a:prstGeom prst="rect">
            <a:avLst/>
          </a:prstGeom>
          <a:noFill/>
        </p:spPr>
        <p:txBody>
          <a:bodyPr wrap="square" lIns="0" rIns="0" tIns="0" bIns="0" anchor="t">
            <a:spAutoFit/>
          </a:bodyPr>
          <a:lstStyle/>
          <a:p>
            <a:pPr>
              <a:lnSpc>
                <a:spcPct val="120000"/>
              </a:lnSpc>
            </a:pPr>
            <a:r>
              <a:rPr sz="950" b="0" i="0">
                <a:solidFill>
                  <a:srgbClr val="3C5066"/>
                </a:solidFill>
                <a:latin typeface="Segoe UI"/>
              </a:rPr>
              <a:t>Builds an Actor Relation Graph capturing both appearance and position relations between actors, learned end-to-end with a GCN; adds spatially localised and temporally randomised sparsification. Benchmarked on Volleyball and Collective Activity.</a:t>
            </a:r>
          </a:p>
        </p:txBody>
      </p:sp>
      <p:sp>
        <p:nvSpPr>
          <p:cNvPr id="31" name="Rectangle 30"/>
          <p:cNvSpPr/>
          <p:nvPr/>
        </p:nvSpPr>
        <p:spPr>
          <a:xfrm>
            <a:off x="8268004" y="4670170"/>
            <a:ext cx="3100730"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68004" y="4779899"/>
            <a:ext cx="3100730" cy="438912"/>
          </a:xfrm>
          <a:prstGeom prst="rect">
            <a:avLst/>
          </a:prstGeom>
          <a:noFill/>
        </p:spPr>
        <p:txBody>
          <a:bodyPr wrap="square" lIns="0" rIns="0" tIns="0" bIns="0" anchor="t">
            <a:spAutoFit/>
          </a:bodyPr>
          <a:lstStyle/>
          <a:p>
            <a:pPr>
              <a:lnSpc>
                <a:spcPct val="118000"/>
              </a:lnSpc>
            </a:pPr>
            <a:r>
              <a:rPr sz="900" b="1" i="0">
                <a:solidFill>
                  <a:srgbClr val="085961"/>
                </a:solidFill>
                <a:latin typeface="Segoe UI"/>
              </a:rPr>
              <a:t>What we take: the actor-relation graph + GCN readout to turn per-student states into one class-level activity label.</a:t>
            </a:r>
          </a:p>
        </p:txBody>
      </p:sp>
      <p:sp>
        <p:nvSpPr>
          <p:cNvPr id="33" name="Rounded Rectangle 32"/>
          <p:cNvSpPr/>
          <p:nvPr/>
        </p:nvSpPr>
        <p:spPr>
          <a:xfrm>
            <a:off x="621792" y="5438266"/>
            <a:ext cx="10948111" cy="731520"/>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59536" y="5566283"/>
            <a:ext cx="10472623" cy="512064"/>
          </a:xfrm>
          <a:prstGeom prst="rect">
            <a:avLst/>
          </a:prstGeom>
          <a:noFill/>
        </p:spPr>
        <p:txBody>
          <a:bodyPr wrap="square" lIns="0" rIns="0" tIns="0" bIns="0" anchor="t">
            <a:spAutoFit/>
          </a:bodyPr>
          <a:lstStyle/>
          <a:p>
            <a:pPr>
              <a:lnSpc>
                <a:spcPct val="122000"/>
              </a:lnSpc>
            </a:pPr>
            <a:r>
              <a:rPr sz="1100" b="1" i="0">
                <a:solidFill>
                  <a:srgbClr val="10273F"/>
                </a:solidFill>
                <a:latin typeface="Segoe UI Semibold"/>
              </a:rPr>
              <a:t>Correctness of selection:  </a:t>
            </a:r>
            <a:r>
              <a:rPr sz="1100" b="0" i="0">
                <a:solidFill>
                  <a:srgbClr val="3C5066"/>
                </a:solidFill>
                <a:latin typeface="Segoe UI"/>
              </a:rPr>
              <a:t>each paper is the standard reference for its pillar, not a peripheral choice. Our novelty is not in re-deriving any one of them — it is in fusing all three in a domain none of them targets.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3 — LITERATURE REVIEW DEPTH</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Related work, method, result, and the gap each leaves open</a:t>
            </a:r>
          </a:p>
        </p:txBody>
      </p:sp>
      <p:sp>
        <p:nvSpPr>
          <p:cNvPr id="5" name="Rectangle 4"/>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7" name="TextBox 6"/>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7</a:t>
            </a:r>
          </a:p>
        </p:txBody>
      </p:sp>
      <p:graphicFrame>
        <p:nvGraphicFramePr>
          <p:cNvPr id="8" name="Table 7"/>
          <p:cNvGraphicFramePr>
            <a:graphicFrameLocks noGrp="1"/>
          </p:cNvGraphicFramePr>
          <p:nvPr/>
        </p:nvGraphicFramePr>
        <p:xfrm>
          <a:off x="621792" y="1373886"/>
          <a:ext cx="10945367" cy="4297680"/>
        </p:xfrm>
        <a:graphic>
          <a:graphicData uri="http://schemas.openxmlformats.org/drawingml/2006/table">
            <a:tbl>
              <a:tblPr>
                <a:tableStyleId>{5C22544A-7EE6-4342-B048-85BDC9FD1C3A}</a:tableStyleId>
              </a:tblPr>
              <a:tblGrid>
                <a:gridCol w="1170432"/>
                <a:gridCol w="1874519"/>
                <a:gridCol w="3108960"/>
                <a:gridCol w="1417320"/>
                <a:gridCol w="3374136"/>
              </a:tblGrid>
              <a:tr h="329184">
                <a:tc>
                  <a:txBody>
                    <a:bodyPr wrap="square"/>
                    <a:lstStyle/>
                    <a:p>
                      <a:r>
                        <a:rPr sz="900" b="1">
                          <a:solidFill>
                            <a:srgbClr val="FFFFFF"/>
                          </a:solidFill>
                          <a:latin typeface="Segoe UI Semibold"/>
                        </a:rPr>
                        <a:t>Area</a:t>
                      </a:r>
                    </a:p>
                  </a:txBody>
                  <a:tcPr marL="91440" marR="73152" marT="36576" marB="36576" anchor="ctr">
                    <a:solidFill>
                      <a:srgbClr val="10273F"/>
                    </a:solidFill>
                  </a:tcPr>
                </a:tc>
                <a:tc>
                  <a:txBody>
                    <a:bodyPr wrap="square"/>
                    <a:lstStyle/>
                    <a:p>
                      <a:r>
                        <a:rPr sz="900" b="1">
                          <a:solidFill>
                            <a:srgbClr val="FFFFFF"/>
                          </a:solidFill>
                          <a:latin typeface="Segoe UI Semibold"/>
                        </a:rPr>
                        <a:t>Key work (venue, year)</a:t>
                      </a:r>
                    </a:p>
                  </a:txBody>
                  <a:tcPr marL="91440" marR="73152" marT="36576" marB="36576" anchor="ctr">
                    <a:solidFill>
                      <a:srgbClr val="10273F"/>
                    </a:solidFill>
                  </a:tcPr>
                </a:tc>
                <a:tc>
                  <a:txBody>
                    <a:bodyPr wrap="square"/>
                    <a:lstStyle/>
                    <a:p>
                      <a:r>
                        <a:rPr sz="900" b="1">
                          <a:solidFill>
                            <a:srgbClr val="FFFFFF"/>
                          </a:solidFill>
                          <a:latin typeface="Segoe UI Semibold"/>
                        </a:rPr>
                        <a:t>Method in one line</a:t>
                      </a:r>
                    </a:p>
                  </a:txBody>
                  <a:tcPr marL="91440" marR="73152" marT="36576" marB="36576" anchor="ctr">
                    <a:solidFill>
                      <a:srgbClr val="10273F"/>
                    </a:solidFill>
                  </a:tcPr>
                </a:tc>
                <a:tc>
                  <a:txBody>
                    <a:bodyPr wrap="square"/>
                    <a:lstStyle/>
                    <a:p>
                      <a:r>
                        <a:rPr sz="900" b="1">
                          <a:solidFill>
                            <a:srgbClr val="FFFFFF"/>
                          </a:solidFill>
                          <a:latin typeface="Segoe UI Semibold"/>
                        </a:rPr>
                        <a:t>Benchmark</a:t>
                      </a:r>
                    </a:p>
                  </a:txBody>
                  <a:tcPr marL="91440" marR="73152" marT="36576" marB="36576" anchor="ctr">
                    <a:solidFill>
                      <a:srgbClr val="10273F"/>
                    </a:solidFill>
                  </a:tcPr>
                </a:tc>
                <a:tc>
                  <a:txBody>
                    <a:bodyPr wrap="square"/>
                    <a:lstStyle/>
                    <a:p>
                      <a:r>
                        <a:rPr sz="900" b="1">
                          <a:solidFill>
                            <a:srgbClr val="FFFFFF"/>
                          </a:solidFill>
                          <a:latin typeface="Segoe UI Semibold"/>
                        </a:rPr>
                        <a:t>Limitation for our setting</a:t>
                      </a:r>
                    </a:p>
                  </a:txBody>
                  <a:tcPr marL="91440" marR="73152" marT="36576" marB="36576" anchor="ctr">
                    <a:solidFill>
                      <a:srgbClr val="10273F"/>
                    </a:solidFill>
                  </a:tcPr>
                </a:tc>
              </a:tr>
              <a:tr h="566928">
                <a:tc>
                  <a:txBody>
                    <a:bodyPr wrap="square"/>
                    <a:lstStyle/>
                    <a:p>
                      <a:r>
                        <a:rPr sz="850" b="1">
                          <a:solidFill>
                            <a:srgbClr val="3C5066"/>
                          </a:solidFill>
                          <a:latin typeface="Segoe UI"/>
                        </a:rPr>
                        <a:t>Cloth-changing
Re-ID</a:t>
                      </a:r>
                    </a:p>
                  </a:txBody>
                  <a:tcPr marL="91440" marR="73152" marT="36576" marB="36576" anchor="ctr">
                    <a:solidFill>
                      <a:srgbClr val="FFFFFF"/>
                    </a:solidFill>
                  </a:tcPr>
                </a:tc>
                <a:tc>
                  <a:txBody>
                    <a:bodyPr wrap="square"/>
                    <a:lstStyle/>
                    <a:p>
                      <a:r>
                        <a:rPr sz="850" b="0">
                          <a:solidFill>
                            <a:srgbClr val="3C5066"/>
                          </a:solidFill>
                          <a:latin typeface="Segoe UI"/>
                        </a:rPr>
                        <a:t>CAL — Gu et al.
(CVPR 2022)</a:t>
                      </a:r>
                    </a:p>
                  </a:txBody>
                  <a:tcPr marL="91440" marR="73152" marT="36576" marB="36576" anchor="ctr">
                    <a:solidFill>
                      <a:srgbClr val="FFFFFF"/>
                    </a:solidFill>
                  </a:tcPr>
                </a:tc>
                <a:tc>
                  <a:txBody>
                    <a:bodyPr wrap="square"/>
                    <a:lstStyle/>
                    <a:p>
                      <a:r>
                        <a:rPr sz="850" b="0">
                          <a:solidFill>
                            <a:srgbClr val="3C5066"/>
                          </a:solidFill>
                          <a:latin typeface="Segoe UI"/>
                        </a:rPr>
                        <a:t>Adversarial loss suppresses clothing cues; RGB only</a:t>
                      </a:r>
                    </a:p>
                  </a:txBody>
                  <a:tcPr marL="91440" marR="73152" marT="36576" marB="36576" anchor="ctr">
                    <a:solidFill>
                      <a:srgbClr val="FFFFFF"/>
                    </a:solidFill>
                  </a:tcPr>
                </a:tc>
                <a:tc>
                  <a:txBody>
                    <a:bodyPr wrap="square"/>
                    <a:lstStyle/>
                    <a:p>
                      <a:r>
                        <a:rPr sz="850" b="0">
                          <a:solidFill>
                            <a:srgbClr val="3C5066"/>
                          </a:solidFill>
                          <a:latin typeface="Segoe UI"/>
                        </a:rPr>
                        <a:t>PRCC, LTCC,
DeepChange</a:t>
                      </a:r>
                    </a:p>
                  </a:txBody>
                  <a:tcPr marL="91440" marR="73152" marT="36576" marB="36576" anchor="ctr">
                    <a:solidFill>
                      <a:srgbClr val="FFFFFF"/>
                    </a:solidFill>
                  </a:tcPr>
                </a:tc>
                <a:tc>
                  <a:txBody>
                    <a:bodyPr wrap="square"/>
                    <a:lstStyle/>
                    <a:p>
                      <a:r>
                        <a:rPr sz="850" b="0">
                          <a:solidFill>
                            <a:srgbClr val="3C5066"/>
                          </a:solidFill>
                          <a:latin typeface="Segoe UI"/>
                        </a:rPr>
                        <a:t>Built for surveillance re-identification; never applied to session-scoped classroom identity</a:t>
                      </a:r>
                    </a:p>
                  </a:txBody>
                  <a:tcPr marL="91440" marR="73152" marT="36576" marB="36576" anchor="ctr">
                    <a:solidFill>
                      <a:srgbClr val="FFFFFF"/>
                    </a:solidFill>
                  </a:tcPr>
                </a:tc>
              </a:tr>
              <a:tr h="566928">
                <a:tc>
                  <a:txBody>
                    <a:bodyPr wrap="square"/>
                    <a:lstStyle/>
                    <a:p>
                      <a:r>
                        <a:rPr sz="850" b="1">
                          <a:solidFill>
                            <a:srgbClr val="3C5066"/>
                          </a:solidFill>
                          <a:latin typeface="Segoe UI"/>
                        </a:rPr>
                        <a:t/>
                      </a:r>
                    </a:p>
                  </a:txBody>
                  <a:tcPr marL="91440" marR="73152" marT="36576" marB="36576" anchor="ctr">
                    <a:solidFill>
                      <a:srgbClr val="F3F7FA"/>
                    </a:solidFill>
                  </a:tcPr>
                </a:tc>
                <a:tc>
                  <a:txBody>
                    <a:bodyPr wrap="square"/>
                    <a:lstStyle/>
                    <a:p>
                      <a:r>
                        <a:rPr sz="850" b="0">
                          <a:solidFill>
                            <a:srgbClr val="3C5066"/>
                          </a:solidFill>
                          <a:latin typeface="Segoe UI"/>
                        </a:rPr>
                        <a:t>AIM (CVPR 2023);
DeepChange (2023)</a:t>
                      </a:r>
                    </a:p>
                  </a:txBody>
                  <a:tcPr marL="91440" marR="73152" marT="36576" marB="36576" anchor="ctr">
                    <a:solidFill>
                      <a:srgbClr val="F3F7FA"/>
                    </a:solidFill>
                  </a:tcPr>
                </a:tc>
                <a:tc>
                  <a:txBody>
                    <a:bodyPr wrap="square"/>
                    <a:lstStyle/>
                    <a:p>
                      <a:r>
                        <a:rPr sz="850" b="0">
                          <a:solidFill>
                            <a:srgbClr val="3C5066"/>
                          </a:solidFill>
                          <a:latin typeface="Segoe UI"/>
                        </a:rPr>
                        <a:t>Causal/attribute-based identity disentangling; large cloth-change benchmark</a:t>
                      </a:r>
                    </a:p>
                  </a:txBody>
                  <a:tcPr marL="91440" marR="73152" marT="36576" marB="36576" anchor="ctr">
                    <a:solidFill>
                      <a:srgbClr val="F3F7FA"/>
                    </a:solidFill>
                  </a:tcPr>
                </a:tc>
                <a:tc>
                  <a:txBody>
                    <a:bodyPr wrap="square"/>
                    <a:lstStyle/>
                    <a:p>
                      <a:r>
                        <a:rPr sz="850" b="0">
                          <a:solidFill>
                            <a:srgbClr val="3C5066"/>
                          </a:solidFill>
                          <a:latin typeface="Segoe UI"/>
                        </a:rPr>
                        <a:t>PRCC, LTCC</a:t>
                      </a:r>
                    </a:p>
                  </a:txBody>
                  <a:tcPr marL="91440" marR="73152" marT="36576" marB="36576" anchor="ctr">
                    <a:solidFill>
                      <a:srgbClr val="F3F7FA"/>
                    </a:solidFill>
                  </a:tcPr>
                </a:tc>
                <a:tc>
                  <a:txBody>
                    <a:bodyPr wrap="square"/>
                    <a:lstStyle/>
                    <a:p>
                      <a:r>
                        <a:rPr sz="850" b="0">
                          <a:solidFill>
                            <a:srgbClr val="3C5066"/>
                          </a:solidFill>
                          <a:latin typeface="Segoe UI"/>
                        </a:rPr>
                        <a:t>Same domain mismatch; no notion of a fixed seating layout to exploit</a:t>
                      </a:r>
                    </a:p>
                  </a:txBody>
                  <a:tcPr marL="91440" marR="73152" marT="36576" marB="36576" anchor="ctr">
                    <a:solidFill>
                      <a:srgbClr val="F3F7FA"/>
                    </a:solidFill>
                  </a:tcPr>
                </a:tc>
              </a:tr>
              <a:tr h="566928">
                <a:tc>
                  <a:txBody>
                    <a:bodyPr wrap="square"/>
                    <a:lstStyle/>
                    <a:p>
                      <a:r>
                        <a:rPr sz="850" b="1">
                          <a:solidFill>
                            <a:srgbClr val="3C5066"/>
                          </a:solidFill>
                          <a:latin typeface="Segoe UI"/>
                        </a:rPr>
                        <a:t>Video scene
graph</a:t>
                      </a:r>
                    </a:p>
                  </a:txBody>
                  <a:tcPr marL="91440" marR="73152" marT="36576" marB="36576" anchor="ctr">
                    <a:solidFill>
                      <a:srgbClr val="FFFFFF"/>
                    </a:solidFill>
                  </a:tcPr>
                </a:tc>
                <a:tc>
                  <a:txBody>
                    <a:bodyPr wrap="square"/>
                    <a:lstStyle/>
                    <a:p>
                      <a:r>
                        <a:rPr sz="850" b="0">
                          <a:solidFill>
                            <a:srgbClr val="3C5066"/>
                          </a:solidFill>
                          <a:latin typeface="Segoe UI"/>
                        </a:rPr>
                        <a:t>STTran — Cong et al.
(ICCV 2021)</a:t>
                      </a:r>
                    </a:p>
                  </a:txBody>
                  <a:tcPr marL="91440" marR="73152" marT="36576" marB="36576" anchor="ctr">
                    <a:solidFill>
                      <a:srgbClr val="FFFFFF"/>
                    </a:solidFill>
                  </a:tcPr>
                </a:tc>
                <a:tc>
                  <a:txBody>
                    <a:bodyPr wrap="square"/>
                    <a:lstStyle/>
                    <a:p>
                      <a:r>
                        <a:rPr sz="850" b="0">
                          <a:solidFill>
                            <a:srgbClr val="3C5066"/>
                          </a:solidFill>
                          <a:latin typeface="Segoe UI"/>
                        </a:rPr>
                        <a:t>Spatial encoder + temporal decoder over variable-length video</a:t>
                      </a:r>
                    </a:p>
                  </a:txBody>
                  <a:tcPr marL="91440" marR="73152" marT="36576" marB="36576" anchor="ctr">
                    <a:solidFill>
                      <a:srgbClr val="FFFFFF"/>
                    </a:solidFill>
                  </a:tcPr>
                </a:tc>
                <a:tc>
                  <a:txBody>
                    <a:bodyPr wrap="square"/>
                    <a:lstStyle/>
                    <a:p>
                      <a:r>
                        <a:rPr sz="850" b="0">
                          <a:solidFill>
                            <a:srgbClr val="3C5066"/>
                          </a:solidFill>
                          <a:latin typeface="Segoe UI"/>
                        </a:rPr>
                        <a:t>Action Genome</a:t>
                      </a:r>
                    </a:p>
                  </a:txBody>
                  <a:tcPr marL="91440" marR="73152" marT="36576" marB="36576" anchor="ctr">
                    <a:solidFill>
                      <a:srgbClr val="FFFFFF"/>
                    </a:solidFill>
                  </a:tcPr>
                </a:tc>
                <a:tc>
                  <a:txBody>
                    <a:bodyPr wrap="square"/>
                    <a:lstStyle/>
                    <a:p>
                      <a:r>
                        <a:rPr sz="850" b="0">
                          <a:solidFill>
                            <a:srgbClr val="3C5066"/>
                          </a:solidFill>
                          <a:latin typeface="Segoe UI"/>
                        </a:rPr>
                        <a:t>Generic object–object predicates; nothing for attention, gaze or education</a:t>
                      </a:r>
                    </a:p>
                  </a:txBody>
                  <a:tcPr marL="91440" marR="73152" marT="36576" marB="36576" anchor="ctr">
                    <a:solidFill>
                      <a:srgbClr val="FFFFFF"/>
                    </a:solidFill>
                  </a:tcPr>
                </a:tc>
              </a:tr>
              <a:tr h="566928">
                <a:tc>
                  <a:txBody>
                    <a:bodyPr wrap="square"/>
                    <a:lstStyle/>
                    <a:p>
                      <a:r>
                        <a:rPr sz="850" b="1">
                          <a:solidFill>
                            <a:srgbClr val="3C5066"/>
                          </a:solidFill>
                          <a:latin typeface="Segoe UI"/>
                        </a:rPr>
                        <a:t>Group activity
recognition</a:t>
                      </a:r>
                    </a:p>
                  </a:txBody>
                  <a:tcPr marL="91440" marR="73152" marT="36576" marB="36576" anchor="ctr">
                    <a:solidFill>
                      <a:srgbClr val="F3F7FA"/>
                    </a:solidFill>
                  </a:tcPr>
                </a:tc>
                <a:tc>
                  <a:txBody>
                    <a:bodyPr wrap="square"/>
                    <a:lstStyle/>
                    <a:p>
                      <a:r>
                        <a:rPr sz="850" b="0">
                          <a:solidFill>
                            <a:srgbClr val="3C5066"/>
                          </a:solidFill>
                          <a:latin typeface="Segoe UI"/>
                        </a:rPr>
                        <a:t>ARG — Wu et al.
(CVPR 2019)</a:t>
                      </a:r>
                    </a:p>
                  </a:txBody>
                  <a:tcPr marL="91440" marR="73152" marT="36576" marB="36576" anchor="ctr">
                    <a:solidFill>
                      <a:srgbClr val="F3F7FA"/>
                    </a:solidFill>
                  </a:tcPr>
                </a:tc>
                <a:tc>
                  <a:txBody>
                    <a:bodyPr wrap="square"/>
                    <a:lstStyle/>
                    <a:p>
                      <a:r>
                        <a:rPr sz="850" b="0">
                          <a:solidFill>
                            <a:srgbClr val="3C5066"/>
                          </a:solidFill>
                          <a:latin typeface="Segoe UI"/>
                        </a:rPr>
                        <a:t>Actor relation graph (appearance + position) with GCN</a:t>
                      </a:r>
                    </a:p>
                  </a:txBody>
                  <a:tcPr marL="91440" marR="73152" marT="36576" marB="36576" anchor="ctr">
                    <a:solidFill>
                      <a:srgbClr val="F3F7FA"/>
                    </a:solidFill>
                  </a:tcPr>
                </a:tc>
                <a:tc>
                  <a:txBody>
                    <a:bodyPr wrap="square"/>
                    <a:lstStyle/>
                    <a:p>
                      <a:r>
                        <a:rPr sz="850" b="0">
                          <a:solidFill>
                            <a:srgbClr val="3C5066"/>
                          </a:solidFill>
                          <a:latin typeface="Segoe UI"/>
                        </a:rPr>
                        <a:t>Volleyball,
Collective Activity</a:t>
                      </a:r>
                    </a:p>
                  </a:txBody>
                  <a:tcPr marL="91440" marR="73152" marT="36576" marB="36576" anchor="ctr">
                    <a:solidFill>
                      <a:srgbClr val="F3F7FA"/>
                    </a:solidFill>
                  </a:tcPr>
                </a:tc>
                <a:tc>
                  <a:txBody>
                    <a:bodyPr wrap="square"/>
                    <a:lstStyle/>
                    <a:p>
                      <a:r>
                        <a:rPr sz="850" b="0">
                          <a:solidFill>
                            <a:srgbClr val="3C5066"/>
                          </a:solidFill>
                          <a:latin typeface="Segoe UI"/>
                        </a:rPr>
                        <a:t>Sports/crowd domains; group label per clip, not sustained engagement</a:t>
                      </a:r>
                    </a:p>
                  </a:txBody>
                  <a:tcPr marL="91440" marR="73152" marT="36576" marB="36576" anchor="ctr">
                    <a:solidFill>
                      <a:srgbClr val="F3F7FA"/>
                    </a:solidFill>
                  </a:tcPr>
                </a:tc>
              </a:tr>
              <a:tr h="566928">
                <a:tc>
                  <a:txBody>
                    <a:bodyPr wrap="square"/>
                    <a:lstStyle/>
                    <a:p>
                      <a:r>
                        <a:rPr sz="850" b="1">
                          <a:solidFill>
                            <a:srgbClr val="3C5066"/>
                          </a:solidFill>
                          <a:latin typeface="Segoe UI"/>
                        </a:rPr>
                        <a:t/>
                      </a:r>
                    </a:p>
                  </a:txBody>
                  <a:tcPr marL="91440" marR="73152" marT="36576" marB="36576" anchor="ctr">
                    <a:solidFill>
                      <a:srgbClr val="FFFFFF"/>
                    </a:solidFill>
                  </a:tcPr>
                </a:tc>
                <a:tc>
                  <a:txBody>
                    <a:bodyPr wrap="square"/>
                    <a:lstStyle/>
                    <a:p>
                      <a:r>
                        <a:rPr sz="850" b="0">
                          <a:solidFill>
                            <a:srgbClr val="3C5066"/>
                          </a:solidFill>
                          <a:latin typeface="Segoe UI"/>
                        </a:rPr>
                        <a:t>GroupFormer
(ICCV 2021)</a:t>
                      </a:r>
                    </a:p>
                  </a:txBody>
                  <a:tcPr marL="91440" marR="73152" marT="36576" marB="36576" anchor="ctr">
                    <a:solidFill>
                      <a:srgbClr val="FFFFFF"/>
                    </a:solidFill>
                  </a:tcPr>
                </a:tc>
                <a:tc>
                  <a:txBody>
                    <a:bodyPr wrap="square"/>
                    <a:lstStyle/>
                    <a:p>
                      <a:r>
                        <a:rPr sz="850" b="0">
                          <a:solidFill>
                            <a:srgbClr val="3C5066"/>
                          </a:solidFill>
                          <a:latin typeface="Segoe UI"/>
                        </a:rPr>
                        <a:t>Joint spatial-temporal transformer with clustered attention</a:t>
                      </a:r>
                    </a:p>
                  </a:txBody>
                  <a:tcPr marL="91440" marR="73152" marT="36576" marB="36576" anchor="ctr">
                    <a:solidFill>
                      <a:srgbClr val="FFFFFF"/>
                    </a:solidFill>
                  </a:tcPr>
                </a:tc>
                <a:tc>
                  <a:txBody>
                    <a:bodyPr wrap="square"/>
                    <a:lstStyle/>
                    <a:p>
                      <a:r>
                        <a:rPr sz="850" b="0">
                          <a:solidFill>
                            <a:srgbClr val="3C5066"/>
                          </a:solidFill>
                          <a:latin typeface="Segoe UI"/>
                        </a:rPr>
                        <a:t>Volleyball,
Collective Activity</a:t>
                      </a:r>
                    </a:p>
                  </a:txBody>
                  <a:tcPr marL="91440" marR="73152" marT="36576" marB="36576" anchor="ctr">
                    <a:solidFill>
                      <a:srgbClr val="FFFFFF"/>
                    </a:solidFill>
                  </a:tcPr>
                </a:tc>
                <a:tc>
                  <a:txBody>
                    <a:bodyPr wrap="square"/>
                    <a:lstStyle/>
                    <a:p>
                      <a:r>
                        <a:rPr sz="850" b="0">
                          <a:solidFill>
                            <a:srgbClr val="3C5066"/>
                          </a:solidFill>
                          <a:latin typeface="Segoe UI"/>
                        </a:rPr>
                        <a:t>Stronger backbone, same domain gap; assumes clean actor tracks</a:t>
                      </a:r>
                    </a:p>
                  </a:txBody>
                  <a:tcPr marL="91440" marR="73152" marT="36576" marB="36576" anchor="ctr">
                    <a:solidFill>
                      <a:srgbClr val="FFFFFF"/>
                    </a:solidFill>
                  </a:tcPr>
                </a:tc>
              </a:tr>
              <a:tr h="566928">
                <a:tc>
                  <a:txBody>
                    <a:bodyPr wrap="square"/>
                    <a:lstStyle/>
                    <a:p>
                      <a:r>
                        <a:rPr sz="850" b="1">
                          <a:solidFill>
                            <a:srgbClr val="3C5066"/>
                          </a:solidFill>
                          <a:latin typeface="Segoe UI"/>
                        </a:rPr>
                        <a:t>Classroom CV</a:t>
                      </a:r>
                    </a:p>
                  </a:txBody>
                  <a:tcPr marL="91440" marR="73152" marT="36576" marB="36576" anchor="ctr">
                    <a:solidFill>
                      <a:srgbClr val="F3F7FA"/>
                    </a:solidFill>
                  </a:tcPr>
                </a:tc>
                <a:tc>
                  <a:txBody>
                    <a:bodyPr wrap="square"/>
                    <a:lstStyle/>
                    <a:p>
                      <a:r>
                        <a:rPr sz="850" b="0">
                          <a:solidFill>
                            <a:srgbClr val="3C5066"/>
                          </a:solidFill>
                          <a:latin typeface="Segoe UI"/>
                        </a:rPr>
                        <a:t>SCB-Dataset
(2023–2025)</a:t>
                      </a:r>
                    </a:p>
                  </a:txBody>
                  <a:tcPr marL="91440" marR="73152" marT="36576" marB="36576" anchor="ctr">
                    <a:solidFill>
                      <a:srgbClr val="F3F7FA"/>
                    </a:solidFill>
                  </a:tcPr>
                </a:tc>
                <a:tc>
                  <a:txBody>
                    <a:bodyPr wrap="square"/>
                    <a:lstStyle/>
                    <a:p>
                      <a:r>
                        <a:rPr sz="850" b="0">
                          <a:solidFill>
                            <a:srgbClr val="3C5066"/>
                          </a:solidFill>
                          <a:latin typeface="Segoe UI"/>
                        </a:rPr>
                        <a:t>Large labelled classroom behaviour detection benchmark (YOLO-based)</a:t>
                      </a:r>
                    </a:p>
                  </a:txBody>
                  <a:tcPr marL="91440" marR="73152" marT="36576" marB="36576" anchor="ctr">
                    <a:solidFill>
                      <a:srgbClr val="F3F7FA"/>
                    </a:solidFill>
                  </a:tcPr>
                </a:tc>
                <a:tc>
                  <a:txBody>
                    <a:bodyPr wrap="square"/>
                    <a:lstStyle/>
                    <a:p>
                      <a:r>
                        <a:rPr sz="850" b="0">
                          <a:solidFill>
                            <a:srgbClr val="3C5066"/>
                          </a:solidFill>
                          <a:latin typeface="Segoe UI"/>
                        </a:rPr>
                        <a:t>SCB (own)</a:t>
                      </a:r>
                    </a:p>
                  </a:txBody>
                  <a:tcPr marL="91440" marR="73152" marT="36576" marB="36576" anchor="ctr">
                    <a:solidFill>
                      <a:srgbClr val="F3F7FA"/>
                    </a:solidFill>
                  </a:tcPr>
                </a:tc>
                <a:tc>
                  <a:txBody>
                    <a:bodyPr wrap="square"/>
                    <a:lstStyle/>
                    <a:p>
                      <a:r>
                        <a:rPr sz="850" b="0">
                          <a:solidFill>
                            <a:srgbClr val="3C5066"/>
                          </a:solidFill>
                          <a:latin typeface="Segoe UI"/>
                        </a:rPr>
                        <a:t>Per-frame detection only — no identity across time, no relational or group reasoning</a:t>
                      </a:r>
                    </a:p>
                  </a:txBody>
                  <a:tcPr marL="91440" marR="73152" marT="36576" marB="36576" anchor="ctr">
                    <a:solidFill>
                      <a:srgbClr val="F3F7FA"/>
                    </a:solidFill>
                  </a:tcPr>
                </a:tc>
              </a:tr>
              <a:tr h="566928">
                <a:tc>
                  <a:txBody>
                    <a:bodyPr wrap="square"/>
                    <a:lstStyle/>
                    <a:p>
                      <a:r>
                        <a:rPr sz="850" b="1">
                          <a:solidFill>
                            <a:srgbClr val="3C5066"/>
                          </a:solidFill>
                          <a:latin typeface="Segoe UI"/>
                        </a:rPr>
                        <a:t/>
                      </a:r>
                    </a:p>
                  </a:txBody>
                  <a:tcPr marL="91440" marR="73152" marT="36576" marB="36576" anchor="ctr">
                    <a:solidFill>
                      <a:srgbClr val="FFFFFF"/>
                    </a:solidFill>
                  </a:tcPr>
                </a:tc>
                <a:tc>
                  <a:txBody>
                    <a:bodyPr wrap="square"/>
                    <a:lstStyle/>
                    <a:p>
                      <a:r>
                        <a:rPr sz="850" b="0">
                          <a:solidFill>
                            <a:srgbClr val="3C5066"/>
                          </a:solidFill>
                          <a:latin typeface="Segoe UI"/>
                        </a:rPr>
                        <a:t>DAiSEE; EmotiW
engagement</a:t>
                      </a:r>
                    </a:p>
                  </a:txBody>
                  <a:tcPr marL="91440" marR="73152" marT="36576" marB="36576" anchor="ctr">
                    <a:solidFill>
                      <a:srgbClr val="FFFFFF"/>
                    </a:solidFill>
                  </a:tcPr>
                </a:tc>
                <a:tc>
                  <a:txBody>
                    <a:bodyPr wrap="square"/>
                    <a:lstStyle/>
                    <a:p>
                      <a:r>
                        <a:rPr sz="850" b="0">
                          <a:solidFill>
                            <a:srgbClr val="3C5066"/>
                          </a:solidFill>
                          <a:latin typeface="Segoe UI"/>
                        </a:rPr>
                        <a:t>Affective engagement classification from webcam video</a:t>
                      </a:r>
                    </a:p>
                  </a:txBody>
                  <a:tcPr marL="91440" marR="73152" marT="36576" marB="36576" anchor="ctr">
                    <a:solidFill>
                      <a:srgbClr val="FFFFFF"/>
                    </a:solidFill>
                  </a:tcPr>
                </a:tc>
                <a:tc>
                  <a:txBody>
                    <a:bodyPr wrap="square"/>
                    <a:lstStyle/>
                    <a:p>
                      <a:r>
                        <a:rPr sz="850" b="0">
                          <a:solidFill>
                            <a:srgbClr val="3C5066"/>
                          </a:solidFill>
                          <a:latin typeface="Segoe UI"/>
                        </a:rPr>
                        <a:t>DAiSEE</a:t>
                      </a:r>
                    </a:p>
                  </a:txBody>
                  <a:tcPr marL="91440" marR="73152" marT="36576" marB="36576" anchor="ctr">
                    <a:solidFill>
                      <a:srgbClr val="FFFFFF"/>
                    </a:solidFill>
                  </a:tcPr>
                </a:tc>
                <a:tc>
                  <a:txBody>
                    <a:bodyPr wrap="square"/>
                    <a:lstStyle/>
                    <a:p>
                      <a:r>
                        <a:rPr sz="850" b="0">
                          <a:solidFill>
                            <a:srgbClr val="3C5066"/>
                          </a:solidFill>
                          <a:latin typeface="Segoe UI"/>
                        </a:rPr>
                        <a:t>Single-subject webcam framing and affect labels — not a multi-student room</a:t>
                      </a:r>
                    </a:p>
                  </a:txBody>
                  <a:tcPr marL="91440" marR="73152" marT="36576" marB="36576" anchor="ctr">
                    <a:solidFill>
                      <a:srgbClr val="FFFFFF"/>
                    </a:solidFill>
                  </a:tcPr>
                </a:tc>
              </a:tr>
            </a:tbl>
          </a:graphicData>
        </a:graphic>
      </p:graphicFrame>
      <p:sp>
        <p:nvSpPr>
          <p:cNvPr id="9" name="TextBox 8"/>
          <p:cNvSpPr txBox="1"/>
          <p:nvPr/>
        </p:nvSpPr>
        <p:spPr>
          <a:xfrm>
            <a:off x="621792" y="5689854"/>
            <a:ext cx="10948111" cy="402336"/>
          </a:xfrm>
          <a:prstGeom prst="rect">
            <a:avLst/>
          </a:prstGeom>
          <a:noFill/>
        </p:spPr>
        <p:txBody>
          <a:bodyPr wrap="square" lIns="0" rIns="0" tIns="0" bIns="0" anchor="t">
            <a:spAutoFit/>
          </a:bodyPr>
          <a:lstStyle/>
          <a:p>
            <a:pPr>
              <a:lnSpc>
                <a:spcPct val="120000"/>
              </a:lnSpc>
            </a:pPr>
            <a:r>
              <a:rPr sz="1050" b="1" i="0">
                <a:solidFill>
                  <a:srgbClr val="10273F"/>
                </a:solidFill>
                <a:latin typeface="Segoe UI Semibold"/>
              </a:rPr>
              <a:t>Reading across the rows:  </a:t>
            </a:r>
            <a:r>
              <a:rPr sz="1050" b="0" i="0">
                <a:solidFill>
                  <a:srgbClr val="3C5066"/>
                </a:solidFill>
                <a:latin typeface="Segoe UI"/>
              </a:rPr>
              <a:t>identity, relations and group reasoning have each been solved separately, and classroom CV has solved per-frame detection. No row does two of these at once.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3 — LITERATURE REVIEW DEPTH</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The second half: what should the labels even be?</a:t>
            </a:r>
          </a:p>
        </p:txBody>
      </p:sp>
      <p:sp>
        <p:nvSpPr>
          <p:cNvPr id="5" name="TextBox 4"/>
          <p:cNvSpPr txBox="1"/>
          <p:nvPr/>
        </p:nvSpPr>
        <p:spPr>
          <a:xfrm>
            <a:off x="621792" y="1282445"/>
            <a:ext cx="10765231" cy="411225"/>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A CV-only review would stop at the previous slide. But the hardest question here is not architectural — it is what counts as “engaged”, and over what timescale. We reviewed the education and psychology literature to answer it.</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8</a:t>
            </a:r>
          </a:p>
        </p:txBody>
      </p:sp>
      <p:sp>
        <p:nvSpPr>
          <p:cNvPr id="9" name="Rounded Rectangle 8"/>
          <p:cNvSpPr/>
          <p:nvPr/>
        </p:nvSpPr>
        <p:spPr>
          <a:xfrm>
            <a:off x="621792" y="1876551"/>
            <a:ext cx="5336895" cy="129844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967991"/>
            <a:ext cx="50292" cy="1115568"/>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9536" y="2022855"/>
            <a:ext cx="4916271" cy="1024127"/>
          </a:xfrm>
          <a:prstGeom prst="rect">
            <a:avLst/>
          </a:prstGeom>
          <a:noFill/>
        </p:spPr>
        <p:txBody>
          <a:bodyPr wrap="square" lIns="0" rIns="0" tIns="0" bIns="0" anchor="t">
            <a:spAutoFit/>
          </a:bodyPr>
          <a:lstStyle/>
          <a:p>
            <a:pPr>
              <a:lnSpc>
                <a:spcPct val="105000"/>
              </a:lnSpc>
              <a:spcAft>
                <a:spcPts val="500"/>
              </a:spcAft>
            </a:pPr>
            <a:r>
              <a:rPr sz="1200" b="1" i="0">
                <a:solidFill>
                  <a:srgbClr val="10273F"/>
                </a:solidFill>
                <a:latin typeface="Segoe UI Semibold"/>
              </a:rPr>
              <a:t>The problem with the field</a:t>
            </a:r>
          </a:p>
          <a:p>
            <a:pPr>
              <a:lnSpc>
                <a:spcPct val="118000"/>
              </a:lnSpc>
              <a:spcAft>
                <a:spcPts val="300"/>
              </a:spcAft>
            </a:pPr>
            <a:r>
              <a:rPr sz="950" b="0" i="0">
                <a:solidFill>
                  <a:srgbClr val="3C5066"/>
                </a:solidFill>
                <a:latin typeface="Segoe UI"/>
              </a:rPr>
              <a:t>Khan, Abedi &amp; Colella (2022/23) reviewed engagement-detection systems and found most invent their own ad-hoc label scheme instead of grounding it in a validated instrument — making results incomparable.</a:t>
            </a:r>
          </a:p>
          <a:p>
            <a:pPr>
              <a:lnSpc>
                <a:spcPct val="118000"/>
              </a:lnSpc>
              <a:spcAft>
                <a:spcPts val="300"/>
              </a:spcAft>
            </a:pPr>
            <a:r>
              <a:rPr sz="950" b="0" i="0">
                <a:solidFill>
                  <a:srgbClr val="3C5066"/>
                </a:solidFill>
                <a:latin typeface="Segoe UI"/>
              </a:rPr>
              <a:t>We treated that as a warning about our own design, not a citation to drop in.</a:t>
            </a:r>
          </a:p>
        </p:txBody>
      </p:sp>
      <p:sp>
        <p:nvSpPr>
          <p:cNvPr id="12" name="Rounded Rectangle 11"/>
          <p:cNvSpPr/>
          <p:nvPr/>
        </p:nvSpPr>
        <p:spPr>
          <a:xfrm>
            <a:off x="621792" y="3357879"/>
            <a:ext cx="5336895" cy="129844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1792" y="3449319"/>
            <a:ext cx="50292" cy="1115568"/>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59536" y="3504183"/>
            <a:ext cx="4916271" cy="1024127"/>
          </a:xfrm>
          <a:prstGeom prst="rect">
            <a:avLst/>
          </a:prstGeom>
          <a:noFill/>
        </p:spPr>
        <p:txBody>
          <a:bodyPr wrap="square" lIns="0" rIns="0" tIns="0" bIns="0" anchor="t">
            <a:spAutoFit/>
          </a:bodyPr>
          <a:lstStyle/>
          <a:p>
            <a:pPr>
              <a:lnSpc>
                <a:spcPct val="105000"/>
              </a:lnSpc>
              <a:spcAft>
                <a:spcPts val="500"/>
              </a:spcAft>
            </a:pPr>
            <a:r>
              <a:rPr sz="1200" b="1" i="0">
                <a:solidFill>
                  <a:srgbClr val="10273F"/>
                </a:solidFill>
                <a:latin typeface="Segoe UI Semibold"/>
              </a:rPr>
              <a:t>So we grounded the taxonomy</a:t>
            </a:r>
          </a:p>
          <a:p>
            <a:pPr>
              <a:lnSpc>
                <a:spcPct val="118000"/>
              </a:lnSpc>
              <a:spcAft>
                <a:spcPts val="300"/>
              </a:spcAft>
            </a:pPr>
            <a:r>
              <a:rPr sz="950" b="0" i="0">
                <a:solidFill>
                  <a:srgbClr val="3C5066"/>
                </a:solidFill>
                <a:latin typeface="Segoe UI"/>
              </a:rPr>
              <a:t>BOSS (Shapiro; reviewed in Volpe et al., 2005) is a validated, individual-student classroom observation instrument: Active/Passive Engaged Time vs Off-task Motor/Verbal/Passive.</a:t>
            </a:r>
          </a:p>
          <a:p>
            <a:pPr>
              <a:lnSpc>
                <a:spcPct val="118000"/>
              </a:lnSpc>
              <a:spcAft>
                <a:spcPts val="300"/>
              </a:spcAft>
            </a:pPr>
            <a:r>
              <a:rPr sz="950" b="0" i="0">
                <a:solidFill>
                  <a:srgbClr val="3C5066"/>
                </a:solidFill>
                <a:latin typeface="Segoe UI"/>
              </a:rPr>
              <a:t>Our six categories map onto it — and where they cannot, we say so.</a:t>
            </a:r>
          </a:p>
        </p:txBody>
      </p:sp>
      <p:sp>
        <p:nvSpPr>
          <p:cNvPr id="15" name="Rounded Rectangle 14"/>
          <p:cNvSpPr/>
          <p:nvPr/>
        </p:nvSpPr>
        <p:spPr>
          <a:xfrm>
            <a:off x="6233007" y="1876551"/>
            <a:ext cx="5336895" cy="157276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233007" y="1967991"/>
            <a:ext cx="50292" cy="138988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70751" y="2022855"/>
            <a:ext cx="4916271" cy="1298448"/>
          </a:xfrm>
          <a:prstGeom prst="rect">
            <a:avLst/>
          </a:prstGeom>
          <a:noFill/>
        </p:spPr>
        <p:txBody>
          <a:bodyPr wrap="square" lIns="0" rIns="0" tIns="0" bIns="0" anchor="t">
            <a:spAutoFit/>
          </a:bodyPr>
          <a:lstStyle/>
          <a:p>
            <a:pPr>
              <a:lnSpc>
                <a:spcPct val="105000"/>
              </a:lnSpc>
              <a:spcAft>
                <a:spcPts val="500"/>
              </a:spcAft>
            </a:pPr>
            <a:r>
              <a:rPr sz="1200" b="1" i="0">
                <a:solidFill>
                  <a:srgbClr val="10273F"/>
                </a:solidFill>
                <a:latin typeface="Segoe UI Semibold"/>
              </a:rPr>
              <a:t>And grounded the timescale</a:t>
            </a:r>
          </a:p>
          <a:p>
            <a:pPr>
              <a:lnSpc>
                <a:spcPct val="118000"/>
              </a:lnSpc>
              <a:spcAft>
                <a:spcPts val="300"/>
              </a:spcAft>
            </a:pPr>
            <a:r>
              <a:rPr sz="950" b="0" i="0">
                <a:solidFill>
                  <a:srgbClr val="3C5066"/>
                </a:solidFill>
                <a:latin typeface="Segoe UI"/>
              </a:rPr>
              <a:t>Ariga &amp; Lleras (2011): a single brief break restored vigilance over a 50-minute task — micro-lapses are the mechanism that protects attention, not evidence of its failure.</a:t>
            </a:r>
          </a:p>
          <a:p>
            <a:pPr>
              <a:lnSpc>
                <a:spcPct val="118000"/>
              </a:lnSpc>
              <a:spcAft>
                <a:spcPts val="300"/>
              </a:spcAft>
            </a:pPr>
            <a:r>
              <a:rPr sz="950" b="0" i="0">
                <a:solidFill>
                  <a:srgbClr val="3C5066"/>
                </a:solidFill>
                <a:latin typeface="Segoe UI"/>
              </a:rPr>
              <a:t>Faber, Bixler &amp; D'Mello: gaze-based mind-wandering detection works best over ~12-second windows.</a:t>
            </a:r>
          </a:p>
          <a:p>
            <a:pPr>
              <a:lnSpc>
                <a:spcPct val="118000"/>
              </a:lnSpc>
              <a:spcAft>
                <a:spcPts val="300"/>
              </a:spcAft>
            </a:pPr>
            <a:r>
              <a:rPr sz="950" b="0" i="0">
                <a:solidFill>
                  <a:srgbClr val="3C5066"/>
                </a:solidFill>
                <a:latin typeface="Segoe UI"/>
              </a:rPr>
              <a:t>Zakszeski et al. (2017): 5–15 s momentary sampling tracks continuous observation most accurately.</a:t>
            </a:r>
          </a:p>
        </p:txBody>
      </p:sp>
      <p:sp>
        <p:nvSpPr>
          <p:cNvPr id="18" name="Rounded Rectangle 17"/>
          <p:cNvSpPr/>
          <p:nvPr/>
        </p:nvSpPr>
        <p:spPr>
          <a:xfrm>
            <a:off x="6233007" y="3632199"/>
            <a:ext cx="5336895" cy="157276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33007" y="3723639"/>
            <a:ext cx="50292" cy="1389888"/>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70751" y="3778503"/>
            <a:ext cx="4916271" cy="1298448"/>
          </a:xfrm>
          <a:prstGeom prst="rect">
            <a:avLst/>
          </a:prstGeom>
          <a:noFill/>
        </p:spPr>
        <p:txBody>
          <a:bodyPr wrap="square" lIns="0" rIns="0" tIns="0" bIns="0" anchor="t">
            <a:spAutoFit/>
          </a:bodyPr>
          <a:lstStyle/>
          <a:p>
            <a:pPr>
              <a:lnSpc>
                <a:spcPct val="105000"/>
              </a:lnSpc>
              <a:spcAft>
                <a:spcPts val="500"/>
              </a:spcAft>
            </a:pPr>
            <a:r>
              <a:rPr sz="1200" b="1" i="0">
                <a:solidFill>
                  <a:srgbClr val="10273F"/>
                </a:solidFill>
                <a:latin typeface="Segoe UI Semibold"/>
              </a:rPr>
              <a:t>And bounded what vision can claim</a:t>
            </a:r>
          </a:p>
          <a:p>
            <a:pPr>
              <a:lnSpc>
                <a:spcPct val="118000"/>
              </a:lnSpc>
              <a:spcAft>
                <a:spcPts val="300"/>
              </a:spcAft>
            </a:pPr>
            <a:r>
              <a:rPr sz="950" b="0" i="0">
                <a:solidFill>
                  <a:srgbClr val="3C5066"/>
                </a:solidFill>
                <a:latin typeface="Segoe UI"/>
              </a:rPr>
              <a:t>Kendon's F-formations give a geometric definition of joint orientation — usable from body pose alone.</a:t>
            </a:r>
          </a:p>
          <a:p>
            <a:pPr>
              <a:lnSpc>
                <a:spcPct val="118000"/>
              </a:lnSpc>
              <a:spcAft>
                <a:spcPts val="300"/>
              </a:spcAft>
            </a:pPr>
            <a:r>
              <a:rPr sz="950" b="0" i="0">
                <a:solidFill>
                  <a:srgbClr val="3C5066"/>
                </a:solidFill>
                <a:latin typeface="Segoe UI"/>
              </a:rPr>
              <a:t>But Bassiou et al. (Interspeech 2016) show that separating productive academic peer talk from idle chat needs audio. We therefore refuse to make that call.</a:t>
            </a:r>
          </a:p>
        </p:txBody>
      </p:sp>
      <p:sp>
        <p:nvSpPr>
          <p:cNvPr id="21" name="Rounded Rectangle 20"/>
          <p:cNvSpPr/>
          <p:nvPr/>
        </p:nvSpPr>
        <p:spPr>
          <a:xfrm>
            <a:off x="621792" y="5241544"/>
            <a:ext cx="10948111" cy="786384"/>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77824" y="5369560"/>
            <a:ext cx="10436047" cy="548640"/>
          </a:xfrm>
          <a:prstGeom prst="rect">
            <a:avLst/>
          </a:prstGeom>
          <a:noFill/>
        </p:spPr>
        <p:txBody>
          <a:bodyPr wrap="square" lIns="0" rIns="0" tIns="0" bIns="0" anchor="t">
            <a:spAutoFit/>
          </a:bodyPr>
          <a:lstStyle/>
          <a:p>
            <a:pPr>
              <a:lnSpc>
                <a:spcPct val="124000"/>
              </a:lnSpc>
            </a:pPr>
            <a:r>
              <a:rPr sz="1100" b="1" i="0">
                <a:solidFill>
                  <a:srgbClr val="6FC5CE"/>
                </a:solidFill>
                <a:latin typeface="Segoe UI Semibold"/>
              </a:rPr>
              <a:t>Why this is depth, not decoration:  </a:t>
            </a:r>
            <a:r>
              <a:rPr sz="1100" b="0" i="0">
                <a:solidFill>
                  <a:srgbClr val="FFFFFF"/>
                </a:solidFill>
                <a:latin typeface="Segoe UI"/>
              </a:rPr>
              <a:t>the 15-second window in our implementation was chosen from this literature, and it is independently corroborated by two unrelated lines of work (gaze-based mind-wandering, and school-psychology sampling methodology).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3 — RESEARCH GAP</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The white space, stated precisely</a:t>
            </a:r>
          </a:p>
        </p:txBody>
      </p:sp>
      <p:sp>
        <p:nvSpPr>
          <p:cNvPr id="5" name="Rectangle 4"/>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7" name="TextBox 6"/>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9</a:t>
            </a:r>
          </a:p>
        </p:txBody>
      </p:sp>
      <p:sp>
        <p:nvSpPr>
          <p:cNvPr id="8" name="Rounded Rectangle 7"/>
          <p:cNvSpPr/>
          <p:nvPr/>
        </p:nvSpPr>
        <p:spPr>
          <a:xfrm>
            <a:off x="621792" y="1373886"/>
            <a:ext cx="3490874" cy="1700784"/>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575054"/>
            <a:ext cx="3088538" cy="274320"/>
          </a:xfrm>
          <a:prstGeom prst="rect">
            <a:avLst/>
          </a:prstGeom>
          <a:noFill/>
        </p:spPr>
        <p:txBody>
          <a:bodyPr wrap="square" lIns="0" rIns="0" tIns="0" bIns="0" anchor="t">
            <a:spAutoFit/>
          </a:bodyPr>
          <a:lstStyle/>
          <a:p>
            <a:r>
              <a:rPr sz="1300" b="1" i="0">
                <a:solidFill>
                  <a:srgbClr val="10273F"/>
                </a:solidFill>
                <a:latin typeface="Segoe UI Semibold"/>
              </a:rPr>
              <a:t>Identity persists</a:t>
            </a:r>
          </a:p>
        </p:txBody>
      </p:sp>
      <p:sp>
        <p:nvSpPr>
          <p:cNvPr id="10" name="TextBox 9"/>
          <p:cNvSpPr txBox="1"/>
          <p:nvPr/>
        </p:nvSpPr>
        <p:spPr>
          <a:xfrm>
            <a:off x="822960" y="1940814"/>
            <a:ext cx="3088538" cy="512064"/>
          </a:xfrm>
          <a:prstGeom prst="rect">
            <a:avLst/>
          </a:prstGeom>
          <a:noFill/>
        </p:spPr>
        <p:txBody>
          <a:bodyPr wrap="square" lIns="0" rIns="0" tIns="0" bIns="0" anchor="t">
            <a:spAutoFit/>
          </a:bodyPr>
          <a:lstStyle/>
          <a:p>
            <a:pPr>
              <a:lnSpc>
                <a:spcPct val="118000"/>
              </a:lnSpc>
            </a:pPr>
            <a:r>
              <a:rPr sz="1100" b="1" i="0">
                <a:solidFill>
                  <a:srgbClr val="1F6F50"/>
                </a:solidFill>
                <a:latin typeface="Segoe UI"/>
              </a:rPr>
              <a:t>✓ </a:t>
            </a:r>
            <a:r>
              <a:rPr sz="1000" b="0" i="0">
                <a:solidFill>
                  <a:srgbClr val="3C5066"/>
                </a:solidFill>
                <a:latin typeface="Segoe UI"/>
              </a:rPr>
              <a:t>Re-ID gives a stable student across a session</a:t>
            </a:r>
          </a:p>
        </p:txBody>
      </p:sp>
      <p:sp>
        <p:nvSpPr>
          <p:cNvPr id="11" name="TextBox 10"/>
          <p:cNvSpPr txBox="1"/>
          <p:nvPr/>
        </p:nvSpPr>
        <p:spPr>
          <a:xfrm>
            <a:off x="822960" y="2507741"/>
            <a:ext cx="3088538" cy="475488"/>
          </a:xfrm>
          <a:prstGeom prst="rect">
            <a:avLst/>
          </a:prstGeom>
          <a:noFill/>
        </p:spPr>
        <p:txBody>
          <a:bodyPr wrap="square" lIns="0" rIns="0" tIns="0" bIns="0" anchor="t">
            <a:spAutoFit/>
          </a:bodyPr>
          <a:lstStyle/>
          <a:p>
            <a:pPr>
              <a:lnSpc>
                <a:spcPct val="118000"/>
              </a:lnSpc>
            </a:pPr>
            <a:r>
              <a:rPr sz="1100" b="1" i="0">
                <a:solidFill>
                  <a:srgbClr val="A9332A"/>
                </a:solidFill>
                <a:latin typeface="Segoe UI"/>
              </a:rPr>
              <a:t>✗ </a:t>
            </a:r>
            <a:r>
              <a:rPr sz="1000" b="0" i="0">
                <a:solidFill>
                  <a:srgbClr val="7B8C9E"/>
                </a:solidFill>
                <a:latin typeface="Segoe UI"/>
              </a:rPr>
              <a:t>but only ever demonstrated for surveillance</a:t>
            </a:r>
          </a:p>
        </p:txBody>
      </p:sp>
      <p:sp>
        <p:nvSpPr>
          <p:cNvPr id="12" name="Rounded Rectangle 11"/>
          <p:cNvSpPr/>
          <p:nvPr/>
        </p:nvSpPr>
        <p:spPr>
          <a:xfrm>
            <a:off x="4350410" y="1373886"/>
            <a:ext cx="3490874" cy="1700784"/>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51578" y="1575054"/>
            <a:ext cx="3088538" cy="274320"/>
          </a:xfrm>
          <a:prstGeom prst="rect">
            <a:avLst/>
          </a:prstGeom>
          <a:noFill/>
        </p:spPr>
        <p:txBody>
          <a:bodyPr wrap="square" lIns="0" rIns="0" tIns="0" bIns="0" anchor="t">
            <a:spAutoFit/>
          </a:bodyPr>
          <a:lstStyle/>
          <a:p>
            <a:r>
              <a:rPr sz="1300" b="1" i="0">
                <a:solidFill>
                  <a:srgbClr val="10273F"/>
                </a:solidFill>
                <a:latin typeface="Segoe UI Semibold"/>
              </a:rPr>
              <a:t>Relations are modelled</a:t>
            </a:r>
          </a:p>
        </p:txBody>
      </p:sp>
      <p:sp>
        <p:nvSpPr>
          <p:cNvPr id="14" name="TextBox 13"/>
          <p:cNvSpPr txBox="1"/>
          <p:nvPr/>
        </p:nvSpPr>
        <p:spPr>
          <a:xfrm>
            <a:off x="4551578" y="1940814"/>
            <a:ext cx="3088538" cy="512064"/>
          </a:xfrm>
          <a:prstGeom prst="rect">
            <a:avLst/>
          </a:prstGeom>
          <a:noFill/>
        </p:spPr>
        <p:txBody>
          <a:bodyPr wrap="square" lIns="0" rIns="0" tIns="0" bIns="0" anchor="t">
            <a:spAutoFit/>
          </a:bodyPr>
          <a:lstStyle/>
          <a:p>
            <a:pPr>
              <a:lnSpc>
                <a:spcPct val="118000"/>
              </a:lnSpc>
            </a:pPr>
            <a:r>
              <a:rPr sz="1100" b="1" i="0">
                <a:solidFill>
                  <a:srgbClr val="1F6F50"/>
                </a:solidFill>
                <a:latin typeface="Segoe UI"/>
              </a:rPr>
              <a:t>✓ </a:t>
            </a:r>
            <a:r>
              <a:rPr sz="1000" b="0" i="0">
                <a:solidFill>
                  <a:srgbClr val="3C5066"/>
                </a:solidFill>
                <a:latin typeface="Segoe UI"/>
              </a:rPr>
              <a:t>VidSGG gives evolving subject–predicate–object graphs</a:t>
            </a:r>
          </a:p>
        </p:txBody>
      </p:sp>
      <p:sp>
        <p:nvSpPr>
          <p:cNvPr id="15" name="TextBox 14"/>
          <p:cNvSpPr txBox="1"/>
          <p:nvPr/>
        </p:nvSpPr>
        <p:spPr>
          <a:xfrm>
            <a:off x="4551578" y="2507741"/>
            <a:ext cx="3088538" cy="475488"/>
          </a:xfrm>
          <a:prstGeom prst="rect">
            <a:avLst/>
          </a:prstGeom>
          <a:noFill/>
        </p:spPr>
        <p:txBody>
          <a:bodyPr wrap="square" lIns="0" rIns="0" tIns="0" bIns="0" anchor="t">
            <a:spAutoFit/>
          </a:bodyPr>
          <a:lstStyle/>
          <a:p>
            <a:pPr>
              <a:lnSpc>
                <a:spcPct val="118000"/>
              </a:lnSpc>
            </a:pPr>
            <a:r>
              <a:rPr sz="1100" b="1" i="0">
                <a:solidFill>
                  <a:srgbClr val="A9332A"/>
                </a:solidFill>
                <a:latin typeface="Segoe UI"/>
              </a:rPr>
              <a:t>✗ </a:t>
            </a:r>
            <a:r>
              <a:rPr sz="1000" b="0" i="0">
                <a:solidFill>
                  <a:srgbClr val="7B8C9E"/>
                </a:solidFill>
                <a:latin typeface="Segoe UI"/>
              </a:rPr>
              <a:t>but with generic predicates, never attention</a:t>
            </a:r>
          </a:p>
        </p:txBody>
      </p:sp>
      <p:sp>
        <p:nvSpPr>
          <p:cNvPr id="16" name="Rounded Rectangle 15"/>
          <p:cNvSpPr/>
          <p:nvPr/>
        </p:nvSpPr>
        <p:spPr>
          <a:xfrm>
            <a:off x="8079028" y="1373886"/>
            <a:ext cx="3490874" cy="1700784"/>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80196" y="1575054"/>
            <a:ext cx="3088538" cy="274320"/>
          </a:xfrm>
          <a:prstGeom prst="rect">
            <a:avLst/>
          </a:prstGeom>
          <a:noFill/>
        </p:spPr>
        <p:txBody>
          <a:bodyPr wrap="square" lIns="0" rIns="0" tIns="0" bIns="0" anchor="t">
            <a:spAutoFit/>
          </a:bodyPr>
          <a:lstStyle/>
          <a:p>
            <a:r>
              <a:rPr sz="1300" b="1" i="0">
                <a:solidFill>
                  <a:srgbClr val="10273F"/>
                </a:solidFill>
                <a:latin typeface="Segoe UI Semibold"/>
              </a:rPr>
              <a:t>The group is read out</a:t>
            </a:r>
          </a:p>
        </p:txBody>
      </p:sp>
      <p:sp>
        <p:nvSpPr>
          <p:cNvPr id="18" name="TextBox 17"/>
          <p:cNvSpPr txBox="1"/>
          <p:nvPr/>
        </p:nvSpPr>
        <p:spPr>
          <a:xfrm>
            <a:off x="8280196" y="1940814"/>
            <a:ext cx="3088538" cy="512064"/>
          </a:xfrm>
          <a:prstGeom prst="rect">
            <a:avLst/>
          </a:prstGeom>
          <a:noFill/>
        </p:spPr>
        <p:txBody>
          <a:bodyPr wrap="square" lIns="0" rIns="0" tIns="0" bIns="0" anchor="t">
            <a:spAutoFit/>
          </a:bodyPr>
          <a:lstStyle/>
          <a:p>
            <a:pPr>
              <a:lnSpc>
                <a:spcPct val="118000"/>
              </a:lnSpc>
            </a:pPr>
            <a:r>
              <a:rPr sz="1100" b="1" i="0">
                <a:solidFill>
                  <a:srgbClr val="1F6F50"/>
                </a:solidFill>
                <a:latin typeface="Segoe UI"/>
              </a:rPr>
              <a:t>✓ </a:t>
            </a:r>
            <a:r>
              <a:rPr sz="1000" b="0" i="0">
                <a:solidFill>
                  <a:srgbClr val="3C5066"/>
                </a:solidFill>
                <a:latin typeface="Segoe UI"/>
              </a:rPr>
              <a:t>GAR gives one activity label for a set of actors</a:t>
            </a:r>
          </a:p>
        </p:txBody>
      </p:sp>
      <p:sp>
        <p:nvSpPr>
          <p:cNvPr id="19" name="TextBox 18"/>
          <p:cNvSpPr txBox="1"/>
          <p:nvPr/>
        </p:nvSpPr>
        <p:spPr>
          <a:xfrm>
            <a:off x="8280196" y="2507741"/>
            <a:ext cx="3088538" cy="475488"/>
          </a:xfrm>
          <a:prstGeom prst="rect">
            <a:avLst/>
          </a:prstGeom>
          <a:noFill/>
        </p:spPr>
        <p:txBody>
          <a:bodyPr wrap="square" lIns="0" rIns="0" tIns="0" bIns="0" anchor="t">
            <a:spAutoFit/>
          </a:bodyPr>
          <a:lstStyle/>
          <a:p>
            <a:pPr>
              <a:lnSpc>
                <a:spcPct val="118000"/>
              </a:lnSpc>
            </a:pPr>
            <a:r>
              <a:rPr sz="1100" b="1" i="0">
                <a:solidFill>
                  <a:srgbClr val="A9332A"/>
                </a:solidFill>
                <a:latin typeface="Segoe UI"/>
              </a:rPr>
              <a:t>✗ </a:t>
            </a:r>
            <a:r>
              <a:rPr sz="1000" b="0" i="0">
                <a:solidFill>
                  <a:srgbClr val="7B8C9E"/>
                </a:solidFill>
                <a:latin typeface="Segoe UI"/>
              </a:rPr>
              <a:t>but on sports clips, not sustained engagement</a:t>
            </a:r>
          </a:p>
        </p:txBody>
      </p:sp>
      <p:sp>
        <p:nvSpPr>
          <p:cNvPr id="20" name="Rounded Rectangle 19"/>
          <p:cNvSpPr/>
          <p:nvPr/>
        </p:nvSpPr>
        <p:spPr>
          <a:xfrm>
            <a:off x="621792" y="3330702"/>
            <a:ext cx="10948111" cy="1188720"/>
          </a:xfrm>
          <a:prstGeom prst="roundRect">
            <a:avLst>
              <a:gd name="adj" fmla="val 4500"/>
            </a:avLst>
          </a:prstGeom>
          <a:solidFill>
            <a:srgbClr val="E9F1F4"/>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96112" y="3513582"/>
            <a:ext cx="10399471" cy="274320"/>
          </a:xfrm>
          <a:prstGeom prst="rect">
            <a:avLst/>
          </a:prstGeom>
          <a:noFill/>
        </p:spPr>
        <p:txBody>
          <a:bodyPr wrap="square" lIns="0" rIns="0" tIns="0" bIns="0" anchor="t">
            <a:spAutoFit/>
          </a:bodyPr>
          <a:lstStyle/>
          <a:p>
            <a:r>
              <a:rPr sz="1000" b="1" i="0">
                <a:solidFill>
                  <a:srgbClr val="085961"/>
                </a:solidFill>
                <a:latin typeface="Segoe UI Semibold"/>
              </a:rPr>
              <a:t>THE GAP WE ADDRESS</a:t>
            </a:r>
          </a:p>
        </p:txBody>
      </p:sp>
      <p:sp>
        <p:nvSpPr>
          <p:cNvPr id="22" name="TextBox 21"/>
          <p:cNvSpPr txBox="1"/>
          <p:nvPr/>
        </p:nvSpPr>
        <p:spPr>
          <a:xfrm>
            <a:off x="896112" y="3842766"/>
            <a:ext cx="10399471" cy="566928"/>
          </a:xfrm>
          <a:prstGeom prst="rect">
            <a:avLst/>
          </a:prstGeom>
          <a:noFill/>
        </p:spPr>
        <p:txBody>
          <a:bodyPr wrap="square" lIns="0" rIns="0" tIns="0" bIns="0" anchor="t">
            <a:spAutoFit/>
          </a:bodyPr>
          <a:lstStyle/>
          <a:p>
            <a:pPr>
              <a:lnSpc>
                <a:spcPct val="126000"/>
              </a:lnSpc>
            </a:pPr>
            <a:r>
              <a:rPr sz="1400" b="0" i="0">
                <a:solidFill>
                  <a:srgbClr val="10273F"/>
                </a:solidFill>
                <a:latin typeface="Segoe UI"/>
              </a:rPr>
              <a:t>No prior work combines identity persistence, relational scene graphs and temporal group reasoning for classrooms — and none of the classroom systems ground their behaviour labels in a validated observation instrument.</a:t>
            </a:r>
          </a:p>
        </p:txBody>
      </p:sp>
      <p:sp>
        <p:nvSpPr>
          <p:cNvPr id="23" name="Rounded Rectangle 22"/>
          <p:cNvSpPr/>
          <p:nvPr/>
        </p:nvSpPr>
        <p:spPr>
          <a:xfrm>
            <a:off x="621792" y="4775454"/>
            <a:ext cx="10948111" cy="96926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1792" y="4866894"/>
            <a:ext cx="50292" cy="7863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59536" y="4921758"/>
            <a:ext cx="10527487" cy="694944"/>
          </a:xfrm>
          <a:prstGeom prst="rect">
            <a:avLst/>
          </a:prstGeom>
          <a:noFill/>
        </p:spPr>
        <p:txBody>
          <a:bodyPr wrap="square" lIns="0" rIns="0" tIns="0" bIns="0" anchor="t">
            <a:spAutoFit/>
          </a:bodyPr>
          <a:lstStyle/>
          <a:p>
            <a:pPr>
              <a:lnSpc>
                <a:spcPct val="105000"/>
              </a:lnSpc>
              <a:spcAft>
                <a:spcPts val="500"/>
              </a:spcAft>
            </a:pPr>
            <a:r>
              <a:rPr sz="1200" b="1" i="0">
                <a:solidFill>
                  <a:srgbClr val="10273F"/>
                </a:solidFill>
                <a:latin typeface="Segoe UI Semibold"/>
              </a:rPr>
              <a:t>Our claim is deliberately narrow</a:t>
            </a:r>
          </a:p>
          <a:p>
            <a:pPr>
              <a:lnSpc>
                <a:spcPct val="118000"/>
              </a:lnSpc>
              <a:spcAft>
                <a:spcPts val="300"/>
              </a:spcAft>
            </a:pPr>
            <a:r>
              <a:rPr sz="1050" b="0" i="0">
                <a:solidFill>
                  <a:srgbClr val="3C5066"/>
                </a:solidFill>
                <a:latin typeface="Segoe UI"/>
              </a:rPr>
              <a:t>We are not claiming a new Re-ID loss, a new scene-graph architecture, or a new GAR backbone. The contribution is the integration and the domain: an identity-persistent, behaviour-grounded, temporally-reasoned classroom analytics system — plus the honest reporting of where vision alone cannot decide, which the reviewed classroom literature consistently glosses over.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4 — DATASET IDENTIFICATION</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Primary dataset: SCB-Dataset (Student Classroom Behavior)</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Selected after comparing classroom-specific options against our actual deployment conditions and our actual failure modes.</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10</a:t>
            </a:r>
          </a:p>
        </p:txBody>
      </p:sp>
      <p:sp>
        <p:nvSpPr>
          <p:cNvPr id="9" name="Rounded Rectangle 8"/>
          <p:cNvSpPr/>
          <p:nvPr/>
        </p:nvSpPr>
        <p:spPr>
          <a:xfrm>
            <a:off x="621792" y="1689227"/>
            <a:ext cx="3703320" cy="301752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780667"/>
            <a:ext cx="50292" cy="2834639"/>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9536" y="1835530"/>
            <a:ext cx="3282696" cy="2743200"/>
          </a:xfrm>
          <a:prstGeom prst="rect">
            <a:avLst/>
          </a:prstGeom>
          <a:noFill/>
        </p:spPr>
        <p:txBody>
          <a:bodyPr wrap="square" lIns="0" rIns="0" tIns="0" bIns="0" anchor="t">
            <a:spAutoFit/>
          </a:bodyPr>
          <a:lstStyle/>
          <a:p>
            <a:pPr>
              <a:lnSpc>
                <a:spcPct val="105000"/>
              </a:lnSpc>
              <a:spcAft>
                <a:spcPts val="500"/>
              </a:spcAft>
            </a:pPr>
            <a:r>
              <a:rPr sz="1300" b="1" i="0">
                <a:solidFill>
                  <a:srgbClr val="10273F"/>
                </a:solidFill>
                <a:latin typeface="Segoe UI Semibold"/>
              </a:rPr>
              <a:t>Why this one</a:t>
            </a:r>
          </a:p>
          <a:p>
            <a:pPr>
              <a:lnSpc>
                <a:spcPct val="118000"/>
              </a:lnSpc>
              <a:spcAft>
                <a:spcPts val="300"/>
              </a:spcAft>
            </a:pPr>
            <a:r>
              <a:rPr sz="1000" b="0" i="0">
                <a:solidFill>
                  <a:srgbClr val="3C5066"/>
                </a:solidFill>
                <a:latin typeface="Segoe UI"/>
              </a:rPr>
              <a:t>Real classroom images from elevated / rear-corner cameras — the same viewpoint that causes our hardest problems, not clean frontal webcam video.</a:t>
            </a:r>
          </a:p>
          <a:p>
            <a:pPr>
              <a:lnSpc>
                <a:spcPct val="118000"/>
              </a:lnSpc>
              <a:spcAft>
                <a:spcPts val="300"/>
              </a:spcAft>
            </a:pPr>
            <a:r>
              <a:rPr sz="1000" b="0" i="0">
                <a:solidFill>
                  <a:srgbClr val="3C5066"/>
                </a:solidFill>
                <a:latin typeface="Segoe UI"/>
              </a:rPr>
              <a:t>Covers both student and teacher behaviour in one label space.</a:t>
            </a:r>
          </a:p>
          <a:p>
            <a:pPr>
              <a:lnSpc>
                <a:spcPct val="118000"/>
              </a:lnSpc>
              <a:spcAft>
                <a:spcPts val="300"/>
              </a:spcAft>
            </a:pPr>
            <a:r>
              <a:rPr sz="1000" b="0" i="0">
                <a:solidFill>
                  <a:srgbClr val="3C5066"/>
                </a:solidFill>
                <a:latin typeface="Segoe UI"/>
              </a:rPr>
              <a:t>Benchmarked with YOLO-series detectors, so it drops directly into our existing YOLOv11 detection stage.</a:t>
            </a:r>
          </a:p>
          <a:p>
            <a:pPr>
              <a:lnSpc>
                <a:spcPct val="118000"/>
              </a:lnSpc>
              <a:spcAft>
                <a:spcPts val="300"/>
              </a:spcAft>
            </a:pPr>
            <a:r>
              <a:rPr sz="1000" b="0" i="0">
                <a:solidFill>
                  <a:srgbClr val="3C5066"/>
                </a:solidFill>
                <a:latin typeface="Segoe UI"/>
              </a:rPr>
              <a:t>Public and actively maintained (arXiv 2304.02488, v7 · Aug 2025).</a:t>
            </a:r>
          </a:p>
        </p:txBody>
      </p:sp>
      <p:sp>
        <p:nvSpPr>
          <p:cNvPr id="12" name="Rounded Rectangle 11"/>
          <p:cNvSpPr/>
          <p:nvPr/>
        </p:nvSpPr>
        <p:spPr>
          <a:xfrm>
            <a:off x="4562855" y="1689227"/>
            <a:ext cx="3246120" cy="301752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782312" y="1872106"/>
            <a:ext cx="2834640" cy="274320"/>
          </a:xfrm>
          <a:prstGeom prst="rect">
            <a:avLst/>
          </a:prstGeom>
          <a:noFill/>
        </p:spPr>
        <p:txBody>
          <a:bodyPr wrap="square" lIns="0" rIns="0" tIns="0" bIns="0" anchor="t">
            <a:spAutoFit/>
          </a:bodyPr>
          <a:lstStyle/>
          <a:p>
            <a:r>
              <a:rPr sz="1300" b="1" i="0">
                <a:solidFill>
                  <a:srgbClr val="10273F"/>
                </a:solidFill>
                <a:latin typeface="Segoe UI Semibold"/>
              </a:rPr>
              <a:t>Scale &amp; format</a:t>
            </a:r>
          </a:p>
        </p:txBody>
      </p:sp>
      <p:sp>
        <p:nvSpPr>
          <p:cNvPr id="14" name="TextBox 13"/>
          <p:cNvSpPr txBox="1"/>
          <p:nvPr/>
        </p:nvSpPr>
        <p:spPr>
          <a:xfrm>
            <a:off x="4782312" y="2256155"/>
            <a:ext cx="1691640" cy="256032"/>
          </a:xfrm>
          <a:prstGeom prst="rect">
            <a:avLst/>
          </a:prstGeom>
          <a:noFill/>
        </p:spPr>
        <p:txBody>
          <a:bodyPr wrap="square" lIns="0" rIns="0" tIns="0" bIns="0" anchor="t">
            <a:spAutoFit/>
          </a:bodyPr>
          <a:lstStyle/>
          <a:p>
            <a:r>
              <a:rPr sz="950" b="0" i="0">
                <a:solidFill>
                  <a:srgbClr val="7B8C9E"/>
                </a:solidFill>
                <a:latin typeface="Segoe UI"/>
              </a:rPr>
              <a:t>Detection split</a:t>
            </a:r>
          </a:p>
        </p:txBody>
      </p:sp>
      <p:sp>
        <p:nvSpPr>
          <p:cNvPr id="15" name="TextBox 14"/>
          <p:cNvSpPr txBox="1"/>
          <p:nvPr/>
        </p:nvSpPr>
        <p:spPr>
          <a:xfrm>
            <a:off x="6437375" y="2256155"/>
            <a:ext cx="1170432" cy="256032"/>
          </a:xfrm>
          <a:prstGeom prst="rect">
            <a:avLst/>
          </a:prstGeom>
          <a:noFill/>
        </p:spPr>
        <p:txBody>
          <a:bodyPr wrap="square" lIns="0" rIns="0" tIns="0" bIns="0" anchor="t">
            <a:spAutoFit/>
          </a:bodyPr>
          <a:lstStyle/>
          <a:p>
            <a:pPr algn="r"/>
            <a:r>
              <a:rPr sz="950" b="1" i="0">
                <a:solidFill>
                  <a:srgbClr val="10273F"/>
                </a:solidFill>
                <a:latin typeface="Consolas"/>
              </a:rPr>
              <a:t>13,330 images</a:t>
            </a:r>
          </a:p>
        </p:txBody>
      </p:sp>
      <p:sp>
        <p:nvSpPr>
          <p:cNvPr id="16" name="TextBox 15"/>
          <p:cNvSpPr txBox="1"/>
          <p:nvPr/>
        </p:nvSpPr>
        <p:spPr>
          <a:xfrm>
            <a:off x="4782312" y="2640202"/>
            <a:ext cx="1691640" cy="256032"/>
          </a:xfrm>
          <a:prstGeom prst="rect">
            <a:avLst/>
          </a:prstGeom>
          <a:noFill/>
        </p:spPr>
        <p:txBody>
          <a:bodyPr wrap="square" lIns="0" rIns="0" tIns="0" bIns="0" anchor="t">
            <a:spAutoFit/>
          </a:bodyPr>
          <a:lstStyle/>
          <a:p>
            <a:r>
              <a:rPr sz="950" b="0" i="0">
                <a:solidFill>
                  <a:srgbClr val="7B8C9E"/>
                </a:solidFill>
                <a:latin typeface="Segoe UI"/>
              </a:rPr>
              <a:t>Detection labels</a:t>
            </a:r>
          </a:p>
        </p:txBody>
      </p:sp>
      <p:sp>
        <p:nvSpPr>
          <p:cNvPr id="17" name="TextBox 16"/>
          <p:cNvSpPr txBox="1"/>
          <p:nvPr/>
        </p:nvSpPr>
        <p:spPr>
          <a:xfrm>
            <a:off x="6437375" y="2640202"/>
            <a:ext cx="1170432" cy="256032"/>
          </a:xfrm>
          <a:prstGeom prst="rect">
            <a:avLst/>
          </a:prstGeom>
          <a:noFill/>
        </p:spPr>
        <p:txBody>
          <a:bodyPr wrap="square" lIns="0" rIns="0" tIns="0" bIns="0" anchor="t">
            <a:spAutoFit/>
          </a:bodyPr>
          <a:lstStyle/>
          <a:p>
            <a:pPr algn="r"/>
            <a:r>
              <a:rPr sz="950" b="1" i="0">
                <a:solidFill>
                  <a:srgbClr val="10273F"/>
                </a:solidFill>
                <a:latin typeface="Consolas"/>
              </a:rPr>
              <a:t>122,977 boxes</a:t>
            </a:r>
          </a:p>
        </p:txBody>
      </p:sp>
      <p:sp>
        <p:nvSpPr>
          <p:cNvPr id="18" name="TextBox 17"/>
          <p:cNvSpPr txBox="1"/>
          <p:nvPr/>
        </p:nvSpPr>
        <p:spPr>
          <a:xfrm>
            <a:off x="4782312" y="3024250"/>
            <a:ext cx="1691640" cy="256032"/>
          </a:xfrm>
          <a:prstGeom prst="rect">
            <a:avLst/>
          </a:prstGeom>
          <a:noFill/>
        </p:spPr>
        <p:txBody>
          <a:bodyPr wrap="square" lIns="0" rIns="0" tIns="0" bIns="0" anchor="t">
            <a:spAutoFit/>
          </a:bodyPr>
          <a:lstStyle/>
          <a:p>
            <a:r>
              <a:rPr sz="950" b="0" i="0">
                <a:solidFill>
                  <a:srgbClr val="7B8C9E"/>
                </a:solidFill>
                <a:latin typeface="Segoe UI"/>
              </a:rPr>
              <a:t>Classification split</a:t>
            </a:r>
          </a:p>
        </p:txBody>
      </p:sp>
      <p:sp>
        <p:nvSpPr>
          <p:cNvPr id="19" name="TextBox 18"/>
          <p:cNvSpPr txBox="1"/>
          <p:nvPr/>
        </p:nvSpPr>
        <p:spPr>
          <a:xfrm>
            <a:off x="6437375" y="3024250"/>
            <a:ext cx="1170432" cy="256032"/>
          </a:xfrm>
          <a:prstGeom prst="rect">
            <a:avLst/>
          </a:prstGeom>
          <a:noFill/>
        </p:spPr>
        <p:txBody>
          <a:bodyPr wrap="square" lIns="0" rIns="0" tIns="0" bIns="0" anchor="t">
            <a:spAutoFit/>
          </a:bodyPr>
          <a:lstStyle/>
          <a:p>
            <a:pPr algn="r"/>
            <a:r>
              <a:rPr sz="950" b="1" i="0">
                <a:solidFill>
                  <a:srgbClr val="10273F"/>
                </a:solidFill>
                <a:latin typeface="Consolas"/>
              </a:rPr>
              <a:t>21,019 images</a:t>
            </a:r>
          </a:p>
        </p:txBody>
      </p:sp>
      <p:sp>
        <p:nvSpPr>
          <p:cNvPr id="20" name="TextBox 19"/>
          <p:cNvSpPr txBox="1"/>
          <p:nvPr/>
        </p:nvSpPr>
        <p:spPr>
          <a:xfrm>
            <a:off x="4782312" y="3408298"/>
            <a:ext cx="1691640" cy="256032"/>
          </a:xfrm>
          <a:prstGeom prst="rect">
            <a:avLst/>
          </a:prstGeom>
          <a:noFill/>
        </p:spPr>
        <p:txBody>
          <a:bodyPr wrap="square" lIns="0" rIns="0" tIns="0" bIns="0" anchor="t">
            <a:spAutoFit/>
          </a:bodyPr>
          <a:lstStyle/>
          <a:p>
            <a:r>
              <a:rPr sz="950" b="0" i="0">
                <a:solidFill>
                  <a:srgbClr val="7B8C9E"/>
                </a:solidFill>
                <a:latin typeface="Segoe UI"/>
              </a:rPr>
              <a:t>Behaviour classes</a:t>
            </a:r>
          </a:p>
        </p:txBody>
      </p:sp>
      <p:sp>
        <p:nvSpPr>
          <p:cNvPr id="21" name="TextBox 20"/>
          <p:cNvSpPr txBox="1"/>
          <p:nvPr/>
        </p:nvSpPr>
        <p:spPr>
          <a:xfrm>
            <a:off x="6437375" y="3408298"/>
            <a:ext cx="1170432" cy="256032"/>
          </a:xfrm>
          <a:prstGeom prst="rect">
            <a:avLst/>
          </a:prstGeom>
          <a:noFill/>
        </p:spPr>
        <p:txBody>
          <a:bodyPr wrap="square" lIns="0" rIns="0" tIns="0" bIns="0" anchor="t">
            <a:spAutoFit/>
          </a:bodyPr>
          <a:lstStyle/>
          <a:p>
            <a:pPr algn="r"/>
            <a:r>
              <a:rPr sz="950" b="1" i="0">
                <a:solidFill>
                  <a:srgbClr val="10273F"/>
                </a:solidFill>
                <a:latin typeface="Consolas"/>
              </a:rPr>
              <a:t>19–20</a:t>
            </a:r>
          </a:p>
        </p:txBody>
      </p:sp>
      <p:sp>
        <p:nvSpPr>
          <p:cNvPr id="22" name="TextBox 21"/>
          <p:cNvSpPr txBox="1"/>
          <p:nvPr/>
        </p:nvSpPr>
        <p:spPr>
          <a:xfrm>
            <a:off x="4782312" y="3792346"/>
            <a:ext cx="1691640" cy="256032"/>
          </a:xfrm>
          <a:prstGeom prst="rect">
            <a:avLst/>
          </a:prstGeom>
          <a:noFill/>
        </p:spPr>
        <p:txBody>
          <a:bodyPr wrap="square" lIns="0" rIns="0" tIns="0" bIns="0" anchor="t">
            <a:spAutoFit/>
          </a:bodyPr>
          <a:lstStyle/>
          <a:p>
            <a:r>
              <a:rPr sz="950" b="0" i="0">
                <a:solidFill>
                  <a:srgbClr val="7B8C9E"/>
                </a:solidFill>
                <a:latin typeface="Segoe UI"/>
              </a:rPr>
              <a:t>Annotation format</a:t>
            </a:r>
          </a:p>
        </p:txBody>
      </p:sp>
      <p:sp>
        <p:nvSpPr>
          <p:cNvPr id="23" name="TextBox 22"/>
          <p:cNvSpPr txBox="1"/>
          <p:nvPr/>
        </p:nvSpPr>
        <p:spPr>
          <a:xfrm>
            <a:off x="6437375" y="3792346"/>
            <a:ext cx="1170432" cy="256032"/>
          </a:xfrm>
          <a:prstGeom prst="rect">
            <a:avLst/>
          </a:prstGeom>
          <a:noFill/>
        </p:spPr>
        <p:txBody>
          <a:bodyPr wrap="square" lIns="0" rIns="0" tIns="0" bIns="0" anchor="t">
            <a:spAutoFit/>
          </a:bodyPr>
          <a:lstStyle/>
          <a:p>
            <a:pPr algn="r"/>
            <a:r>
              <a:rPr sz="950" b="1" i="0">
                <a:solidFill>
                  <a:srgbClr val="10273F"/>
                </a:solidFill>
                <a:latin typeface="Consolas"/>
              </a:rPr>
              <a:t>bbox + class / image</a:t>
            </a:r>
          </a:p>
        </p:txBody>
      </p:sp>
      <p:sp>
        <p:nvSpPr>
          <p:cNvPr id="24" name="TextBox 23"/>
          <p:cNvSpPr txBox="1"/>
          <p:nvPr/>
        </p:nvSpPr>
        <p:spPr>
          <a:xfrm>
            <a:off x="4782312" y="4176395"/>
            <a:ext cx="1691640" cy="256032"/>
          </a:xfrm>
          <a:prstGeom prst="rect">
            <a:avLst/>
          </a:prstGeom>
          <a:noFill/>
        </p:spPr>
        <p:txBody>
          <a:bodyPr wrap="square" lIns="0" rIns="0" tIns="0" bIns="0" anchor="t">
            <a:spAutoFit/>
          </a:bodyPr>
          <a:lstStyle/>
          <a:p>
            <a:r>
              <a:rPr sz="950" b="0" i="0">
                <a:solidFill>
                  <a:srgbClr val="7B8C9E"/>
                </a:solidFill>
                <a:latin typeface="Segoe UI"/>
              </a:rPr>
              <a:t>Benchmarked with</a:t>
            </a:r>
          </a:p>
        </p:txBody>
      </p:sp>
      <p:sp>
        <p:nvSpPr>
          <p:cNvPr id="25" name="TextBox 24"/>
          <p:cNvSpPr txBox="1"/>
          <p:nvPr/>
        </p:nvSpPr>
        <p:spPr>
          <a:xfrm>
            <a:off x="6437375" y="4176395"/>
            <a:ext cx="1170432" cy="256032"/>
          </a:xfrm>
          <a:prstGeom prst="rect">
            <a:avLst/>
          </a:prstGeom>
          <a:noFill/>
        </p:spPr>
        <p:txBody>
          <a:bodyPr wrap="square" lIns="0" rIns="0" tIns="0" bIns="0" anchor="t">
            <a:spAutoFit/>
          </a:bodyPr>
          <a:lstStyle/>
          <a:p>
            <a:pPr algn="r"/>
            <a:r>
              <a:rPr sz="950" b="1" i="0">
                <a:solidFill>
                  <a:srgbClr val="10273F"/>
                </a:solidFill>
                <a:latin typeface="Consolas"/>
              </a:rPr>
              <a:t>YOLO series, VLMs</a:t>
            </a:r>
          </a:p>
        </p:txBody>
      </p:sp>
      <p:sp>
        <p:nvSpPr>
          <p:cNvPr id="26" name="Rounded Rectangle 25"/>
          <p:cNvSpPr/>
          <p:nvPr/>
        </p:nvSpPr>
        <p:spPr>
          <a:xfrm>
            <a:off x="8046719" y="1689227"/>
            <a:ext cx="3523183" cy="3017520"/>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84463" y="1872106"/>
            <a:ext cx="3047695" cy="274320"/>
          </a:xfrm>
          <a:prstGeom prst="rect">
            <a:avLst/>
          </a:prstGeom>
          <a:noFill/>
        </p:spPr>
        <p:txBody>
          <a:bodyPr wrap="square" lIns="0" rIns="0" tIns="0" bIns="0" anchor="t">
            <a:spAutoFit/>
          </a:bodyPr>
          <a:lstStyle/>
          <a:p>
            <a:r>
              <a:rPr sz="1000" b="1" i="0">
                <a:solidFill>
                  <a:srgbClr val="6FC5CE"/>
                </a:solidFill>
                <a:latin typeface="Segoe UI Semibold"/>
              </a:rPr>
              <a:t>THE DECIDING FACTOR</a:t>
            </a:r>
          </a:p>
        </p:txBody>
      </p:sp>
      <p:sp>
        <p:nvSpPr>
          <p:cNvPr id="28" name="TextBox 27"/>
          <p:cNvSpPr txBox="1"/>
          <p:nvPr/>
        </p:nvSpPr>
        <p:spPr>
          <a:xfrm>
            <a:off x="8284463" y="2219579"/>
            <a:ext cx="3047695" cy="731520"/>
          </a:xfrm>
          <a:prstGeom prst="rect">
            <a:avLst/>
          </a:prstGeom>
          <a:noFill/>
        </p:spPr>
        <p:txBody>
          <a:bodyPr wrap="square" lIns="0" rIns="0" tIns="0" bIns="0" anchor="t">
            <a:spAutoFit/>
          </a:bodyPr>
          <a:lstStyle/>
          <a:p>
            <a:pPr>
              <a:lnSpc>
                <a:spcPct val="116000"/>
              </a:lnSpc>
            </a:pPr>
            <a:r>
              <a:rPr sz="1350" b="1" i="0">
                <a:solidFill>
                  <a:srgbClr val="FFFFFF"/>
                </a:solidFill>
                <a:latin typeface="Segoe UI Semibold"/>
              </a:rPr>
              <a:t>Its label set resolves the exact ambiguity our geometry cannot.</a:t>
            </a:r>
          </a:p>
        </p:txBody>
      </p:sp>
      <p:sp>
        <p:nvSpPr>
          <p:cNvPr id="29" name="TextBox 28"/>
          <p:cNvSpPr txBox="1"/>
          <p:nvPr/>
        </p:nvSpPr>
        <p:spPr>
          <a:xfrm>
            <a:off x="8284463" y="3005963"/>
            <a:ext cx="3047695" cy="1554480"/>
          </a:xfrm>
          <a:prstGeom prst="rect">
            <a:avLst/>
          </a:prstGeom>
          <a:noFill/>
        </p:spPr>
        <p:txBody>
          <a:bodyPr wrap="square" lIns="0" rIns="0" tIns="0" bIns="0" anchor="t">
            <a:spAutoFit/>
          </a:bodyPr>
          <a:lstStyle/>
          <a:p>
            <a:pPr>
              <a:lnSpc>
                <a:spcPct val="126000"/>
              </a:lnSpc>
            </a:pPr>
            <a:r>
              <a:rPr sz="1050" b="0" i="0">
                <a:solidFill>
                  <a:srgbClr val="D6E4EC"/>
                </a:solidFill>
                <a:latin typeface="Segoe UI"/>
              </a:rPr>
              <a:t>From head pose alone we can tell a student is looking down — but not whether they are reading, writing, or disengaged. SCB labels bow head, read, write, using the phone, turn head, talk and discuss as separate classes, which is supervision for precisely the distinction we documented as unresolvable without it.</a:t>
            </a:r>
          </a:p>
        </p:txBody>
      </p:sp>
      <p:sp>
        <p:nvSpPr>
          <p:cNvPr id="30" name="TextBox 29"/>
          <p:cNvSpPr txBox="1"/>
          <p:nvPr/>
        </p:nvSpPr>
        <p:spPr>
          <a:xfrm>
            <a:off x="621792" y="4944491"/>
            <a:ext cx="10948111" cy="256032"/>
          </a:xfrm>
          <a:prstGeom prst="rect">
            <a:avLst/>
          </a:prstGeom>
          <a:noFill/>
        </p:spPr>
        <p:txBody>
          <a:bodyPr wrap="square" lIns="0" rIns="0" tIns="0" bIns="0" anchor="t">
            <a:spAutoFit/>
          </a:bodyPr>
          <a:lstStyle/>
          <a:p>
            <a:r>
              <a:rPr sz="1150" b="1" i="0">
                <a:solidFill>
                  <a:srgbClr val="10273F"/>
                </a:solidFill>
                <a:latin typeface="Segoe UI Semibold"/>
              </a:rPr>
              <a:t>Class labels that map directly onto our behaviour categories</a:t>
            </a:r>
          </a:p>
        </p:txBody>
      </p:sp>
      <p:sp>
        <p:nvSpPr>
          <p:cNvPr id="31" name="Rounded Rectangle 30"/>
          <p:cNvSpPr/>
          <p:nvPr/>
        </p:nvSpPr>
        <p:spPr>
          <a:xfrm>
            <a:off x="621792" y="5273675"/>
            <a:ext cx="1221638"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21792" y="5305679"/>
            <a:ext cx="1221638" cy="246888"/>
          </a:xfrm>
          <a:prstGeom prst="rect">
            <a:avLst/>
          </a:prstGeom>
          <a:noFill/>
        </p:spPr>
        <p:txBody>
          <a:bodyPr wrap="square" lIns="0" rIns="0" tIns="0" bIns="0" anchor="ctr">
            <a:spAutoFit/>
          </a:bodyPr>
          <a:lstStyle/>
          <a:p>
            <a:pPr algn="ctr"/>
            <a:r>
              <a:rPr sz="900" b="1" i="0">
                <a:solidFill>
                  <a:srgbClr val="085961"/>
                </a:solidFill>
                <a:latin typeface="Segoe UI Semibold"/>
              </a:rPr>
              <a:t>hand-raising</a:t>
            </a:r>
          </a:p>
        </p:txBody>
      </p:sp>
      <p:sp>
        <p:nvSpPr>
          <p:cNvPr id="33" name="Rounded Rectangle 32"/>
          <p:cNvSpPr/>
          <p:nvPr/>
        </p:nvSpPr>
        <p:spPr>
          <a:xfrm>
            <a:off x="1953158" y="5273675"/>
            <a:ext cx="577900"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953158" y="5305679"/>
            <a:ext cx="577900" cy="246888"/>
          </a:xfrm>
          <a:prstGeom prst="rect">
            <a:avLst/>
          </a:prstGeom>
          <a:noFill/>
        </p:spPr>
        <p:txBody>
          <a:bodyPr wrap="square" lIns="0" rIns="0" tIns="0" bIns="0" anchor="ctr">
            <a:spAutoFit/>
          </a:bodyPr>
          <a:lstStyle/>
          <a:p>
            <a:pPr algn="ctr"/>
            <a:r>
              <a:rPr sz="900" b="1" i="0">
                <a:solidFill>
                  <a:srgbClr val="085961"/>
                </a:solidFill>
                <a:latin typeface="Segoe UI Semibold"/>
              </a:rPr>
              <a:t>read</a:t>
            </a:r>
          </a:p>
        </p:txBody>
      </p:sp>
      <p:sp>
        <p:nvSpPr>
          <p:cNvPr id="35" name="Rounded Rectangle 34"/>
          <p:cNvSpPr/>
          <p:nvPr/>
        </p:nvSpPr>
        <p:spPr>
          <a:xfrm>
            <a:off x="2640787" y="5273675"/>
            <a:ext cx="658368"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640787" y="5305679"/>
            <a:ext cx="658368" cy="246888"/>
          </a:xfrm>
          <a:prstGeom prst="rect">
            <a:avLst/>
          </a:prstGeom>
          <a:noFill/>
        </p:spPr>
        <p:txBody>
          <a:bodyPr wrap="square" lIns="0" rIns="0" tIns="0" bIns="0" anchor="ctr">
            <a:spAutoFit/>
          </a:bodyPr>
          <a:lstStyle/>
          <a:p>
            <a:pPr algn="ctr"/>
            <a:r>
              <a:rPr sz="900" b="1" i="0">
                <a:solidFill>
                  <a:srgbClr val="085961"/>
                </a:solidFill>
                <a:latin typeface="Segoe UI Semibold"/>
              </a:rPr>
              <a:t>write</a:t>
            </a:r>
          </a:p>
        </p:txBody>
      </p:sp>
      <p:sp>
        <p:nvSpPr>
          <p:cNvPr id="37" name="Rounded Rectangle 36"/>
          <p:cNvSpPr/>
          <p:nvPr/>
        </p:nvSpPr>
        <p:spPr>
          <a:xfrm>
            <a:off x="3408883" y="5273675"/>
            <a:ext cx="899769"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408883" y="5305679"/>
            <a:ext cx="899769" cy="246888"/>
          </a:xfrm>
          <a:prstGeom prst="rect">
            <a:avLst/>
          </a:prstGeom>
          <a:noFill/>
        </p:spPr>
        <p:txBody>
          <a:bodyPr wrap="square" lIns="0" rIns="0" tIns="0" bIns="0" anchor="ctr">
            <a:spAutoFit/>
          </a:bodyPr>
          <a:lstStyle/>
          <a:p>
            <a:pPr algn="ctr"/>
            <a:r>
              <a:rPr sz="900" b="1" i="0">
                <a:solidFill>
                  <a:srgbClr val="085961"/>
                </a:solidFill>
                <a:latin typeface="Segoe UI Semibold"/>
              </a:rPr>
              <a:t>bow head</a:t>
            </a:r>
          </a:p>
        </p:txBody>
      </p:sp>
      <p:sp>
        <p:nvSpPr>
          <p:cNvPr id="39" name="Rounded Rectangle 38"/>
          <p:cNvSpPr/>
          <p:nvPr/>
        </p:nvSpPr>
        <p:spPr>
          <a:xfrm>
            <a:off x="4418380" y="5273675"/>
            <a:ext cx="980236"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418380" y="5305679"/>
            <a:ext cx="980236" cy="246888"/>
          </a:xfrm>
          <a:prstGeom prst="rect">
            <a:avLst/>
          </a:prstGeom>
          <a:noFill/>
        </p:spPr>
        <p:txBody>
          <a:bodyPr wrap="square" lIns="0" rIns="0" tIns="0" bIns="0" anchor="ctr">
            <a:spAutoFit/>
          </a:bodyPr>
          <a:lstStyle/>
          <a:p>
            <a:pPr algn="ctr"/>
            <a:r>
              <a:rPr sz="900" b="1" i="0">
                <a:solidFill>
                  <a:srgbClr val="085961"/>
                </a:solidFill>
                <a:latin typeface="Segoe UI Semibold"/>
              </a:rPr>
              <a:t>turn head</a:t>
            </a:r>
          </a:p>
        </p:txBody>
      </p:sp>
      <p:sp>
        <p:nvSpPr>
          <p:cNvPr id="41" name="Rounded Rectangle 40"/>
          <p:cNvSpPr/>
          <p:nvPr/>
        </p:nvSpPr>
        <p:spPr>
          <a:xfrm>
            <a:off x="5508345" y="5273675"/>
            <a:ext cx="577900"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508345" y="5305679"/>
            <a:ext cx="577900" cy="246888"/>
          </a:xfrm>
          <a:prstGeom prst="rect">
            <a:avLst/>
          </a:prstGeom>
          <a:noFill/>
        </p:spPr>
        <p:txBody>
          <a:bodyPr wrap="square" lIns="0" rIns="0" tIns="0" bIns="0" anchor="ctr">
            <a:spAutoFit/>
          </a:bodyPr>
          <a:lstStyle/>
          <a:p>
            <a:pPr algn="ctr"/>
            <a:r>
              <a:rPr sz="900" b="1" i="0">
                <a:solidFill>
                  <a:srgbClr val="085961"/>
                </a:solidFill>
                <a:latin typeface="Segoe UI Semibold"/>
              </a:rPr>
              <a:t>talk</a:t>
            </a:r>
          </a:p>
        </p:txBody>
      </p:sp>
      <p:sp>
        <p:nvSpPr>
          <p:cNvPr id="43" name="Rounded Rectangle 42"/>
          <p:cNvSpPr/>
          <p:nvPr/>
        </p:nvSpPr>
        <p:spPr>
          <a:xfrm>
            <a:off x="6195974" y="5273675"/>
            <a:ext cx="819302"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195974" y="5305679"/>
            <a:ext cx="819302" cy="246888"/>
          </a:xfrm>
          <a:prstGeom prst="rect">
            <a:avLst/>
          </a:prstGeom>
          <a:noFill/>
        </p:spPr>
        <p:txBody>
          <a:bodyPr wrap="square" lIns="0" rIns="0" tIns="0" bIns="0" anchor="ctr">
            <a:spAutoFit/>
          </a:bodyPr>
          <a:lstStyle/>
          <a:p>
            <a:pPr algn="ctr"/>
            <a:r>
              <a:rPr sz="900" b="1" i="0">
                <a:solidFill>
                  <a:srgbClr val="085961"/>
                </a:solidFill>
                <a:latin typeface="Segoe UI Semibold"/>
              </a:rPr>
              <a:t>discuss</a:t>
            </a:r>
          </a:p>
        </p:txBody>
      </p:sp>
      <p:sp>
        <p:nvSpPr>
          <p:cNvPr id="45" name="Rounded Rectangle 44"/>
          <p:cNvSpPr/>
          <p:nvPr/>
        </p:nvSpPr>
        <p:spPr>
          <a:xfrm>
            <a:off x="7125004" y="5273675"/>
            <a:ext cx="1463039"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125004" y="5305679"/>
            <a:ext cx="1463039" cy="246888"/>
          </a:xfrm>
          <a:prstGeom prst="rect">
            <a:avLst/>
          </a:prstGeom>
          <a:noFill/>
        </p:spPr>
        <p:txBody>
          <a:bodyPr wrap="square" lIns="0" rIns="0" tIns="0" bIns="0" anchor="ctr">
            <a:spAutoFit/>
          </a:bodyPr>
          <a:lstStyle/>
          <a:p>
            <a:pPr algn="ctr"/>
            <a:r>
              <a:rPr sz="900" b="1" i="0">
                <a:solidFill>
                  <a:srgbClr val="085961"/>
                </a:solidFill>
                <a:latin typeface="Segoe UI Semibold"/>
              </a:rPr>
              <a:t>using the phone</a:t>
            </a:r>
          </a:p>
        </p:txBody>
      </p:sp>
      <p:sp>
        <p:nvSpPr>
          <p:cNvPr id="47" name="Rounded Rectangle 46"/>
          <p:cNvSpPr/>
          <p:nvPr/>
        </p:nvSpPr>
        <p:spPr>
          <a:xfrm>
            <a:off x="8697772" y="5273675"/>
            <a:ext cx="1704441"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697772" y="5305679"/>
            <a:ext cx="1704441" cy="246888"/>
          </a:xfrm>
          <a:prstGeom prst="rect">
            <a:avLst/>
          </a:prstGeom>
          <a:noFill/>
        </p:spPr>
        <p:txBody>
          <a:bodyPr wrap="square" lIns="0" rIns="0" tIns="0" bIns="0" anchor="ctr">
            <a:spAutoFit/>
          </a:bodyPr>
          <a:lstStyle/>
          <a:p>
            <a:pPr algn="ctr"/>
            <a:r>
              <a:rPr sz="900" b="1" i="0">
                <a:solidFill>
                  <a:srgbClr val="085961"/>
                </a:solidFill>
                <a:latin typeface="Segoe UI Semibold"/>
              </a:rPr>
              <a:t>using the computer</a:t>
            </a:r>
          </a:p>
        </p:txBody>
      </p:sp>
      <p:sp>
        <p:nvSpPr>
          <p:cNvPr id="49" name="Rounded Rectangle 48"/>
          <p:cNvSpPr/>
          <p:nvPr/>
        </p:nvSpPr>
        <p:spPr>
          <a:xfrm>
            <a:off x="10511942" y="5273675"/>
            <a:ext cx="658368"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10511942" y="5305679"/>
            <a:ext cx="658368" cy="246888"/>
          </a:xfrm>
          <a:prstGeom prst="rect">
            <a:avLst/>
          </a:prstGeom>
          <a:noFill/>
        </p:spPr>
        <p:txBody>
          <a:bodyPr wrap="square" lIns="0" rIns="0" tIns="0" bIns="0" anchor="ctr">
            <a:spAutoFit/>
          </a:bodyPr>
          <a:lstStyle/>
          <a:p>
            <a:pPr algn="ctr"/>
            <a:r>
              <a:rPr sz="900" b="1" i="0">
                <a:solidFill>
                  <a:srgbClr val="085961"/>
                </a:solidFill>
                <a:latin typeface="Segoe UI Semibold"/>
              </a:rPr>
              <a:t>stand</a:t>
            </a:r>
          </a:p>
        </p:txBody>
      </p:sp>
      <p:sp>
        <p:nvSpPr>
          <p:cNvPr id="51" name="Rounded Rectangle 50"/>
          <p:cNvSpPr/>
          <p:nvPr/>
        </p:nvSpPr>
        <p:spPr>
          <a:xfrm>
            <a:off x="621792" y="5639435"/>
            <a:ext cx="738835"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21792" y="5671439"/>
            <a:ext cx="738835" cy="246888"/>
          </a:xfrm>
          <a:prstGeom prst="rect">
            <a:avLst/>
          </a:prstGeom>
          <a:noFill/>
        </p:spPr>
        <p:txBody>
          <a:bodyPr wrap="square" lIns="0" rIns="0" tIns="0" bIns="0" anchor="ctr">
            <a:spAutoFit/>
          </a:bodyPr>
          <a:lstStyle/>
          <a:p>
            <a:pPr algn="ctr"/>
            <a:r>
              <a:rPr sz="900" b="1" i="0">
                <a:solidFill>
                  <a:srgbClr val="085961"/>
                </a:solidFill>
                <a:latin typeface="Segoe UI Semibold"/>
              </a:rPr>
              <a:t>answer</a:t>
            </a:r>
          </a:p>
        </p:txBody>
      </p:sp>
      <p:sp>
        <p:nvSpPr>
          <p:cNvPr id="53" name="Rounded Rectangle 52"/>
          <p:cNvSpPr/>
          <p:nvPr/>
        </p:nvSpPr>
        <p:spPr>
          <a:xfrm>
            <a:off x="1470355" y="5639435"/>
            <a:ext cx="577900"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470355" y="5671439"/>
            <a:ext cx="577900" cy="246888"/>
          </a:xfrm>
          <a:prstGeom prst="rect">
            <a:avLst/>
          </a:prstGeom>
          <a:noFill/>
        </p:spPr>
        <p:txBody>
          <a:bodyPr wrap="square" lIns="0" rIns="0" tIns="0" bIns="0" anchor="ctr">
            <a:spAutoFit/>
          </a:bodyPr>
          <a:lstStyle/>
          <a:p>
            <a:pPr algn="ctr"/>
            <a:r>
              <a:rPr sz="900" b="1" i="0">
                <a:solidFill>
                  <a:srgbClr val="085961"/>
                </a:solidFill>
                <a:latin typeface="Segoe UI Semibold"/>
              </a:rPr>
              <a:t>yawn</a:t>
            </a:r>
          </a:p>
        </p:txBody>
      </p:sp>
      <p:sp>
        <p:nvSpPr>
          <p:cNvPr id="55" name="Rounded Rectangle 54"/>
          <p:cNvSpPr/>
          <p:nvPr/>
        </p:nvSpPr>
        <p:spPr>
          <a:xfrm>
            <a:off x="2157984" y="5639435"/>
            <a:ext cx="1463039"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2157984" y="5671439"/>
            <a:ext cx="1463039" cy="246888"/>
          </a:xfrm>
          <a:prstGeom prst="rect">
            <a:avLst/>
          </a:prstGeom>
          <a:noFill/>
        </p:spPr>
        <p:txBody>
          <a:bodyPr wrap="square" lIns="0" rIns="0" tIns="0" bIns="0" anchor="ctr">
            <a:spAutoFit/>
          </a:bodyPr>
          <a:lstStyle/>
          <a:p>
            <a:pPr algn="ctr"/>
            <a:r>
              <a:rPr sz="900" b="1" i="0">
                <a:solidFill>
                  <a:srgbClr val="085961"/>
                </a:solidFill>
                <a:latin typeface="Segoe UI Semibold"/>
              </a:rPr>
              <a:t>leaning on desk</a:t>
            </a:r>
          </a:p>
        </p:txBody>
      </p:sp>
      <p:sp>
        <p:nvSpPr>
          <p:cNvPr id="57" name="Rounded Rectangle 56"/>
          <p:cNvSpPr/>
          <p:nvPr/>
        </p:nvSpPr>
        <p:spPr>
          <a:xfrm>
            <a:off x="3730752" y="5639435"/>
            <a:ext cx="819302" cy="292608"/>
          </a:xfrm>
          <a:prstGeom prst="roundRect">
            <a:avLst>
              <a:gd name="adj" fmla="val 50000"/>
            </a:avLst>
          </a:prstGeom>
          <a:solidFill>
            <a:srgbClr val="E9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3730752" y="5671439"/>
            <a:ext cx="819302" cy="246888"/>
          </a:xfrm>
          <a:prstGeom prst="rect">
            <a:avLst/>
          </a:prstGeom>
          <a:noFill/>
        </p:spPr>
        <p:txBody>
          <a:bodyPr wrap="square" lIns="0" rIns="0" tIns="0" bIns="0" anchor="ctr">
            <a:spAutoFit/>
          </a:bodyPr>
          <a:lstStyle/>
          <a:p>
            <a:pPr algn="ctr"/>
            <a:r>
              <a:rPr sz="900" b="1" i="0">
                <a:solidFill>
                  <a:srgbClr val="085961"/>
                </a:solidFill>
                <a:latin typeface="Segoe UI Semibold"/>
              </a:rPr>
              <a:t>teacher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4 — DATASET IDENTIFICATION</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Supporting benchmarks per module, and the honest challenges</a:t>
            </a:r>
          </a:p>
        </p:txBody>
      </p:sp>
      <p:sp>
        <p:nvSpPr>
          <p:cNvPr id="5" name="TextBox 4"/>
          <p:cNvSpPr txBox="1"/>
          <p:nvPr/>
        </p:nvSpPr>
        <p:spPr>
          <a:xfrm>
            <a:off x="621792" y="1282445"/>
            <a:ext cx="10765231" cy="411225"/>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No dataset carries classroom video + identity + scene-graph + group labels together, so each module is benchmarked on its field-standard set.</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11</a:t>
            </a:r>
          </a:p>
        </p:txBody>
      </p:sp>
      <p:graphicFrame>
        <p:nvGraphicFramePr>
          <p:cNvPr id="9" name="Table 8"/>
          <p:cNvGraphicFramePr>
            <a:graphicFrameLocks noGrp="1"/>
          </p:cNvGraphicFramePr>
          <p:nvPr/>
        </p:nvGraphicFramePr>
        <p:xfrm>
          <a:off x="621792" y="1876551"/>
          <a:ext cx="10945368" cy="2633472"/>
        </p:xfrm>
        <a:graphic>
          <a:graphicData uri="http://schemas.openxmlformats.org/drawingml/2006/table">
            <a:tbl>
              <a:tblPr>
                <a:tableStyleId>{5C22544A-7EE6-4342-B048-85BDC9FD1C3A}</a:tableStyleId>
              </a:tblPr>
              <a:tblGrid>
                <a:gridCol w="2148840"/>
                <a:gridCol w="2331720"/>
                <a:gridCol w="2606040"/>
                <a:gridCol w="3858768"/>
              </a:tblGrid>
              <a:tr h="329184">
                <a:tc>
                  <a:txBody>
                    <a:bodyPr wrap="square"/>
                    <a:lstStyle/>
                    <a:p>
                      <a:r>
                        <a:rPr sz="950" b="1">
                          <a:solidFill>
                            <a:srgbClr val="FFFFFF"/>
                          </a:solidFill>
                          <a:latin typeface="Segoe UI Semibold"/>
                        </a:rPr>
                        <a:t>Module</a:t>
                      </a:r>
                    </a:p>
                  </a:txBody>
                  <a:tcPr marL="91440" marR="73152" marT="36576" marB="36576" anchor="ctr">
                    <a:solidFill>
                      <a:srgbClr val="10273F"/>
                    </a:solidFill>
                  </a:tcPr>
                </a:tc>
                <a:tc>
                  <a:txBody>
                    <a:bodyPr wrap="square"/>
                    <a:lstStyle/>
                    <a:p>
                      <a:r>
                        <a:rPr sz="950" b="1">
                          <a:solidFill>
                            <a:srgbClr val="FFFFFF"/>
                          </a:solidFill>
                          <a:latin typeface="Segoe UI Semibold"/>
                        </a:rPr>
                        <a:t>Dataset</a:t>
                      </a:r>
                    </a:p>
                  </a:txBody>
                  <a:tcPr marL="91440" marR="73152" marT="36576" marB="36576" anchor="ctr">
                    <a:solidFill>
                      <a:srgbClr val="10273F"/>
                    </a:solidFill>
                  </a:tcPr>
                </a:tc>
                <a:tc>
                  <a:txBody>
                    <a:bodyPr wrap="square"/>
                    <a:lstStyle/>
                    <a:p>
                      <a:r>
                        <a:rPr sz="950" b="1">
                          <a:solidFill>
                            <a:srgbClr val="FFFFFF"/>
                          </a:solidFill>
                          <a:latin typeface="Segoe UI Semibold"/>
                        </a:rPr>
                        <a:t>Label / format</a:t>
                      </a:r>
                    </a:p>
                  </a:txBody>
                  <a:tcPr marL="91440" marR="73152" marT="36576" marB="36576" anchor="ctr">
                    <a:solidFill>
                      <a:srgbClr val="10273F"/>
                    </a:solidFill>
                  </a:tcPr>
                </a:tc>
                <a:tc>
                  <a:txBody>
                    <a:bodyPr wrap="square"/>
                    <a:lstStyle/>
                    <a:p>
                      <a:r>
                        <a:rPr sz="950" b="1">
                          <a:solidFill>
                            <a:srgbClr val="FFFFFF"/>
                          </a:solidFill>
                          <a:latin typeface="Segoe UI Semibold"/>
                        </a:rPr>
                        <a:t>Why this one</a:t>
                      </a:r>
                    </a:p>
                  </a:txBody>
                  <a:tcPr marL="91440" marR="73152" marT="36576" marB="36576" anchor="ctr">
                    <a:solidFill>
                      <a:srgbClr val="10273F"/>
                    </a:solidFill>
                  </a:tcPr>
                </a:tc>
              </a:tr>
              <a:tr h="384048">
                <a:tc>
                  <a:txBody>
                    <a:bodyPr wrap="square"/>
                    <a:lstStyle/>
                    <a:p>
                      <a:r>
                        <a:rPr sz="900" b="1">
                          <a:solidFill>
                            <a:srgbClr val="3C5066"/>
                          </a:solidFill>
                          <a:latin typeface="Segoe UI"/>
                        </a:rPr>
                        <a:t>Person + object detection</a:t>
                      </a:r>
                    </a:p>
                  </a:txBody>
                  <a:tcPr marL="91440" marR="73152" marT="36576" marB="36576" anchor="ctr">
                    <a:solidFill>
                      <a:srgbClr val="FFFFFF"/>
                    </a:solidFill>
                  </a:tcPr>
                </a:tc>
                <a:tc>
                  <a:txBody>
                    <a:bodyPr wrap="square"/>
                    <a:lstStyle/>
                    <a:p>
                      <a:r>
                        <a:rPr sz="900" b="0">
                          <a:solidFill>
                            <a:srgbClr val="3C5066"/>
                          </a:solidFill>
                          <a:latin typeface="Segoe UI"/>
                        </a:rPr>
                        <a:t>SCB-Dataset · COCO</a:t>
                      </a:r>
                    </a:p>
                  </a:txBody>
                  <a:tcPr marL="91440" marR="73152" marT="36576" marB="36576" anchor="ctr">
                    <a:solidFill>
                      <a:srgbClr val="FFFFFF"/>
                    </a:solidFill>
                  </a:tcPr>
                </a:tc>
                <a:tc>
                  <a:txBody>
                    <a:bodyPr wrap="square"/>
                    <a:lstStyle/>
                    <a:p>
                      <a:r>
                        <a:rPr sz="900" b="0">
                          <a:solidFill>
                            <a:srgbClr val="3C5066"/>
                          </a:solidFill>
                          <a:latin typeface="Segoe UI"/>
                        </a:rPr>
                        <a:t>bbox + class per image</a:t>
                      </a:r>
                    </a:p>
                  </a:txBody>
                  <a:tcPr marL="91440" marR="73152" marT="36576" marB="36576" anchor="ctr">
                    <a:solidFill>
                      <a:srgbClr val="FFFFFF"/>
                    </a:solidFill>
                  </a:tcPr>
                </a:tc>
                <a:tc>
                  <a:txBody>
                    <a:bodyPr wrap="square"/>
                    <a:lstStyle/>
                    <a:p>
                      <a:r>
                        <a:rPr sz="900" b="0">
                          <a:solidFill>
                            <a:srgbClr val="3C5066"/>
                          </a:solidFill>
                          <a:latin typeface="Segoe UI"/>
                        </a:rPr>
                        <a:t>Classroom-native; COCO covers phone/laptop/book</a:t>
                      </a:r>
                    </a:p>
                  </a:txBody>
                  <a:tcPr marL="91440" marR="73152" marT="36576" marB="36576" anchor="ctr">
                    <a:solidFill>
                      <a:srgbClr val="FFFFFF"/>
                    </a:solidFill>
                  </a:tcPr>
                </a:tc>
              </a:tr>
              <a:tr h="384048">
                <a:tc>
                  <a:txBody>
                    <a:bodyPr wrap="square"/>
                    <a:lstStyle/>
                    <a:p>
                      <a:r>
                        <a:rPr sz="900" b="1">
                          <a:solidFill>
                            <a:srgbClr val="3C5066"/>
                          </a:solidFill>
                          <a:latin typeface="Segoe UI"/>
                        </a:rPr>
                        <a:t>Identity (Re-ID)</a:t>
                      </a:r>
                    </a:p>
                  </a:txBody>
                  <a:tcPr marL="91440" marR="73152" marT="36576" marB="36576" anchor="ctr">
                    <a:solidFill>
                      <a:srgbClr val="F3F7FA"/>
                    </a:solidFill>
                  </a:tcPr>
                </a:tc>
                <a:tc>
                  <a:txBody>
                    <a:bodyPr wrap="square"/>
                    <a:lstStyle/>
                    <a:p>
                      <a:r>
                        <a:rPr sz="900" b="0">
                          <a:solidFill>
                            <a:srgbClr val="3C5066"/>
                          </a:solidFill>
                          <a:latin typeface="Segoe UI"/>
                        </a:rPr>
                        <a:t>PRCC · LTCC · DeepChange</a:t>
                      </a:r>
                    </a:p>
                  </a:txBody>
                  <a:tcPr marL="91440" marR="73152" marT="36576" marB="36576" anchor="ctr">
                    <a:solidFill>
                      <a:srgbClr val="F3F7FA"/>
                    </a:solidFill>
                  </a:tcPr>
                </a:tc>
                <a:tc>
                  <a:txBody>
                    <a:bodyPr wrap="square"/>
                    <a:lstStyle/>
                    <a:p>
                      <a:r>
                        <a:rPr sz="900" b="0">
                          <a:solidFill>
                            <a:srgbClr val="3C5066"/>
                          </a:solidFill>
                          <a:latin typeface="Segoe UI"/>
                        </a:rPr>
                        <a:t>image + identity label, clothing change</a:t>
                      </a:r>
                    </a:p>
                  </a:txBody>
                  <a:tcPr marL="91440" marR="73152" marT="36576" marB="36576" anchor="ctr">
                    <a:solidFill>
                      <a:srgbClr val="F3F7FA"/>
                    </a:solidFill>
                  </a:tcPr>
                </a:tc>
                <a:tc>
                  <a:txBody>
                    <a:bodyPr wrap="square"/>
                    <a:lstStyle/>
                    <a:p>
                      <a:r>
                        <a:rPr sz="900" b="0">
                          <a:solidFill>
                            <a:srgbClr val="3C5066"/>
                          </a:solidFill>
                          <a:latin typeface="Segoe UI"/>
                        </a:rPr>
                        <a:t>Standard cloth-changing Re-ID protocol (CAL's own benchmarks)</a:t>
                      </a:r>
                    </a:p>
                  </a:txBody>
                  <a:tcPr marL="91440" marR="73152" marT="36576" marB="36576" anchor="ctr">
                    <a:solidFill>
                      <a:srgbClr val="F3F7FA"/>
                    </a:solidFill>
                  </a:tcPr>
                </a:tc>
              </a:tr>
              <a:tr h="384048">
                <a:tc>
                  <a:txBody>
                    <a:bodyPr wrap="square"/>
                    <a:lstStyle/>
                    <a:p>
                      <a:r>
                        <a:rPr sz="900" b="1">
                          <a:solidFill>
                            <a:srgbClr val="3C5066"/>
                          </a:solidFill>
                          <a:latin typeface="Segoe UI"/>
                        </a:rPr>
                        <a:t>Scene graph</a:t>
                      </a:r>
                    </a:p>
                  </a:txBody>
                  <a:tcPr marL="91440" marR="73152" marT="36576" marB="36576" anchor="ctr">
                    <a:solidFill>
                      <a:srgbClr val="FFFFFF"/>
                    </a:solidFill>
                  </a:tcPr>
                </a:tc>
                <a:tc>
                  <a:txBody>
                    <a:bodyPr wrap="square"/>
                    <a:lstStyle/>
                    <a:p>
                      <a:r>
                        <a:rPr sz="900" b="0">
                          <a:solidFill>
                            <a:srgbClr val="3C5066"/>
                          </a:solidFill>
                          <a:latin typeface="Segoe UI"/>
                        </a:rPr>
                        <a:t>Action Genome</a:t>
                      </a:r>
                    </a:p>
                  </a:txBody>
                  <a:tcPr marL="91440" marR="73152" marT="36576" marB="36576" anchor="ctr">
                    <a:solidFill>
                      <a:srgbClr val="FFFFFF"/>
                    </a:solidFill>
                  </a:tcPr>
                </a:tc>
                <a:tc>
                  <a:txBody>
                    <a:bodyPr wrap="square"/>
                    <a:lstStyle/>
                    <a:p>
                      <a:r>
                        <a:rPr sz="900" b="0">
                          <a:solidFill>
                            <a:srgbClr val="3C5066"/>
                          </a:solidFill>
                          <a:latin typeface="Segoe UI"/>
                        </a:rPr>
                        <a:t>subject–predicate–object per frame</a:t>
                      </a:r>
                    </a:p>
                  </a:txBody>
                  <a:tcPr marL="91440" marR="73152" marT="36576" marB="36576" anchor="ctr">
                    <a:solidFill>
                      <a:srgbClr val="FFFFFF"/>
                    </a:solidFill>
                  </a:tcPr>
                </a:tc>
                <a:tc>
                  <a:txBody>
                    <a:bodyPr wrap="square"/>
                    <a:lstStyle/>
                    <a:p>
                      <a:r>
                        <a:rPr sz="900" b="0">
                          <a:solidFill>
                            <a:srgbClr val="3C5066"/>
                          </a:solidFill>
                          <a:latin typeface="Segoe UI"/>
                        </a:rPr>
                        <a:t>STTran's benchmark — lets us compare against the base paper</a:t>
                      </a:r>
                    </a:p>
                  </a:txBody>
                  <a:tcPr marL="91440" marR="73152" marT="36576" marB="36576" anchor="ctr">
                    <a:solidFill>
                      <a:srgbClr val="FFFFFF"/>
                    </a:solidFill>
                  </a:tcPr>
                </a:tc>
              </a:tr>
              <a:tr h="384048">
                <a:tc>
                  <a:txBody>
                    <a:bodyPr wrap="square"/>
                    <a:lstStyle/>
                    <a:p>
                      <a:r>
                        <a:rPr sz="900" b="1">
                          <a:solidFill>
                            <a:srgbClr val="3C5066"/>
                          </a:solidFill>
                          <a:latin typeface="Segoe UI"/>
                        </a:rPr>
                        <a:t>Group activity</a:t>
                      </a:r>
                    </a:p>
                  </a:txBody>
                  <a:tcPr marL="91440" marR="73152" marT="36576" marB="36576" anchor="ctr">
                    <a:solidFill>
                      <a:srgbClr val="F3F7FA"/>
                    </a:solidFill>
                  </a:tcPr>
                </a:tc>
                <a:tc>
                  <a:txBody>
                    <a:bodyPr wrap="square"/>
                    <a:lstStyle/>
                    <a:p>
                      <a:r>
                        <a:rPr sz="900" b="0">
                          <a:solidFill>
                            <a:srgbClr val="3C5066"/>
                          </a:solidFill>
                          <a:latin typeface="Segoe UI"/>
                        </a:rPr>
                        <a:t>Volleyball · Collective Activity</a:t>
                      </a:r>
                    </a:p>
                  </a:txBody>
                  <a:tcPr marL="91440" marR="73152" marT="36576" marB="36576" anchor="ctr">
                    <a:solidFill>
                      <a:srgbClr val="F3F7FA"/>
                    </a:solidFill>
                  </a:tcPr>
                </a:tc>
                <a:tc>
                  <a:txBody>
                    <a:bodyPr wrap="square"/>
                    <a:lstStyle/>
                    <a:p>
                      <a:r>
                        <a:rPr sz="900" b="0">
                          <a:solidFill>
                            <a:srgbClr val="3C5066"/>
                          </a:solidFill>
                          <a:latin typeface="Segoe UI"/>
                        </a:rPr>
                        <a:t>clip + group activity label</a:t>
                      </a:r>
                    </a:p>
                  </a:txBody>
                  <a:tcPr marL="91440" marR="73152" marT="36576" marB="36576" anchor="ctr">
                    <a:solidFill>
                      <a:srgbClr val="F3F7FA"/>
                    </a:solidFill>
                  </a:tcPr>
                </a:tc>
                <a:tc>
                  <a:txBody>
                    <a:bodyPr wrap="square"/>
                    <a:lstStyle/>
                    <a:p>
                      <a:r>
                        <a:rPr sz="900" b="0">
                          <a:solidFill>
                            <a:srgbClr val="3C5066"/>
                          </a:solidFill>
                          <a:latin typeface="Segoe UI"/>
                        </a:rPr>
                        <a:t>ARG's benchmarks — same reason</a:t>
                      </a:r>
                    </a:p>
                  </a:txBody>
                  <a:tcPr marL="91440" marR="73152" marT="36576" marB="36576" anchor="ctr">
                    <a:solidFill>
                      <a:srgbClr val="F3F7FA"/>
                    </a:solidFill>
                  </a:tcPr>
                </a:tc>
              </a:tr>
              <a:tr h="384048">
                <a:tc>
                  <a:txBody>
                    <a:bodyPr wrap="square"/>
                    <a:lstStyle/>
                    <a:p>
                      <a:r>
                        <a:rPr sz="900" b="1">
                          <a:solidFill>
                            <a:srgbClr val="3C5066"/>
                          </a:solidFill>
                          <a:latin typeface="Segoe UI"/>
                        </a:rPr>
                        <a:t>Head pose</a:t>
                      </a:r>
                    </a:p>
                  </a:txBody>
                  <a:tcPr marL="91440" marR="73152" marT="36576" marB="36576" anchor="ctr">
                    <a:solidFill>
                      <a:srgbClr val="FFFFFF"/>
                    </a:solidFill>
                  </a:tcPr>
                </a:tc>
                <a:tc>
                  <a:txBody>
                    <a:bodyPr wrap="square"/>
                    <a:lstStyle/>
                    <a:p>
                      <a:r>
                        <a:rPr sz="900" b="0">
                          <a:solidFill>
                            <a:srgbClr val="3C5066"/>
                          </a:solidFill>
                          <a:latin typeface="Segoe UI"/>
                        </a:rPr>
                        <a:t>300W-LP · BIWI · AFLW2000</a:t>
                      </a:r>
                    </a:p>
                  </a:txBody>
                  <a:tcPr marL="91440" marR="73152" marT="36576" marB="36576" anchor="ctr">
                    <a:solidFill>
                      <a:srgbClr val="FFFFFF"/>
                    </a:solidFill>
                  </a:tcPr>
                </a:tc>
                <a:tc>
                  <a:txBody>
                    <a:bodyPr wrap="square"/>
                    <a:lstStyle/>
                    <a:p>
                      <a:r>
                        <a:rPr sz="900" b="0">
                          <a:solidFill>
                            <a:srgbClr val="3C5066"/>
                          </a:solidFill>
                          <a:latin typeface="Segoe UI"/>
                        </a:rPr>
                        <a:t>image + yaw/pitch/roll</a:t>
                      </a:r>
                    </a:p>
                  </a:txBody>
                  <a:tcPr marL="91440" marR="73152" marT="36576" marB="36576" anchor="ctr">
                    <a:solidFill>
                      <a:srgbClr val="FFFFFF"/>
                    </a:solidFill>
                  </a:tcPr>
                </a:tc>
                <a:tc>
                  <a:txBody>
                    <a:bodyPr wrap="square"/>
                    <a:lstStyle/>
                    <a:p>
                      <a:r>
                        <a:rPr sz="900" b="0">
                          <a:solidFill>
                            <a:srgbClr val="3C5066"/>
                          </a:solidFill>
                          <a:latin typeface="Segoe UI"/>
                        </a:rPr>
                        <a:t>Training/eval sets of the SixDRepNet model we deploy</a:t>
                      </a:r>
                    </a:p>
                  </a:txBody>
                  <a:tcPr marL="91440" marR="73152" marT="36576" marB="36576" anchor="ctr">
                    <a:solidFill>
                      <a:srgbClr val="FFFFFF"/>
                    </a:solidFill>
                  </a:tcPr>
                </a:tc>
              </a:tr>
              <a:tr h="384048">
                <a:tc>
                  <a:txBody>
                    <a:bodyPr wrap="square"/>
                    <a:lstStyle/>
                    <a:p>
                      <a:r>
                        <a:rPr sz="900" b="1">
                          <a:solidFill>
                            <a:srgbClr val="3C5066"/>
                          </a:solidFill>
                          <a:latin typeface="Segoe UI"/>
                        </a:rPr>
                        <a:t>Engagement (reference)</a:t>
                      </a:r>
                    </a:p>
                  </a:txBody>
                  <a:tcPr marL="91440" marR="73152" marT="36576" marB="36576" anchor="ctr">
                    <a:solidFill>
                      <a:srgbClr val="F3F7FA"/>
                    </a:solidFill>
                  </a:tcPr>
                </a:tc>
                <a:tc>
                  <a:txBody>
                    <a:bodyPr wrap="square"/>
                    <a:lstStyle/>
                    <a:p>
                      <a:r>
                        <a:rPr sz="900" b="0">
                          <a:solidFill>
                            <a:srgbClr val="3C5066"/>
                          </a:solidFill>
                          <a:latin typeface="Segoe UI"/>
                        </a:rPr>
                        <a:t>DAiSEE</a:t>
                      </a:r>
                    </a:p>
                  </a:txBody>
                  <a:tcPr marL="91440" marR="73152" marT="36576" marB="36576" anchor="ctr">
                    <a:solidFill>
                      <a:srgbClr val="F3F7FA"/>
                    </a:solidFill>
                  </a:tcPr>
                </a:tc>
                <a:tc>
                  <a:txBody>
                    <a:bodyPr wrap="square"/>
                    <a:lstStyle/>
                    <a:p>
                      <a:r>
                        <a:rPr sz="900" b="0">
                          <a:solidFill>
                            <a:srgbClr val="3C5066"/>
                          </a:solidFill>
                          <a:latin typeface="Segoe UI"/>
                        </a:rPr>
                        <a:t>video + engagement level</a:t>
                      </a:r>
                    </a:p>
                  </a:txBody>
                  <a:tcPr marL="91440" marR="73152" marT="36576" marB="36576" anchor="ctr">
                    <a:solidFill>
                      <a:srgbClr val="F3F7FA"/>
                    </a:solidFill>
                  </a:tcPr>
                </a:tc>
                <a:tc>
                  <a:txBody>
                    <a:bodyPr wrap="square"/>
                    <a:lstStyle/>
                    <a:p>
                      <a:r>
                        <a:rPr sz="900" b="0">
                          <a:solidFill>
                            <a:srgbClr val="3C5066"/>
                          </a:solidFill>
                          <a:latin typeface="Segoe UI"/>
                        </a:rPr>
                        <a:t>Comparison point for engagement, though single-subject</a:t>
                      </a:r>
                    </a:p>
                  </a:txBody>
                  <a:tcPr marL="91440" marR="73152" marT="36576" marB="36576" anchor="ctr">
                    <a:solidFill>
                      <a:srgbClr val="F3F7FA"/>
                    </a:solidFill>
                  </a:tcPr>
                </a:tc>
              </a:tr>
            </a:tbl>
          </a:graphicData>
        </a:graphic>
      </p:graphicFrame>
      <p:sp>
        <p:nvSpPr>
          <p:cNvPr id="10" name="Rounded Rectangle 9"/>
          <p:cNvSpPr/>
          <p:nvPr/>
        </p:nvSpPr>
        <p:spPr>
          <a:xfrm>
            <a:off x="621792" y="4638040"/>
            <a:ext cx="3503066" cy="137160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1792" y="4638040"/>
            <a:ext cx="3503066" cy="4572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4672" y="4784344"/>
            <a:ext cx="3137306" cy="237744"/>
          </a:xfrm>
          <a:prstGeom prst="rect">
            <a:avLst/>
          </a:prstGeom>
          <a:noFill/>
        </p:spPr>
        <p:txBody>
          <a:bodyPr wrap="square" lIns="0" rIns="0" tIns="0" bIns="0" anchor="t">
            <a:spAutoFit/>
          </a:bodyPr>
          <a:lstStyle/>
          <a:p>
            <a:r>
              <a:rPr sz="1100" b="1" i="0">
                <a:solidFill>
                  <a:srgbClr val="10273F"/>
                </a:solidFill>
                <a:latin typeface="Segoe UI Semibold"/>
              </a:rPr>
              <a:t>Fragmentation</a:t>
            </a:r>
          </a:p>
        </p:txBody>
      </p:sp>
      <p:sp>
        <p:nvSpPr>
          <p:cNvPr id="13" name="TextBox 12"/>
          <p:cNvSpPr txBox="1"/>
          <p:nvPr/>
        </p:nvSpPr>
        <p:spPr>
          <a:xfrm>
            <a:off x="804672" y="5058664"/>
            <a:ext cx="3137306" cy="47548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No dataset combines classroom + identity + group labels.</a:t>
            </a:r>
          </a:p>
        </p:txBody>
      </p:sp>
      <p:sp>
        <p:nvSpPr>
          <p:cNvPr id="14" name="TextBox 13"/>
          <p:cNvSpPr txBox="1"/>
          <p:nvPr/>
        </p:nvSpPr>
        <p:spPr>
          <a:xfrm>
            <a:off x="804672" y="5570728"/>
            <a:ext cx="3137306" cy="402336"/>
          </a:xfrm>
          <a:prstGeom prst="rect">
            <a:avLst/>
          </a:prstGeom>
          <a:noFill/>
        </p:spPr>
        <p:txBody>
          <a:bodyPr wrap="square" lIns="0" rIns="0" tIns="0" bIns="0" anchor="t">
            <a:spAutoFit/>
          </a:bodyPr>
          <a:lstStyle/>
          <a:p>
            <a:pPr>
              <a:lnSpc>
                <a:spcPct val="116000"/>
              </a:lnSpc>
            </a:pPr>
            <a:r>
              <a:rPr sz="900" b="1" i="0">
                <a:solidFill>
                  <a:srgbClr val="1F6F50"/>
                </a:solidFill>
                <a:latin typeface="Segoe UI"/>
              </a:rPr>
              <a:t>→ </a:t>
            </a:r>
            <a:r>
              <a:rPr sz="900" b="0" i="0">
                <a:solidFill>
                  <a:srgbClr val="085961"/>
                </a:solidFill>
                <a:latin typeface="Segoe UI"/>
              </a:rPr>
              <a:t>Benchmark per module against its standard set; integrate on our own footage.</a:t>
            </a:r>
          </a:p>
        </p:txBody>
      </p:sp>
      <p:sp>
        <p:nvSpPr>
          <p:cNvPr id="15" name="Rounded Rectangle 14"/>
          <p:cNvSpPr/>
          <p:nvPr/>
        </p:nvSpPr>
        <p:spPr>
          <a:xfrm>
            <a:off x="4344314" y="4638040"/>
            <a:ext cx="3503066" cy="137160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344314" y="4638040"/>
            <a:ext cx="3503066" cy="4572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27194" y="4784344"/>
            <a:ext cx="3137306" cy="237744"/>
          </a:xfrm>
          <a:prstGeom prst="rect">
            <a:avLst/>
          </a:prstGeom>
          <a:noFill/>
        </p:spPr>
        <p:txBody>
          <a:bodyPr wrap="square" lIns="0" rIns="0" tIns="0" bIns="0" anchor="t">
            <a:spAutoFit/>
          </a:bodyPr>
          <a:lstStyle/>
          <a:p>
            <a:r>
              <a:rPr sz="1100" b="1" i="0">
                <a:solidFill>
                  <a:srgbClr val="10273F"/>
                </a:solidFill>
                <a:latin typeface="Segoe UI Semibold"/>
              </a:rPr>
              <a:t>SCB has no identity labels</a:t>
            </a:r>
          </a:p>
        </p:txBody>
      </p:sp>
      <p:sp>
        <p:nvSpPr>
          <p:cNvPr id="18" name="TextBox 17"/>
          <p:cNvSpPr txBox="1"/>
          <p:nvPr/>
        </p:nvSpPr>
        <p:spPr>
          <a:xfrm>
            <a:off x="4527194" y="5058664"/>
            <a:ext cx="3137306" cy="47548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It is per-frame detection only — Re-ID cannot be evaluated on it.</a:t>
            </a:r>
          </a:p>
        </p:txBody>
      </p:sp>
      <p:sp>
        <p:nvSpPr>
          <p:cNvPr id="19" name="TextBox 18"/>
          <p:cNvSpPr txBox="1"/>
          <p:nvPr/>
        </p:nvSpPr>
        <p:spPr>
          <a:xfrm>
            <a:off x="4527194" y="5570728"/>
            <a:ext cx="3137306" cy="402336"/>
          </a:xfrm>
          <a:prstGeom prst="rect">
            <a:avLst/>
          </a:prstGeom>
          <a:noFill/>
        </p:spPr>
        <p:txBody>
          <a:bodyPr wrap="square" lIns="0" rIns="0" tIns="0" bIns="0" anchor="t">
            <a:spAutoFit/>
          </a:bodyPr>
          <a:lstStyle/>
          <a:p>
            <a:pPr>
              <a:lnSpc>
                <a:spcPct val="116000"/>
              </a:lnSpc>
            </a:pPr>
            <a:r>
              <a:rPr sz="900" b="1" i="0">
                <a:solidFill>
                  <a:srgbClr val="1F6F50"/>
                </a:solidFill>
                <a:latin typeface="Segoe UI"/>
              </a:rPr>
              <a:t>→ </a:t>
            </a:r>
            <a:r>
              <a:rPr sz="900" b="0" i="0">
                <a:solidFill>
                  <a:srgbClr val="085961"/>
                </a:solidFill>
                <a:latin typeface="Segoe UI"/>
              </a:rPr>
              <a:t>Re-ID benchmarked separately on PRCC/LTCC; identity validated on our own continuous video.</a:t>
            </a:r>
          </a:p>
        </p:txBody>
      </p:sp>
      <p:sp>
        <p:nvSpPr>
          <p:cNvPr id="20" name="Rounded Rectangle 19"/>
          <p:cNvSpPr/>
          <p:nvPr/>
        </p:nvSpPr>
        <p:spPr>
          <a:xfrm>
            <a:off x="8066836" y="4638040"/>
            <a:ext cx="3503066" cy="137160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066836" y="4638040"/>
            <a:ext cx="3503066" cy="4572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49716" y="4784344"/>
            <a:ext cx="3137306" cy="237744"/>
          </a:xfrm>
          <a:prstGeom prst="rect">
            <a:avLst/>
          </a:prstGeom>
          <a:noFill/>
        </p:spPr>
        <p:txBody>
          <a:bodyPr wrap="square" lIns="0" rIns="0" tIns="0" bIns="0" anchor="t">
            <a:spAutoFit/>
          </a:bodyPr>
          <a:lstStyle/>
          <a:p>
            <a:r>
              <a:rPr sz="1100" b="1" i="0">
                <a:solidFill>
                  <a:srgbClr val="10273F"/>
                </a:solidFill>
                <a:latin typeface="Segoe UI Semibold"/>
              </a:rPr>
              <a:t>Resolution sensitivity</a:t>
            </a:r>
          </a:p>
        </p:txBody>
      </p:sp>
      <p:sp>
        <p:nvSpPr>
          <p:cNvPr id="23" name="TextBox 22"/>
          <p:cNvSpPr txBox="1"/>
          <p:nvPr/>
        </p:nvSpPr>
        <p:spPr>
          <a:xfrm>
            <a:off x="8249716" y="5058664"/>
            <a:ext cx="3137306" cy="475488"/>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Our own 13-image pilot showed face detection collapsing at low resolution.</a:t>
            </a:r>
          </a:p>
        </p:txBody>
      </p:sp>
      <p:sp>
        <p:nvSpPr>
          <p:cNvPr id="24" name="TextBox 23"/>
          <p:cNvSpPr txBox="1"/>
          <p:nvPr/>
        </p:nvSpPr>
        <p:spPr>
          <a:xfrm>
            <a:off x="8249716" y="5570728"/>
            <a:ext cx="3137306" cy="402336"/>
          </a:xfrm>
          <a:prstGeom prst="rect">
            <a:avLst/>
          </a:prstGeom>
          <a:noFill/>
        </p:spPr>
        <p:txBody>
          <a:bodyPr wrap="square" lIns="0" rIns="0" tIns="0" bIns="0" anchor="t">
            <a:spAutoFit/>
          </a:bodyPr>
          <a:lstStyle/>
          <a:p>
            <a:pPr>
              <a:lnSpc>
                <a:spcPct val="116000"/>
              </a:lnSpc>
            </a:pPr>
            <a:r>
              <a:rPr sz="900" b="1" i="0">
                <a:solidFill>
                  <a:srgbClr val="1F6F50"/>
                </a:solidFill>
                <a:latin typeface="Segoe UI"/>
              </a:rPr>
              <a:t>→ </a:t>
            </a:r>
            <a:r>
              <a:rPr sz="900" b="0" i="0">
                <a:solidFill>
                  <a:srgbClr val="085961"/>
                </a:solidFill>
                <a:latin typeface="Segoe UI"/>
              </a:rPr>
              <a:t>Measured it explicitly (see results) and set a minimum capture resolution as a requirement.</a:t>
            </a:r>
          </a:p>
        </p:txBody>
      </p:sp>
      <p:sp>
        <p:nvSpPr>
          <p:cNvPr id="25" name="TextBox 24"/>
          <p:cNvSpPr txBox="1"/>
          <p:nvPr/>
        </p:nvSpPr>
        <p:spPr>
          <a:xfrm>
            <a:off x="621792" y="6119368"/>
            <a:ext cx="10948111" cy="274320"/>
          </a:xfrm>
          <a:prstGeom prst="rect">
            <a:avLst/>
          </a:prstGeom>
          <a:noFill/>
        </p:spPr>
        <p:txBody>
          <a:bodyPr wrap="square" lIns="0" rIns="0" tIns="0" bIns="0" anchor="t">
            <a:spAutoFit/>
          </a:bodyPr>
          <a:lstStyle/>
          <a:p>
            <a:pPr>
              <a:lnSpc>
                <a:spcPct val="120000"/>
              </a:lnSpc>
            </a:pPr>
            <a:r>
              <a:rPr sz="1050" b="1" i="0">
                <a:solidFill>
                  <a:srgbClr val="10273F"/>
                </a:solidFill>
                <a:latin typeface="Segoe UI Semibold"/>
              </a:rPr>
              <a:t>Planned contribution:  </a:t>
            </a:r>
            <a:r>
              <a:rPr sz="1050" b="0" i="0">
                <a:solidFill>
                  <a:srgbClr val="3C5066"/>
                </a:solidFill>
                <a:latin typeface="Segoe UI"/>
              </a:rPr>
              <a:t>annotate 15–30 minutes of our own classroom video with identity + attention + interaction labels — turning the fragmentation gap into a small dataset contribution.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WORKFLOW</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System architecture — five stages, frozen contracts</a:t>
            </a:r>
          </a:p>
        </p:txBody>
      </p:sp>
      <p:sp>
        <p:nvSpPr>
          <p:cNvPr id="5" name="TextBox 4"/>
          <p:cNvSpPr txBox="1"/>
          <p:nvPr/>
        </p:nvSpPr>
        <p:spPr>
          <a:xfrm>
            <a:off x="621792" y="1282445"/>
            <a:ext cx="10765231" cy="411225"/>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Each stage consumes the previous stage's output through a fixed JSON schema, so three people can build in parallel against stable interfaces.</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12</a:t>
            </a:r>
          </a:p>
        </p:txBody>
      </p:sp>
      <p:sp>
        <p:nvSpPr>
          <p:cNvPr id="9" name="Rounded Rectangle 8"/>
          <p:cNvSpPr/>
          <p:nvPr/>
        </p:nvSpPr>
        <p:spPr>
          <a:xfrm>
            <a:off x="621792" y="1876551"/>
            <a:ext cx="1970166" cy="2487168"/>
          </a:xfrm>
          <a:prstGeom prst="roundRect">
            <a:avLst>
              <a:gd name="adj" fmla="val 4500"/>
            </a:avLst>
          </a:prstGeom>
          <a:solidFill>
            <a:srgbClr val="FFFFFF"/>
          </a:solidFill>
          <a:ln w="19050">
            <a:solidFill>
              <a:srgbClr val="1F6F5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876551"/>
            <a:ext cx="1970166" cy="4572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2077720"/>
            <a:ext cx="365760" cy="274320"/>
          </a:xfrm>
          <a:prstGeom prst="rect">
            <a:avLst/>
          </a:prstGeom>
          <a:noFill/>
        </p:spPr>
        <p:txBody>
          <a:bodyPr wrap="square" lIns="0" rIns="0" tIns="0" bIns="0" anchor="t">
            <a:spAutoFit/>
          </a:bodyPr>
          <a:lstStyle/>
          <a:p>
            <a:r>
              <a:rPr sz="1500" b="1" i="0">
                <a:solidFill>
                  <a:srgbClr val="1F6F50"/>
                </a:solidFill>
                <a:latin typeface="Segoe UI Semibold"/>
              </a:rPr>
              <a:t>1</a:t>
            </a:r>
          </a:p>
        </p:txBody>
      </p:sp>
      <p:sp>
        <p:nvSpPr>
          <p:cNvPr id="12" name="Rounded Rectangle 11"/>
          <p:cNvSpPr/>
          <p:nvPr/>
        </p:nvSpPr>
        <p:spPr>
          <a:xfrm>
            <a:off x="1805574" y="2096007"/>
            <a:ext cx="621792" cy="237744"/>
          </a:xfrm>
          <a:prstGeom prst="roundRect">
            <a:avLst>
              <a:gd name="adj" fmla="val 50000"/>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05574" y="2128011"/>
            <a:ext cx="621792" cy="192024"/>
          </a:xfrm>
          <a:prstGeom prst="rect">
            <a:avLst/>
          </a:prstGeom>
          <a:noFill/>
        </p:spPr>
        <p:txBody>
          <a:bodyPr wrap="square" lIns="0" rIns="0" tIns="0" bIns="0" anchor="ctr">
            <a:spAutoFit/>
          </a:bodyPr>
          <a:lstStyle/>
          <a:p>
            <a:pPr algn="ctr"/>
            <a:r>
              <a:rPr sz="750" b="1" i="0">
                <a:solidFill>
                  <a:srgbClr val="FFFFFF"/>
                </a:solidFill>
                <a:latin typeface="Segoe UI Semibold"/>
              </a:rPr>
              <a:t>BUILT</a:t>
            </a:r>
          </a:p>
        </p:txBody>
      </p:sp>
      <p:sp>
        <p:nvSpPr>
          <p:cNvPr id="14" name="TextBox 13"/>
          <p:cNvSpPr txBox="1"/>
          <p:nvPr/>
        </p:nvSpPr>
        <p:spPr>
          <a:xfrm>
            <a:off x="786384" y="2443480"/>
            <a:ext cx="1640982" cy="310896"/>
          </a:xfrm>
          <a:prstGeom prst="rect">
            <a:avLst/>
          </a:prstGeom>
          <a:noFill/>
        </p:spPr>
        <p:txBody>
          <a:bodyPr wrap="square" lIns="0" rIns="0" tIns="0" bIns="0" anchor="t">
            <a:spAutoFit/>
          </a:bodyPr>
          <a:lstStyle/>
          <a:p>
            <a:r>
              <a:rPr sz="1250" b="1" i="0">
                <a:solidFill>
                  <a:srgbClr val="10273F"/>
                </a:solidFill>
                <a:latin typeface="Segoe UI Semibold"/>
              </a:rPr>
              <a:t>Perception</a:t>
            </a:r>
          </a:p>
        </p:txBody>
      </p:sp>
      <p:sp>
        <p:nvSpPr>
          <p:cNvPr id="15" name="TextBox 14"/>
          <p:cNvSpPr txBox="1"/>
          <p:nvPr/>
        </p:nvSpPr>
        <p:spPr>
          <a:xfrm>
            <a:off x="786384" y="2809239"/>
            <a:ext cx="1640982" cy="786384"/>
          </a:xfrm>
          <a:prstGeom prst="rect">
            <a:avLst/>
          </a:prstGeom>
          <a:noFill/>
        </p:spPr>
        <p:txBody>
          <a:bodyPr wrap="square" lIns="0" rIns="0" tIns="0" bIns="0" anchor="t">
            <a:spAutoFit/>
          </a:bodyPr>
          <a:lstStyle/>
          <a:p>
            <a:pPr>
              <a:lnSpc>
                <a:spcPct val="124000"/>
              </a:lnSpc>
            </a:pPr>
            <a:r>
              <a:rPr sz="900" b="0" i="0">
                <a:solidFill>
                  <a:srgbClr val="3C5066"/>
                </a:solidFill>
                <a:latin typeface="Consolas"/>
              </a:rPr>
              <a:t>YOLOv11 · MediaPipe Face Mesh
MediaPipe Pose · SixDRepNet</a:t>
            </a:r>
          </a:p>
        </p:txBody>
      </p:sp>
      <p:sp>
        <p:nvSpPr>
          <p:cNvPr id="16" name="Rectangle 15"/>
          <p:cNvSpPr/>
          <p:nvPr/>
        </p:nvSpPr>
        <p:spPr>
          <a:xfrm>
            <a:off x="786384" y="3705351"/>
            <a:ext cx="1640982"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86384" y="3833368"/>
            <a:ext cx="1640982" cy="402336"/>
          </a:xfrm>
          <a:prstGeom prst="rect">
            <a:avLst/>
          </a:prstGeom>
          <a:noFill/>
        </p:spPr>
        <p:txBody>
          <a:bodyPr wrap="square" lIns="0" rIns="0" tIns="0" bIns="0" anchor="t">
            <a:spAutoFit/>
          </a:bodyPr>
          <a:lstStyle/>
          <a:p>
            <a:pPr>
              <a:lnSpc>
                <a:spcPct val="114000"/>
              </a:lnSpc>
            </a:pPr>
            <a:r>
              <a:rPr sz="950" b="1" i="0">
                <a:solidFill>
                  <a:srgbClr val="085961"/>
                </a:solidFill>
                <a:latin typeface="Segoe UI"/>
              </a:rPr>
              <a:t>who &amp; where</a:t>
            </a:r>
          </a:p>
        </p:txBody>
      </p:sp>
      <p:sp>
        <p:nvSpPr>
          <p:cNvPr id="18" name="TextBox 17"/>
          <p:cNvSpPr txBox="1"/>
          <p:nvPr/>
        </p:nvSpPr>
        <p:spPr>
          <a:xfrm>
            <a:off x="2619390" y="2918968"/>
            <a:ext cx="219456" cy="274320"/>
          </a:xfrm>
          <a:prstGeom prst="rect">
            <a:avLst/>
          </a:prstGeom>
          <a:noFill/>
        </p:spPr>
        <p:txBody>
          <a:bodyPr wrap="square" lIns="0" rIns="0" tIns="0" bIns="0" anchor="t">
            <a:spAutoFit/>
          </a:bodyPr>
          <a:lstStyle/>
          <a:p>
            <a:pPr algn="ctr"/>
            <a:r>
              <a:rPr sz="1500" b="1" i="0">
                <a:solidFill>
                  <a:srgbClr val="B6C4CF"/>
                </a:solidFill>
                <a:latin typeface="Segoe UI"/>
              </a:rPr>
              <a:t>▸</a:t>
            </a:r>
          </a:p>
        </p:txBody>
      </p:sp>
      <p:sp>
        <p:nvSpPr>
          <p:cNvPr id="19" name="Rounded Rectangle 18"/>
          <p:cNvSpPr/>
          <p:nvPr/>
        </p:nvSpPr>
        <p:spPr>
          <a:xfrm>
            <a:off x="2866278" y="1876551"/>
            <a:ext cx="1970166" cy="2487168"/>
          </a:xfrm>
          <a:prstGeom prst="roundRect">
            <a:avLst>
              <a:gd name="adj" fmla="val 4500"/>
            </a:avLst>
          </a:prstGeom>
          <a:solidFill>
            <a:srgbClr val="FFFFFF"/>
          </a:solidFill>
          <a:ln w="19050">
            <a:solidFill>
              <a:srgbClr val="1F6F5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6278" y="1876551"/>
            <a:ext cx="1970166" cy="4572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030870" y="2077720"/>
            <a:ext cx="365760" cy="274320"/>
          </a:xfrm>
          <a:prstGeom prst="rect">
            <a:avLst/>
          </a:prstGeom>
          <a:noFill/>
        </p:spPr>
        <p:txBody>
          <a:bodyPr wrap="square" lIns="0" rIns="0" tIns="0" bIns="0" anchor="t">
            <a:spAutoFit/>
          </a:bodyPr>
          <a:lstStyle/>
          <a:p>
            <a:r>
              <a:rPr sz="1500" b="1" i="0">
                <a:solidFill>
                  <a:srgbClr val="1F6F50"/>
                </a:solidFill>
                <a:latin typeface="Segoe UI Semibold"/>
              </a:rPr>
              <a:t>2</a:t>
            </a:r>
          </a:p>
        </p:txBody>
      </p:sp>
      <p:sp>
        <p:nvSpPr>
          <p:cNvPr id="22" name="Rounded Rectangle 21"/>
          <p:cNvSpPr/>
          <p:nvPr/>
        </p:nvSpPr>
        <p:spPr>
          <a:xfrm>
            <a:off x="4050060" y="2096007"/>
            <a:ext cx="621792" cy="237744"/>
          </a:xfrm>
          <a:prstGeom prst="roundRect">
            <a:avLst>
              <a:gd name="adj" fmla="val 50000"/>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050060" y="2128011"/>
            <a:ext cx="621792" cy="192024"/>
          </a:xfrm>
          <a:prstGeom prst="rect">
            <a:avLst/>
          </a:prstGeom>
          <a:noFill/>
        </p:spPr>
        <p:txBody>
          <a:bodyPr wrap="square" lIns="0" rIns="0" tIns="0" bIns="0" anchor="ctr">
            <a:spAutoFit/>
          </a:bodyPr>
          <a:lstStyle/>
          <a:p>
            <a:pPr algn="ctr"/>
            <a:r>
              <a:rPr sz="750" b="1" i="0">
                <a:solidFill>
                  <a:srgbClr val="FFFFFF"/>
                </a:solidFill>
                <a:latin typeface="Segoe UI Semibold"/>
              </a:rPr>
              <a:t>BUILT</a:t>
            </a:r>
          </a:p>
        </p:txBody>
      </p:sp>
      <p:sp>
        <p:nvSpPr>
          <p:cNvPr id="24" name="TextBox 23"/>
          <p:cNvSpPr txBox="1"/>
          <p:nvPr/>
        </p:nvSpPr>
        <p:spPr>
          <a:xfrm>
            <a:off x="3030870" y="2443480"/>
            <a:ext cx="1640982" cy="310896"/>
          </a:xfrm>
          <a:prstGeom prst="rect">
            <a:avLst/>
          </a:prstGeom>
          <a:noFill/>
        </p:spPr>
        <p:txBody>
          <a:bodyPr wrap="square" lIns="0" rIns="0" tIns="0" bIns="0" anchor="t">
            <a:spAutoFit/>
          </a:bodyPr>
          <a:lstStyle/>
          <a:p>
            <a:r>
              <a:rPr sz="1250" b="1" i="0">
                <a:solidFill>
                  <a:srgbClr val="10273F"/>
                </a:solidFill>
                <a:latin typeface="Segoe UI Semibold"/>
              </a:rPr>
              <a:t>Identity</a:t>
            </a:r>
          </a:p>
        </p:txBody>
      </p:sp>
      <p:sp>
        <p:nvSpPr>
          <p:cNvPr id="25" name="TextBox 24"/>
          <p:cNvSpPr txBox="1"/>
          <p:nvPr/>
        </p:nvSpPr>
        <p:spPr>
          <a:xfrm>
            <a:off x="3030870" y="2809239"/>
            <a:ext cx="1640982" cy="786384"/>
          </a:xfrm>
          <a:prstGeom prst="rect">
            <a:avLst/>
          </a:prstGeom>
          <a:noFill/>
        </p:spPr>
        <p:txBody>
          <a:bodyPr wrap="square" lIns="0" rIns="0" tIns="0" bIns="0" anchor="t">
            <a:spAutoFit/>
          </a:bodyPr>
          <a:lstStyle/>
          <a:p>
            <a:pPr>
              <a:lnSpc>
                <a:spcPct val="124000"/>
              </a:lnSpc>
            </a:pPr>
            <a:r>
              <a:rPr sz="900" b="0" i="0">
                <a:solidFill>
                  <a:srgbClr val="3C5066"/>
                </a:solidFill>
                <a:latin typeface="Consolas"/>
              </a:rPr>
              <a:t>ByteTrack now
CAL Re-ID next</a:t>
            </a:r>
          </a:p>
        </p:txBody>
      </p:sp>
      <p:sp>
        <p:nvSpPr>
          <p:cNvPr id="26" name="Rectangle 25"/>
          <p:cNvSpPr/>
          <p:nvPr/>
        </p:nvSpPr>
        <p:spPr>
          <a:xfrm>
            <a:off x="3030870" y="3705351"/>
            <a:ext cx="1640982"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030870" y="3833368"/>
            <a:ext cx="1640982" cy="402336"/>
          </a:xfrm>
          <a:prstGeom prst="rect">
            <a:avLst/>
          </a:prstGeom>
          <a:noFill/>
        </p:spPr>
        <p:txBody>
          <a:bodyPr wrap="square" lIns="0" rIns="0" tIns="0" bIns="0" anchor="t">
            <a:spAutoFit/>
          </a:bodyPr>
          <a:lstStyle/>
          <a:p>
            <a:pPr>
              <a:lnSpc>
                <a:spcPct val="114000"/>
              </a:lnSpc>
            </a:pPr>
            <a:r>
              <a:rPr sz="950" b="1" i="0">
                <a:solidFill>
                  <a:srgbClr val="085961"/>
                </a:solidFill>
                <a:latin typeface="Segoe UI"/>
              </a:rPr>
              <a:t>stable IDs</a:t>
            </a:r>
          </a:p>
        </p:txBody>
      </p:sp>
      <p:sp>
        <p:nvSpPr>
          <p:cNvPr id="28" name="TextBox 27"/>
          <p:cNvSpPr txBox="1"/>
          <p:nvPr/>
        </p:nvSpPr>
        <p:spPr>
          <a:xfrm>
            <a:off x="4863876" y="2918968"/>
            <a:ext cx="219456" cy="274320"/>
          </a:xfrm>
          <a:prstGeom prst="rect">
            <a:avLst/>
          </a:prstGeom>
          <a:noFill/>
        </p:spPr>
        <p:txBody>
          <a:bodyPr wrap="square" lIns="0" rIns="0" tIns="0" bIns="0" anchor="t">
            <a:spAutoFit/>
          </a:bodyPr>
          <a:lstStyle/>
          <a:p>
            <a:pPr algn="ctr"/>
            <a:r>
              <a:rPr sz="1500" b="1" i="0">
                <a:solidFill>
                  <a:srgbClr val="B6C4CF"/>
                </a:solidFill>
                <a:latin typeface="Segoe UI"/>
              </a:rPr>
              <a:t>▸</a:t>
            </a:r>
          </a:p>
        </p:txBody>
      </p:sp>
      <p:sp>
        <p:nvSpPr>
          <p:cNvPr id="29" name="Rounded Rectangle 28"/>
          <p:cNvSpPr/>
          <p:nvPr/>
        </p:nvSpPr>
        <p:spPr>
          <a:xfrm>
            <a:off x="5110764" y="1876551"/>
            <a:ext cx="1970166" cy="248716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110764" y="1876551"/>
            <a:ext cx="1970166" cy="45720"/>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275356" y="2077720"/>
            <a:ext cx="365760" cy="274320"/>
          </a:xfrm>
          <a:prstGeom prst="rect">
            <a:avLst/>
          </a:prstGeom>
          <a:noFill/>
        </p:spPr>
        <p:txBody>
          <a:bodyPr wrap="square" lIns="0" rIns="0" tIns="0" bIns="0" anchor="t">
            <a:spAutoFit/>
          </a:bodyPr>
          <a:lstStyle/>
          <a:p>
            <a:r>
              <a:rPr sz="1500" b="1" i="0">
                <a:solidFill>
                  <a:srgbClr val="7B8C9E"/>
                </a:solidFill>
                <a:latin typeface="Segoe UI Semibold"/>
              </a:rPr>
              <a:t>3</a:t>
            </a:r>
          </a:p>
        </p:txBody>
      </p:sp>
      <p:sp>
        <p:nvSpPr>
          <p:cNvPr id="32" name="Rounded Rectangle 31"/>
          <p:cNvSpPr/>
          <p:nvPr/>
        </p:nvSpPr>
        <p:spPr>
          <a:xfrm>
            <a:off x="6294546" y="2096007"/>
            <a:ext cx="621792" cy="237744"/>
          </a:xfrm>
          <a:prstGeom prst="roundRect">
            <a:avLst>
              <a:gd name="adj" fmla="val 50000"/>
            </a:avLst>
          </a:prstGeom>
          <a:solidFill>
            <a:srgbClr val="C3C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294546" y="2128011"/>
            <a:ext cx="621792" cy="192024"/>
          </a:xfrm>
          <a:prstGeom prst="rect">
            <a:avLst/>
          </a:prstGeom>
          <a:noFill/>
        </p:spPr>
        <p:txBody>
          <a:bodyPr wrap="square" lIns="0" rIns="0" tIns="0" bIns="0" anchor="ctr">
            <a:spAutoFit/>
          </a:bodyPr>
          <a:lstStyle/>
          <a:p>
            <a:pPr algn="ctr"/>
            <a:r>
              <a:rPr sz="750" b="1" i="0">
                <a:solidFill>
                  <a:srgbClr val="FFFFFF"/>
                </a:solidFill>
                <a:latin typeface="Segoe UI Semibold"/>
              </a:rPr>
              <a:t>NEXT</a:t>
            </a:r>
          </a:p>
        </p:txBody>
      </p:sp>
      <p:sp>
        <p:nvSpPr>
          <p:cNvPr id="34" name="TextBox 33"/>
          <p:cNvSpPr txBox="1"/>
          <p:nvPr/>
        </p:nvSpPr>
        <p:spPr>
          <a:xfrm>
            <a:off x="5275356" y="2443480"/>
            <a:ext cx="1640982" cy="310896"/>
          </a:xfrm>
          <a:prstGeom prst="rect">
            <a:avLst/>
          </a:prstGeom>
          <a:noFill/>
        </p:spPr>
        <p:txBody>
          <a:bodyPr wrap="square" lIns="0" rIns="0" tIns="0" bIns="0" anchor="t">
            <a:spAutoFit/>
          </a:bodyPr>
          <a:lstStyle/>
          <a:p>
            <a:r>
              <a:rPr sz="1250" b="1" i="0">
                <a:solidFill>
                  <a:srgbClr val="10273F"/>
                </a:solidFill>
                <a:latin typeface="Segoe UI Semibold"/>
              </a:rPr>
              <a:t>Scene Graph</a:t>
            </a:r>
          </a:p>
        </p:txBody>
      </p:sp>
      <p:sp>
        <p:nvSpPr>
          <p:cNvPr id="35" name="TextBox 34"/>
          <p:cNvSpPr txBox="1"/>
          <p:nvPr/>
        </p:nvSpPr>
        <p:spPr>
          <a:xfrm>
            <a:off x="5275356" y="2809239"/>
            <a:ext cx="1640982" cy="786384"/>
          </a:xfrm>
          <a:prstGeom prst="rect">
            <a:avLst/>
          </a:prstGeom>
          <a:noFill/>
        </p:spPr>
        <p:txBody>
          <a:bodyPr wrap="square" lIns="0" rIns="0" tIns="0" bIns="0" anchor="t">
            <a:spAutoFit/>
          </a:bodyPr>
          <a:lstStyle/>
          <a:p>
            <a:pPr>
              <a:lnSpc>
                <a:spcPct val="124000"/>
              </a:lnSpc>
            </a:pPr>
            <a:r>
              <a:rPr sz="900" b="0" i="0">
                <a:solidFill>
                  <a:srgbClr val="3C5066"/>
                </a:solidFill>
                <a:latin typeface="Consolas"/>
              </a:rPr>
              <a:t>nodes = students
edges = behaviours</a:t>
            </a:r>
          </a:p>
        </p:txBody>
      </p:sp>
      <p:sp>
        <p:nvSpPr>
          <p:cNvPr id="36" name="Rectangle 35"/>
          <p:cNvSpPr/>
          <p:nvPr/>
        </p:nvSpPr>
        <p:spPr>
          <a:xfrm>
            <a:off x="5275356" y="3705351"/>
            <a:ext cx="1640982"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275356" y="3833368"/>
            <a:ext cx="1640982" cy="402336"/>
          </a:xfrm>
          <a:prstGeom prst="rect">
            <a:avLst/>
          </a:prstGeom>
          <a:noFill/>
        </p:spPr>
        <p:txBody>
          <a:bodyPr wrap="square" lIns="0" rIns="0" tIns="0" bIns="0" anchor="t">
            <a:spAutoFit/>
          </a:bodyPr>
          <a:lstStyle/>
          <a:p>
            <a:pPr>
              <a:lnSpc>
                <a:spcPct val="114000"/>
              </a:lnSpc>
            </a:pPr>
            <a:r>
              <a:rPr sz="950" b="1" i="0">
                <a:solidFill>
                  <a:srgbClr val="085961"/>
                </a:solidFill>
                <a:latin typeface="Segoe UI"/>
              </a:rPr>
              <a:t>what relates to what</a:t>
            </a:r>
          </a:p>
        </p:txBody>
      </p:sp>
      <p:sp>
        <p:nvSpPr>
          <p:cNvPr id="38" name="TextBox 37"/>
          <p:cNvSpPr txBox="1"/>
          <p:nvPr/>
        </p:nvSpPr>
        <p:spPr>
          <a:xfrm>
            <a:off x="7108362" y="2918968"/>
            <a:ext cx="219456" cy="274320"/>
          </a:xfrm>
          <a:prstGeom prst="rect">
            <a:avLst/>
          </a:prstGeom>
          <a:noFill/>
        </p:spPr>
        <p:txBody>
          <a:bodyPr wrap="square" lIns="0" rIns="0" tIns="0" bIns="0" anchor="t">
            <a:spAutoFit/>
          </a:bodyPr>
          <a:lstStyle/>
          <a:p>
            <a:pPr algn="ctr"/>
            <a:r>
              <a:rPr sz="1500" b="1" i="0">
                <a:solidFill>
                  <a:srgbClr val="B6C4CF"/>
                </a:solidFill>
                <a:latin typeface="Segoe UI"/>
              </a:rPr>
              <a:t>▸</a:t>
            </a:r>
          </a:p>
        </p:txBody>
      </p:sp>
      <p:sp>
        <p:nvSpPr>
          <p:cNvPr id="39" name="Rounded Rectangle 38"/>
          <p:cNvSpPr/>
          <p:nvPr/>
        </p:nvSpPr>
        <p:spPr>
          <a:xfrm>
            <a:off x="7355250" y="1876551"/>
            <a:ext cx="1970166" cy="248716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7355250" y="1876551"/>
            <a:ext cx="1970166" cy="45720"/>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519842" y="2077720"/>
            <a:ext cx="365760" cy="274320"/>
          </a:xfrm>
          <a:prstGeom prst="rect">
            <a:avLst/>
          </a:prstGeom>
          <a:noFill/>
        </p:spPr>
        <p:txBody>
          <a:bodyPr wrap="square" lIns="0" rIns="0" tIns="0" bIns="0" anchor="t">
            <a:spAutoFit/>
          </a:bodyPr>
          <a:lstStyle/>
          <a:p>
            <a:r>
              <a:rPr sz="1500" b="1" i="0">
                <a:solidFill>
                  <a:srgbClr val="7B8C9E"/>
                </a:solidFill>
                <a:latin typeface="Segoe UI Semibold"/>
              </a:rPr>
              <a:t>4</a:t>
            </a:r>
          </a:p>
        </p:txBody>
      </p:sp>
      <p:sp>
        <p:nvSpPr>
          <p:cNvPr id="42" name="Rounded Rectangle 41"/>
          <p:cNvSpPr/>
          <p:nvPr/>
        </p:nvSpPr>
        <p:spPr>
          <a:xfrm>
            <a:off x="8539032" y="2096007"/>
            <a:ext cx="621792" cy="237744"/>
          </a:xfrm>
          <a:prstGeom prst="roundRect">
            <a:avLst>
              <a:gd name="adj" fmla="val 50000"/>
            </a:avLst>
          </a:prstGeom>
          <a:solidFill>
            <a:srgbClr val="C3C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539032" y="2128011"/>
            <a:ext cx="621792" cy="192024"/>
          </a:xfrm>
          <a:prstGeom prst="rect">
            <a:avLst/>
          </a:prstGeom>
          <a:noFill/>
        </p:spPr>
        <p:txBody>
          <a:bodyPr wrap="square" lIns="0" rIns="0" tIns="0" bIns="0" anchor="ctr">
            <a:spAutoFit/>
          </a:bodyPr>
          <a:lstStyle/>
          <a:p>
            <a:pPr algn="ctr"/>
            <a:r>
              <a:rPr sz="750" b="1" i="0">
                <a:solidFill>
                  <a:srgbClr val="FFFFFF"/>
                </a:solidFill>
                <a:latin typeface="Segoe UI Semibold"/>
              </a:rPr>
              <a:t>NEXT</a:t>
            </a:r>
          </a:p>
        </p:txBody>
      </p:sp>
      <p:sp>
        <p:nvSpPr>
          <p:cNvPr id="44" name="TextBox 43"/>
          <p:cNvSpPr txBox="1"/>
          <p:nvPr/>
        </p:nvSpPr>
        <p:spPr>
          <a:xfrm>
            <a:off x="7519842" y="2443480"/>
            <a:ext cx="1640982" cy="310896"/>
          </a:xfrm>
          <a:prstGeom prst="rect">
            <a:avLst/>
          </a:prstGeom>
          <a:noFill/>
        </p:spPr>
        <p:txBody>
          <a:bodyPr wrap="square" lIns="0" rIns="0" tIns="0" bIns="0" anchor="t">
            <a:spAutoFit/>
          </a:bodyPr>
          <a:lstStyle/>
          <a:p>
            <a:r>
              <a:rPr sz="1250" b="1" i="0">
                <a:solidFill>
                  <a:srgbClr val="10273F"/>
                </a:solidFill>
                <a:latin typeface="Segoe UI Semibold"/>
              </a:rPr>
              <a:t>Temporal</a:t>
            </a:r>
          </a:p>
        </p:txBody>
      </p:sp>
      <p:sp>
        <p:nvSpPr>
          <p:cNvPr id="45" name="TextBox 44"/>
          <p:cNvSpPr txBox="1"/>
          <p:nvPr/>
        </p:nvSpPr>
        <p:spPr>
          <a:xfrm>
            <a:off x="7519842" y="2809239"/>
            <a:ext cx="1640982" cy="786384"/>
          </a:xfrm>
          <a:prstGeom prst="rect">
            <a:avLst/>
          </a:prstGeom>
          <a:noFill/>
        </p:spPr>
        <p:txBody>
          <a:bodyPr wrap="square" lIns="0" rIns="0" tIns="0" bIns="0" anchor="t">
            <a:spAutoFit/>
          </a:bodyPr>
          <a:lstStyle/>
          <a:p>
            <a:pPr>
              <a:lnSpc>
                <a:spcPct val="124000"/>
              </a:lnSpc>
            </a:pPr>
            <a:r>
              <a:rPr sz="900" b="0" i="0">
                <a:solidFill>
                  <a:srgbClr val="3C5066"/>
                </a:solidFill>
                <a:latin typeface="Consolas"/>
              </a:rPr>
              <a:t>STTran-style decoder
over the graph</a:t>
            </a:r>
          </a:p>
        </p:txBody>
      </p:sp>
      <p:sp>
        <p:nvSpPr>
          <p:cNvPr id="46" name="Rectangle 45"/>
          <p:cNvSpPr/>
          <p:nvPr/>
        </p:nvSpPr>
        <p:spPr>
          <a:xfrm>
            <a:off x="7519842" y="3705351"/>
            <a:ext cx="1640982"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519842" y="3833368"/>
            <a:ext cx="1640982" cy="402336"/>
          </a:xfrm>
          <a:prstGeom prst="rect">
            <a:avLst/>
          </a:prstGeom>
          <a:noFill/>
        </p:spPr>
        <p:txBody>
          <a:bodyPr wrap="square" lIns="0" rIns="0" tIns="0" bIns="0" anchor="t">
            <a:spAutoFit/>
          </a:bodyPr>
          <a:lstStyle/>
          <a:p>
            <a:pPr>
              <a:lnSpc>
                <a:spcPct val="114000"/>
              </a:lnSpc>
            </a:pPr>
            <a:r>
              <a:rPr sz="950" b="1" i="0">
                <a:solidFill>
                  <a:srgbClr val="085961"/>
                </a:solidFill>
                <a:latin typeface="Segoe UI"/>
              </a:rPr>
              <a:t>how it evolves</a:t>
            </a:r>
          </a:p>
        </p:txBody>
      </p:sp>
      <p:sp>
        <p:nvSpPr>
          <p:cNvPr id="48" name="TextBox 47"/>
          <p:cNvSpPr txBox="1"/>
          <p:nvPr/>
        </p:nvSpPr>
        <p:spPr>
          <a:xfrm>
            <a:off x="9352848" y="2918968"/>
            <a:ext cx="219456" cy="274320"/>
          </a:xfrm>
          <a:prstGeom prst="rect">
            <a:avLst/>
          </a:prstGeom>
          <a:noFill/>
        </p:spPr>
        <p:txBody>
          <a:bodyPr wrap="square" lIns="0" rIns="0" tIns="0" bIns="0" anchor="t">
            <a:spAutoFit/>
          </a:bodyPr>
          <a:lstStyle/>
          <a:p>
            <a:pPr algn="ctr"/>
            <a:r>
              <a:rPr sz="1500" b="1" i="0">
                <a:solidFill>
                  <a:srgbClr val="B6C4CF"/>
                </a:solidFill>
                <a:latin typeface="Segoe UI"/>
              </a:rPr>
              <a:t>▸</a:t>
            </a:r>
          </a:p>
        </p:txBody>
      </p:sp>
      <p:sp>
        <p:nvSpPr>
          <p:cNvPr id="49" name="Rounded Rectangle 48"/>
          <p:cNvSpPr/>
          <p:nvPr/>
        </p:nvSpPr>
        <p:spPr>
          <a:xfrm>
            <a:off x="9599736" y="1876551"/>
            <a:ext cx="1970166" cy="248716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9599736" y="1876551"/>
            <a:ext cx="1970166" cy="45720"/>
          </a:xfrm>
          <a:prstGeom prst="rect">
            <a:avLst/>
          </a:prstGeom>
          <a:solidFill>
            <a:srgbClr val="7B8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764328" y="2077720"/>
            <a:ext cx="365760" cy="274320"/>
          </a:xfrm>
          <a:prstGeom prst="rect">
            <a:avLst/>
          </a:prstGeom>
          <a:noFill/>
        </p:spPr>
        <p:txBody>
          <a:bodyPr wrap="square" lIns="0" rIns="0" tIns="0" bIns="0" anchor="t">
            <a:spAutoFit/>
          </a:bodyPr>
          <a:lstStyle/>
          <a:p>
            <a:r>
              <a:rPr sz="1500" b="1" i="0">
                <a:solidFill>
                  <a:srgbClr val="7B8C9E"/>
                </a:solidFill>
                <a:latin typeface="Segoe UI Semibold"/>
              </a:rPr>
              <a:t>5</a:t>
            </a:r>
          </a:p>
        </p:txBody>
      </p:sp>
      <p:sp>
        <p:nvSpPr>
          <p:cNvPr id="52" name="Rounded Rectangle 51"/>
          <p:cNvSpPr/>
          <p:nvPr/>
        </p:nvSpPr>
        <p:spPr>
          <a:xfrm>
            <a:off x="10783519" y="2096007"/>
            <a:ext cx="621792" cy="237744"/>
          </a:xfrm>
          <a:prstGeom prst="roundRect">
            <a:avLst>
              <a:gd name="adj" fmla="val 50000"/>
            </a:avLst>
          </a:prstGeom>
          <a:solidFill>
            <a:srgbClr val="C3C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10783519" y="2128011"/>
            <a:ext cx="621792" cy="192024"/>
          </a:xfrm>
          <a:prstGeom prst="rect">
            <a:avLst/>
          </a:prstGeom>
          <a:noFill/>
        </p:spPr>
        <p:txBody>
          <a:bodyPr wrap="square" lIns="0" rIns="0" tIns="0" bIns="0" anchor="ctr">
            <a:spAutoFit/>
          </a:bodyPr>
          <a:lstStyle/>
          <a:p>
            <a:pPr algn="ctr"/>
            <a:r>
              <a:rPr sz="750" b="1" i="0">
                <a:solidFill>
                  <a:srgbClr val="FFFFFF"/>
                </a:solidFill>
                <a:latin typeface="Segoe UI Semibold"/>
              </a:rPr>
              <a:t>NEXT</a:t>
            </a:r>
          </a:p>
        </p:txBody>
      </p:sp>
      <p:sp>
        <p:nvSpPr>
          <p:cNvPr id="54" name="TextBox 53"/>
          <p:cNvSpPr txBox="1"/>
          <p:nvPr/>
        </p:nvSpPr>
        <p:spPr>
          <a:xfrm>
            <a:off x="9764328" y="2443480"/>
            <a:ext cx="1640982" cy="310896"/>
          </a:xfrm>
          <a:prstGeom prst="rect">
            <a:avLst/>
          </a:prstGeom>
          <a:noFill/>
        </p:spPr>
        <p:txBody>
          <a:bodyPr wrap="square" lIns="0" rIns="0" tIns="0" bIns="0" anchor="t">
            <a:spAutoFit/>
          </a:bodyPr>
          <a:lstStyle/>
          <a:p>
            <a:r>
              <a:rPr sz="1250" b="1" i="0">
                <a:solidFill>
                  <a:srgbClr val="10273F"/>
                </a:solidFill>
                <a:latin typeface="Segoe UI Semibold"/>
              </a:rPr>
              <a:t>Group Activity</a:t>
            </a:r>
          </a:p>
        </p:txBody>
      </p:sp>
      <p:sp>
        <p:nvSpPr>
          <p:cNvPr id="55" name="TextBox 54"/>
          <p:cNvSpPr txBox="1"/>
          <p:nvPr/>
        </p:nvSpPr>
        <p:spPr>
          <a:xfrm>
            <a:off x="9764328" y="2809239"/>
            <a:ext cx="1640982" cy="786384"/>
          </a:xfrm>
          <a:prstGeom prst="rect">
            <a:avLst/>
          </a:prstGeom>
          <a:noFill/>
        </p:spPr>
        <p:txBody>
          <a:bodyPr wrap="square" lIns="0" rIns="0" tIns="0" bIns="0" anchor="t">
            <a:spAutoFit/>
          </a:bodyPr>
          <a:lstStyle/>
          <a:p>
            <a:pPr>
              <a:lnSpc>
                <a:spcPct val="124000"/>
              </a:lnSpc>
            </a:pPr>
            <a:r>
              <a:rPr sz="900" b="0" i="0">
                <a:solidFill>
                  <a:srgbClr val="3C5066"/>
                </a:solidFill>
                <a:latin typeface="Consolas"/>
              </a:rPr>
              <a:t>ARG-style graph
readout</a:t>
            </a:r>
          </a:p>
        </p:txBody>
      </p:sp>
      <p:sp>
        <p:nvSpPr>
          <p:cNvPr id="56" name="Rectangle 55"/>
          <p:cNvSpPr/>
          <p:nvPr/>
        </p:nvSpPr>
        <p:spPr>
          <a:xfrm>
            <a:off x="9764328" y="3705351"/>
            <a:ext cx="1640982"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764328" y="3833368"/>
            <a:ext cx="1640982" cy="402336"/>
          </a:xfrm>
          <a:prstGeom prst="rect">
            <a:avLst/>
          </a:prstGeom>
          <a:noFill/>
        </p:spPr>
        <p:txBody>
          <a:bodyPr wrap="square" lIns="0" rIns="0" tIns="0" bIns="0" anchor="t">
            <a:spAutoFit/>
          </a:bodyPr>
          <a:lstStyle/>
          <a:p>
            <a:pPr>
              <a:lnSpc>
                <a:spcPct val="114000"/>
              </a:lnSpc>
            </a:pPr>
            <a:r>
              <a:rPr sz="950" b="1" i="0">
                <a:solidFill>
                  <a:srgbClr val="085961"/>
                </a:solidFill>
                <a:latin typeface="Segoe UI"/>
              </a:rPr>
              <a:t>the class as a whole</a:t>
            </a:r>
          </a:p>
        </p:txBody>
      </p:sp>
      <p:sp>
        <p:nvSpPr>
          <p:cNvPr id="58" name="Rounded Rectangle 57"/>
          <p:cNvSpPr/>
          <p:nvPr/>
        </p:nvSpPr>
        <p:spPr>
          <a:xfrm>
            <a:off x="621792" y="4619751"/>
            <a:ext cx="5355183" cy="106070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21792" y="4711191"/>
            <a:ext cx="50292" cy="87782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859536" y="4766055"/>
            <a:ext cx="4934559" cy="786383"/>
          </a:xfrm>
          <a:prstGeom prst="rect">
            <a:avLst/>
          </a:prstGeom>
          <a:noFill/>
        </p:spPr>
        <p:txBody>
          <a:bodyPr wrap="square" lIns="0" rIns="0" tIns="0" bIns="0" anchor="t">
            <a:spAutoFit/>
          </a:bodyPr>
          <a:lstStyle/>
          <a:p>
            <a:pPr>
              <a:lnSpc>
                <a:spcPct val="105000"/>
              </a:lnSpc>
              <a:spcAft>
                <a:spcPts val="500"/>
              </a:spcAft>
            </a:pPr>
            <a:r>
              <a:rPr sz="1200" b="1" i="0">
                <a:solidFill>
                  <a:srgbClr val="10273F"/>
                </a:solidFill>
                <a:latin typeface="Segoe UI Semibold"/>
              </a:rPr>
              <a:t>The frozen contract</a:t>
            </a:r>
          </a:p>
          <a:p>
            <a:pPr>
              <a:lnSpc>
                <a:spcPct val="118000"/>
              </a:lnSpc>
              <a:spcAft>
                <a:spcPts val="300"/>
              </a:spcAft>
            </a:pPr>
            <a:r>
              <a:rPr sz="950" b="0" i="0">
                <a:solidFill>
                  <a:srgbClr val="3C5066"/>
                </a:solidFill>
                <a:latin typeface="Segoe UI"/>
              </a:rPr>
              <a:t>One JSON object per frame: persons (bbox, track_id, face landmarks + EAR, head pose + gaze label, body pose) and objects (phone/laptop/book). Validated with JSON Schema on every run — 321/321 records valid on our last full-video test.</a:t>
            </a:r>
          </a:p>
        </p:txBody>
      </p:sp>
      <p:sp>
        <p:nvSpPr>
          <p:cNvPr id="61" name="Rounded Rectangle 60"/>
          <p:cNvSpPr/>
          <p:nvPr/>
        </p:nvSpPr>
        <p:spPr>
          <a:xfrm>
            <a:off x="6214719" y="4619751"/>
            <a:ext cx="5355183" cy="106070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6214719" y="4711191"/>
            <a:ext cx="50292" cy="877824"/>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6452463" y="4766055"/>
            <a:ext cx="4934559" cy="786383"/>
          </a:xfrm>
          <a:prstGeom prst="rect">
            <a:avLst/>
          </a:prstGeom>
          <a:noFill/>
        </p:spPr>
        <p:txBody>
          <a:bodyPr wrap="square" lIns="0" rIns="0" tIns="0" bIns="0" anchor="t">
            <a:spAutoFit/>
          </a:bodyPr>
          <a:lstStyle/>
          <a:p>
            <a:pPr>
              <a:lnSpc>
                <a:spcPct val="105000"/>
              </a:lnSpc>
              <a:spcAft>
                <a:spcPts val="500"/>
              </a:spcAft>
            </a:pPr>
            <a:r>
              <a:rPr sz="1200" b="1" i="0">
                <a:solidFill>
                  <a:srgbClr val="10273F"/>
                </a:solidFill>
                <a:latin typeface="Segoe UI Semibold"/>
              </a:rPr>
              <a:t>Privacy by design</a:t>
            </a:r>
          </a:p>
          <a:p>
            <a:pPr>
              <a:lnSpc>
                <a:spcPct val="118000"/>
              </a:lnSpc>
              <a:spcAft>
                <a:spcPts val="300"/>
              </a:spcAft>
            </a:pPr>
            <a:r>
              <a:rPr sz="950" b="0" i="0">
                <a:solidFill>
                  <a:srgbClr val="3C5066"/>
                </a:solidFill>
                <a:latin typeface="Segoe UI"/>
              </a:rPr>
              <a:t>Identity is computed from motion/geometry and scoped to a single session — there is no face-recognition database. Two regression tests enforce that identity cannot leak between sessions, which is the legal line between attention analytics and biometric surveillance in schools.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FEASIBILITY</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What already runs, on our own hardware</a:t>
            </a:r>
          </a:p>
        </p:txBody>
      </p:sp>
      <p:sp>
        <p:nvSpPr>
          <p:cNvPr id="5" name="TextBox 4"/>
          <p:cNvSpPr txBox="1"/>
          <p:nvPr/>
        </p:nvSpPr>
        <p:spPr>
          <a:xfrm>
            <a:off x="621792" y="1282445"/>
            <a:ext cx="10765231" cy="411225"/>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Feasibility is not asserted here — it is demonstrated. The perception and identity stages are complete, tested and validated on real footage.</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13</a:t>
            </a:r>
          </a:p>
        </p:txBody>
      </p:sp>
      <p:sp>
        <p:nvSpPr>
          <p:cNvPr id="9" name="Rounded Rectangle 8"/>
          <p:cNvSpPr/>
          <p:nvPr/>
        </p:nvSpPr>
        <p:spPr>
          <a:xfrm>
            <a:off x="621792" y="1876551"/>
            <a:ext cx="2572435" cy="1444752"/>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2022855"/>
            <a:ext cx="2316403" cy="548640"/>
          </a:xfrm>
          <a:prstGeom prst="rect">
            <a:avLst/>
          </a:prstGeom>
          <a:noFill/>
        </p:spPr>
        <p:txBody>
          <a:bodyPr wrap="square" lIns="0" rIns="0" tIns="0" bIns="0" anchor="t">
            <a:spAutoFit/>
          </a:bodyPr>
          <a:lstStyle/>
          <a:p>
            <a:pPr algn="ctr"/>
            <a:r>
              <a:rPr sz="3000" b="1" i="0">
                <a:solidFill>
                  <a:srgbClr val="1F6F50"/>
                </a:solidFill>
                <a:latin typeface="Segoe UI Semibold"/>
              </a:rPr>
              <a:t>109</a:t>
            </a:r>
          </a:p>
        </p:txBody>
      </p:sp>
      <p:sp>
        <p:nvSpPr>
          <p:cNvPr id="11" name="TextBox 10"/>
          <p:cNvSpPr txBox="1"/>
          <p:nvPr/>
        </p:nvSpPr>
        <p:spPr>
          <a:xfrm>
            <a:off x="749808" y="2626359"/>
            <a:ext cx="2316403" cy="576072"/>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automated tests passing
(0 skipped, 0 failing)</a:t>
            </a:r>
          </a:p>
        </p:txBody>
      </p:sp>
      <p:sp>
        <p:nvSpPr>
          <p:cNvPr id="12" name="Rounded Rectangle 11"/>
          <p:cNvSpPr/>
          <p:nvPr/>
        </p:nvSpPr>
        <p:spPr>
          <a:xfrm>
            <a:off x="3413683" y="1876551"/>
            <a:ext cx="2572435" cy="1444752"/>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541699" y="2022855"/>
            <a:ext cx="2316403" cy="548640"/>
          </a:xfrm>
          <a:prstGeom prst="rect">
            <a:avLst/>
          </a:prstGeom>
          <a:noFill/>
        </p:spPr>
        <p:txBody>
          <a:bodyPr wrap="square" lIns="0" rIns="0" tIns="0" bIns="0" anchor="t">
            <a:spAutoFit/>
          </a:bodyPr>
          <a:lstStyle/>
          <a:p>
            <a:pPr algn="ctr"/>
            <a:r>
              <a:rPr sz="3000" b="1" i="0">
                <a:solidFill>
                  <a:srgbClr val="1F6F50"/>
                </a:solidFill>
                <a:latin typeface="Segoe UI Semibold"/>
              </a:rPr>
              <a:t>321/321</a:t>
            </a:r>
          </a:p>
        </p:txBody>
      </p:sp>
      <p:sp>
        <p:nvSpPr>
          <p:cNvPr id="14" name="TextBox 13"/>
          <p:cNvSpPr txBox="1"/>
          <p:nvPr/>
        </p:nvSpPr>
        <p:spPr>
          <a:xfrm>
            <a:off x="3541699" y="2626359"/>
            <a:ext cx="2316403" cy="576072"/>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JSONL records valid against
the frozen schema</a:t>
            </a:r>
          </a:p>
        </p:txBody>
      </p:sp>
      <p:sp>
        <p:nvSpPr>
          <p:cNvPr id="15" name="Rounded Rectangle 14"/>
          <p:cNvSpPr/>
          <p:nvPr/>
        </p:nvSpPr>
        <p:spPr>
          <a:xfrm>
            <a:off x="6205575" y="1876551"/>
            <a:ext cx="2572435" cy="1444752"/>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33591" y="2022855"/>
            <a:ext cx="2316403" cy="548640"/>
          </a:xfrm>
          <a:prstGeom prst="rect">
            <a:avLst/>
          </a:prstGeom>
          <a:noFill/>
        </p:spPr>
        <p:txBody>
          <a:bodyPr wrap="square" lIns="0" rIns="0" tIns="0" bIns="0" anchor="t">
            <a:spAutoFit/>
          </a:bodyPr>
          <a:lstStyle/>
          <a:p>
            <a:pPr algn="ctr"/>
            <a:r>
              <a:rPr sz="3000" b="1" i="0">
                <a:solidFill>
                  <a:srgbClr val="0E7C86"/>
                </a:solidFill>
                <a:latin typeface="Segoe UI Semibold"/>
              </a:rPr>
              <a:t>7.8</a:t>
            </a:r>
          </a:p>
        </p:txBody>
      </p:sp>
      <p:sp>
        <p:nvSpPr>
          <p:cNvPr id="17" name="TextBox 16"/>
          <p:cNvSpPr txBox="1"/>
          <p:nvPr/>
        </p:nvSpPr>
        <p:spPr>
          <a:xfrm>
            <a:off x="6333591" y="2626359"/>
            <a:ext cx="2316403" cy="576072"/>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FPS end-to-end on 4K video,
RTX 4050 laptop GPU</a:t>
            </a:r>
          </a:p>
        </p:txBody>
      </p:sp>
      <p:sp>
        <p:nvSpPr>
          <p:cNvPr id="18" name="Rounded Rectangle 17"/>
          <p:cNvSpPr/>
          <p:nvPr/>
        </p:nvSpPr>
        <p:spPr>
          <a:xfrm>
            <a:off x="8997467" y="1876551"/>
            <a:ext cx="2572435" cy="1444752"/>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25483" y="2022855"/>
            <a:ext cx="2316403" cy="548640"/>
          </a:xfrm>
          <a:prstGeom prst="rect">
            <a:avLst/>
          </a:prstGeom>
          <a:noFill/>
        </p:spPr>
        <p:txBody>
          <a:bodyPr wrap="square" lIns="0" rIns="0" tIns="0" bIns="0" anchor="t">
            <a:spAutoFit/>
          </a:bodyPr>
          <a:lstStyle/>
          <a:p>
            <a:pPr algn="ctr"/>
            <a:r>
              <a:rPr sz="3000" b="1" i="0">
                <a:solidFill>
                  <a:srgbClr val="1F6F50"/>
                </a:solidFill>
                <a:latin typeface="Segoe UI Semibold"/>
              </a:rPr>
              <a:t>100%</a:t>
            </a:r>
          </a:p>
        </p:txBody>
      </p:sp>
      <p:sp>
        <p:nvSpPr>
          <p:cNvPr id="20" name="TextBox 19"/>
          <p:cNvSpPr txBox="1"/>
          <p:nvPr/>
        </p:nvSpPr>
        <p:spPr>
          <a:xfrm>
            <a:off x="9125483" y="2626359"/>
            <a:ext cx="2316403" cy="576072"/>
          </a:xfrm>
          <a:prstGeom prst="rect">
            <a:avLst/>
          </a:prstGeom>
          <a:noFill/>
        </p:spPr>
        <p:txBody>
          <a:bodyPr wrap="square" lIns="0" rIns="0" tIns="0" bIns="0" anchor="t">
            <a:spAutoFit/>
          </a:bodyPr>
          <a:lstStyle/>
          <a:p>
            <a:pPr algn="ctr">
              <a:lnSpc>
                <a:spcPct val="112000"/>
              </a:lnSpc>
            </a:pPr>
            <a:r>
              <a:rPr sz="950" b="0" i="0">
                <a:solidFill>
                  <a:srgbClr val="3C5066"/>
                </a:solidFill>
                <a:latin typeface="Segoe UI"/>
              </a:rPr>
              <a:t>of detected students carry
at least one usable signal</a:t>
            </a:r>
          </a:p>
        </p:txBody>
      </p:sp>
      <p:sp>
        <p:nvSpPr>
          <p:cNvPr id="21" name="TextBox 20"/>
          <p:cNvSpPr txBox="1"/>
          <p:nvPr/>
        </p:nvSpPr>
        <p:spPr>
          <a:xfrm>
            <a:off x="621792" y="3577335"/>
            <a:ext cx="10948111" cy="274320"/>
          </a:xfrm>
          <a:prstGeom prst="rect">
            <a:avLst/>
          </a:prstGeom>
          <a:noFill/>
        </p:spPr>
        <p:txBody>
          <a:bodyPr wrap="square" lIns="0" rIns="0" tIns="0" bIns="0" anchor="t">
            <a:spAutoFit/>
          </a:bodyPr>
          <a:lstStyle/>
          <a:p>
            <a:r>
              <a:rPr sz="1350" b="1" i="0">
                <a:solidFill>
                  <a:srgbClr val="10273F"/>
                </a:solidFill>
                <a:latin typeface="Segoe UI Semibold"/>
              </a:rPr>
              <a:t>Stage-by-stage status</a:t>
            </a:r>
          </a:p>
        </p:txBody>
      </p:sp>
      <p:graphicFrame>
        <p:nvGraphicFramePr>
          <p:cNvPr id="22" name="Table 21"/>
          <p:cNvGraphicFramePr>
            <a:graphicFrameLocks noGrp="1"/>
          </p:cNvGraphicFramePr>
          <p:nvPr/>
        </p:nvGraphicFramePr>
        <p:xfrm>
          <a:off x="621792" y="3943096"/>
          <a:ext cx="10945368" cy="2633472"/>
        </p:xfrm>
        <a:graphic>
          <a:graphicData uri="http://schemas.openxmlformats.org/drawingml/2006/table">
            <a:tbl>
              <a:tblPr>
                <a:tableStyleId>{5C22544A-7EE6-4342-B048-85BDC9FD1C3A}</a:tableStyleId>
              </a:tblPr>
              <a:tblGrid>
                <a:gridCol w="658368"/>
                <a:gridCol w="4206240"/>
                <a:gridCol w="1417320"/>
                <a:gridCol w="4663440"/>
              </a:tblGrid>
              <a:tr h="329184">
                <a:tc>
                  <a:txBody>
                    <a:bodyPr wrap="square"/>
                    <a:lstStyle/>
                    <a:p>
                      <a:r>
                        <a:rPr sz="950" b="1">
                          <a:solidFill>
                            <a:srgbClr val="FFFFFF"/>
                          </a:solidFill>
                          <a:latin typeface="Segoe UI Semibold"/>
                        </a:rPr>
                        <a:t>Stage</a:t>
                      </a:r>
                    </a:p>
                  </a:txBody>
                  <a:tcPr marL="91440" marR="73152" marT="36576" marB="36576" anchor="ctr">
                    <a:solidFill>
                      <a:srgbClr val="10273F"/>
                    </a:solidFill>
                  </a:tcPr>
                </a:tc>
                <a:tc>
                  <a:txBody>
                    <a:bodyPr wrap="square"/>
                    <a:lstStyle/>
                    <a:p>
                      <a:r>
                        <a:rPr sz="950" b="1">
                          <a:solidFill>
                            <a:srgbClr val="FFFFFF"/>
                          </a:solidFill>
                          <a:latin typeface="Segoe UI Semibold"/>
                        </a:rPr>
                        <a:t>Component</a:t>
                      </a:r>
                    </a:p>
                  </a:txBody>
                  <a:tcPr marL="91440" marR="73152" marT="36576" marB="36576" anchor="ctr">
                    <a:solidFill>
                      <a:srgbClr val="10273F"/>
                    </a:solidFill>
                  </a:tcPr>
                </a:tc>
                <a:tc>
                  <a:txBody>
                    <a:bodyPr wrap="square"/>
                    <a:lstStyle/>
                    <a:p>
                      <a:r>
                        <a:rPr sz="950" b="1">
                          <a:solidFill>
                            <a:srgbClr val="FFFFFF"/>
                          </a:solidFill>
                          <a:latin typeface="Segoe UI Semibold"/>
                        </a:rPr>
                        <a:t>State</a:t>
                      </a:r>
                    </a:p>
                  </a:txBody>
                  <a:tcPr marL="91440" marR="73152" marT="36576" marB="36576" anchor="ctr">
                    <a:solidFill>
                      <a:srgbClr val="10273F"/>
                    </a:solidFill>
                  </a:tcPr>
                </a:tc>
                <a:tc>
                  <a:txBody>
                    <a:bodyPr wrap="square"/>
                    <a:lstStyle/>
                    <a:p>
                      <a:r>
                        <a:rPr sz="950" b="1">
                          <a:solidFill>
                            <a:srgbClr val="FFFFFF"/>
                          </a:solidFill>
                          <a:latin typeface="Segoe UI Semibold"/>
                        </a:rPr>
                        <a:t>Evidence</a:t>
                      </a:r>
                    </a:p>
                  </a:txBody>
                  <a:tcPr marL="91440" marR="73152" marT="36576" marB="36576" anchor="ctr">
                    <a:solidFill>
                      <a:srgbClr val="10273F"/>
                    </a:solidFill>
                  </a:tcPr>
                </a:tc>
              </a:tr>
              <a:tr h="384048">
                <a:tc>
                  <a:txBody>
                    <a:bodyPr wrap="square"/>
                    <a:lstStyle/>
                    <a:p>
                      <a:r>
                        <a:rPr sz="950" b="0">
                          <a:solidFill>
                            <a:srgbClr val="3C5066"/>
                          </a:solidFill>
                          <a:latin typeface="Segoe UI"/>
                        </a:rPr>
                        <a:t>1</a:t>
                      </a:r>
                    </a:p>
                  </a:txBody>
                  <a:tcPr marL="91440" marR="73152" marT="36576" marB="36576" anchor="ctr">
                    <a:solidFill>
                      <a:srgbClr val="FFFFFF"/>
                    </a:solidFill>
                  </a:tcPr>
                </a:tc>
                <a:tc>
                  <a:txBody>
                    <a:bodyPr wrap="square"/>
                    <a:lstStyle/>
                    <a:p>
                      <a:r>
                        <a:rPr sz="950" b="1">
                          <a:solidFill>
                            <a:srgbClr val="3C5066"/>
                          </a:solidFill>
                          <a:latin typeface="Segoe UI"/>
                        </a:rPr>
                        <a:t>YOLOv11 person + object detection</a:t>
                      </a:r>
                    </a:p>
                  </a:txBody>
                  <a:tcPr marL="91440" marR="73152" marT="36576" marB="36576" anchor="ctr">
                    <a:solidFill>
                      <a:srgbClr val="FFFFFF"/>
                    </a:solidFill>
                  </a:tcPr>
                </a:tc>
                <a:tc>
                  <a:txBody>
                    <a:bodyPr wrap="square"/>
                    <a:lstStyle/>
                    <a:p>
                      <a:r>
                        <a:rPr sz="950" b="1">
                          <a:solidFill>
                            <a:srgbClr val="1F6F50"/>
                          </a:solidFill>
                          <a:latin typeface="Segoe UI"/>
                        </a:rPr>
                        <a:t>Complete</a:t>
                      </a:r>
                    </a:p>
                  </a:txBody>
                  <a:tcPr marL="91440" marR="73152" marT="36576" marB="36576" anchor="ctr">
                    <a:solidFill>
                      <a:srgbClr val="FFFFFF"/>
                    </a:solidFill>
                  </a:tcPr>
                </a:tc>
                <a:tc>
                  <a:txBody>
                    <a:bodyPr wrap="square"/>
                    <a:lstStyle/>
                    <a:p>
                      <a:r>
                        <a:rPr sz="950" b="0">
                          <a:solidFill>
                            <a:srgbClr val="3C5066"/>
                          </a:solidFill>
                          <a:latin typeface="Segoe UI"/>
                        </a:rPr>
                        <a:t>236 persons across 12 real classroom images</a:t>
                      </a:r>
                    </a:p>
                  </a:txBody>
                  <a:tcPr marL="91440" marR="73152" marT="36576" marB="36576" anchor="ctr">
                    <a:solidFill>
                      <a:srgbClr val="FFFFFF"/>
                    </a:solidFill>
                  </a:tcPr>
                </a:tc>
              </a:tr>
              <a:tr h="384048">
                <a:tc>
                  <a:txBody>
                    <a:bodyPr wrap="square"/>
                    <a:lstStyle/>
                    <a:p>
                      <a:r>
                        <a:rPr sz="950" b="0">
                          <a:solidFill>
                            <a:srgbClr val="3C5066"/>
                          </a:solidFill>
                          <a:latin typeface="Segoe UI"/>
                        </a:rPr>
                        <a:t>1</a:t>
                      </a:r>
                    </a:p>
                  </a:txBody>
                  <a:tcPr marL="91440" marR="73152" marT="36576" marB="36576" anchor="ctr">
                    <a:solidFill>
                      <a:srgbClr val="F3F7FA"/>
                    </a:solidFill>
                  </a:tcPr>
                </a:tc>
                <a:tc>
                  <a:txBody>
                    <a:bodyPr wrap="square"/>
                    <a:lstStyle/>
                    <a:p>
                      <a:r>
                        <a:rPr sz="950" b="1">
                          <a:solidFill>
                            <a:srgbClr val="3C5066"/>
                          </a:solidFill>
                          <a:latin typeface="Segoe UI"/>
                        </a:rPr>
                        <a:t>MediaPipe Face Mesh + EAR</a:t>
                      </a:r>
                    </a:p>
                  </a:txBody>
                  <a:tcPr marL="91440" marR="73152" marT="36576" marB="36576" anchor="ctr">
                    <a:solidFill>
                      <a:srgbClr val="F3F7FA"/>
                    </a:solidFill>
                  </a:tcPr>
                </a:tc>
                <a:tc>
                  <a:txBody>
                    <a:bodyPr wrap="square"/>
                    <a:lstStyle/>
                    <a:p>
                      <a:r>
                        <a:rPr sz="950" b="1">
                          <a:solidFill>
                            <a:srgbClr val="1F6F50"/>
                          </a:solidFill>
                          <a:latin typeface="Segoe UI"/>
                        </a:rPr>
                        <a:t>Complete</a:t>
                      </a:r>
                    </a:p>
                  </a:txBody>
                  <a:tcPr marL="91440" marR="73152" marT="36576" marB="36576" anchor="ctr">
                    <a:solidFill>
                      <a:srgbClr val="F3F7FA"/>
                    </a:solidFill>
                  </a:tcPr>
                </a:tc>
                <a:tc>
                  <a:txBody>
                    <a:bodyPr wrap="square"/>
                    <a:lstStyle/>
                    <a:p>
                      <a:r>
                        <a:rPr sz="950" b="0">
                          <a:solidFill>
                            <a:srgbClr val="3C5066"/>
                          </a:solidFill>
                          <a:latin typeface="Segoe UI"/>
                        </a:rPr>
                        <a:t>468 landmarks; EAR range 0.10–0.49 on real faces</a:t>
                      </a:r>
                    </a:p>
                  </a:txBody>
                  <a:tcPr marL="91440" marR="73152" marT="36576" marB="36576" anchor="ctr">
                    <a:solidFill>
                      <a:srgbClr val="F3F7FA"/>
                    </a:solidFill>
                  </a:tcPr>
                </a:tc>
              </a:tr>
              <a:tr h="384048">
                <a:tc>
                  <a:txBody>
                    <a:bodyPr wrap="square"/>
                    <a:lstStyle/>
                    <a:p>
                      <a:r>
                        <a:rPr sz="950" b="0">
                          <a:solidFill>
                            <a:srgbClr val="3C5066"/>
                          </a:solidFill>
                          <a:latin typeface="Segoe UI"/>
                        </a:rPr>
                        <a:t>1</a:t>
                      </a:r>
                    </a:p>
                  </a:txBody>
                  <a:tcPr marL="91440" marR="73152" marT="36576" marB="36576" anchor="ctr">
                    <a:solidFill>
                      <a:srgbClr val="FFFFFF"/>
                    </a:solidFill>
                  </a:tcPr>
                </a:tc>
                <a:tc>
                  <a:txBody>
                    <a:bodyPr wrap="square"/>
                    <a:lstStyle/>
                    <a:p>
                      <a:r>
                        <a:rPr sz="950" b="1">
                          <a:solidFill>
                            <a:srgbClr val="3C5066"/>
                          </a:solidFill>
                          <a:latin typeface="Segoe UI"/>
                        </a:rPr>
                        <a:t>SixDRepNet head pose + gaze label</a:t>
                      </a:r>
                    </a:p>
                  </a:txBody>
                  <a:tcPr marL="91440" marR="73152" marT="36576" marB="36576" anchor="ctr">
                    <a:solidFill>
                      <a:srgbClr val="FFFFFF"/>
                    </a:solidFill>
                  </a:tcPr>
                </a:tc>
                <a:tc>
                  <a:txBody>
                    <a:bodyPr wrap="square"/>
                    <a:lstStyle/>
                    <a:p>
                      <a:r>
                        <a:rPr sz="950" b="1">
                          <a:solidFill>
                            <a:srgbClr val="1F6F50"/>
                          </a:solidFill>
                          <a:latin typeface="Segoe UI"/>
                        </a:rPr>
                        <a:t>Complete</a:t>
                      </a:r>
                    </a:p>
                  </a:txBody>
                  <a:tcPr marL="91440" marR="73152" marT="36576" marB="36576" anchor="ctr">
                    <a:solidFill>
                      <a:srgbClr val="FFFFFF"/>
                    </a:solidFill>
                  </a:tcPr>
                </a:tc>
                <a:tc>
                  <a:txBody>
                    <a:bodyPr wrap="square"/>
                    <a:lstStyle/>
                    <a:p>
                      <a:r>
                        <a:rPr sz="950" b="0">
                          <a:solidFill>
                            <a:srgbClr val="3C5066"/>
                          </a:solidFill>
                          <a:latin typeface="Segoe UI"/>
                        </a:rPr>
                        <a:t>5-class gaze label; sign convention verified against library source</a:t>
                      </a:r>
                    </a:p>
                  </a:txBody>
                  <a:tcPr marL="91440" marR="73152" marT="36576" marB="36576" anchor="ctr">
                    <a:solidFill>
                      <a:srgbClr val="FFFFFF"/>
                    </a:solidFill>
                  </a:tcPr>
                </a:tc>
              </a:tr>
              <a:tr h="384048">
                <a:tc>
                  <a:txBody>
                    <a:bodyPr wrap="square"/>
                    <a:lstStyle/>
                    <a:p>
                      <a:r>
                        <a:rPr sz="950" b="0">
                          <a:solidFill>
                            <a:srgbClr val="3C5066"/>
                          </a:solidFill>
                          <a:latin typeface="Segoe UI"/>
                        </a:rPr>
                        <a:t>1</a:t>
                      </a:r>
                    </a:p>
                  </a:txBody>
                  <a:tcPr marL="91440" marR="73152" marT="36576" marB="36576" anchor="ctr">
                    <a:solidFill>
                      <a:srgbClr val="F3F7FA"/>
                    </a:solidFill>
                  </a:tcPr>
                </a:tc>
                <a:tc>
                  <a:txBody>
                    <a:bodyPr wrap="square"/>
                    <a:lstStyle/>
                    <a:p>
                      <a:r>
                        <a:rPr sz="950" b="1">
                          <a:solidFill>
                            <a:srgbClr val="3C5066"/>
                          </a:solidFill>
                          <a:latin typeface="Segoe UI"/>
                        </a:rPr>
                        <a:t>MediaPipe Pose fallback</a:t>
                      </a:r>
                    </a:p>
                  </a:txBody>
                  <a:tcPr marL="91440" marR="73152" marT="36576" marB="36576" anchor="ctr">
                    <a:solidFill>
                      <a:srgbClr val="F3F7FA"/>
                    </a:solidFill>
                  </a:tcPr>
                </a:tc>
                <a:tc>
                  <a:txBody>
                    <a:bodyPr wrap="square"/>
                    <a:lstStyle/>
                    <a:p>
                      <a:r>
                        <a:rPr sz="950" b="1">
                          <a:solidFill>
                            <a:srgbClr val="1F6F50"/>
                          </a:solidFill>
                          <a:latin typeface="Segoe UI"/>
                        </a:rPr>
                        <a:t>Complete</a:t>
                      </a:r>
                    </a:p>
                  </a:txBody>
                  <a:tcPr marL="91440" marR="73152" marT="36576" marB="36576" anchor="ctr">
                    <a:solidFill>
                      <a:srgbClr val="F3F7FA"/>
                    </a:solidFill>
                  </a:tcPr>
                </a:tc>
                <a:tc>
                  <a:txBody>
                    <a:bodyPr wrap="square"/>
                    <a:lstStyle/>
                    <a:p>
                      <a:r>
                        <a:rPr sz="950" b="0">
                          <a:solidFill>
                            <a:srgbClr val="3C5066"/>
                          </a:solidFill>
                          <a:latin typeface="Segoe UI"/>
                        </a:rPr>
                        <a:t>recovers 56% of students who have no detectable face</a:t>
                      </a:r>
                    </a:p>
                  </a:txBody>
                  <a:tcPr marL="91440" marR="73152" marT="36576" marB="36576" anchor="ctr">
                    <a:solidFill>
                      <a:srgbClr val="F3F7FA"/>
                    </a:solidFill>
                  </a:tcPr>
                </a:tc>
              </a:tr>
              <a:tr h="384048">
                <a:tc>
                  <a:txBody>
                    <a:bodyPr wrap="square"/>
                    <a:lstStyle/>
                    <a:p>
                      <a:r>
                        <a:rPr sz="950" b="0">
                          <a:solidFill>
                            <a:srgbClr val="3C5066"/>
                          </a:solidFill>
                          <a:latin typeface="Segoe UI"/>
                        </a:rPr>
                        <a:t>2</a:t>
                      </a:r>
                    </a:p>
                  </a:txBody>
                  <a:tcPr marL="91440" marR="73152" marT="36576" marB="36576" anchor="ctr">
                    <a:solidFill>
                      <a:srgbClr val="FFFFFF"/>
                    </a:solidFill>
                  </a:tcPr>
                </a:tc>
                <a:tc>
                  <a:txBody>
                    <a:bodyPr wrap="square"/>
                    <a:lstStyle/>
                    <a:p>
                      <a:r>
                        <a:rPr sz="950" b="1">
                          <a:solidFill>
                            <a:srgbClr val="3C5066"/>
                          </a:solidFill>
                          <a:latin typeface="Segoe UI"/>
                        </a:rPr>
                        <a:t>ByteTrack identity</a:t>
                      </a:r>
                    </a:p>
                  </a:txBody>
                  <a:tcPr marL="91440" marR="73152" marT="36576" marB="36576" anchor="ctr">
                    <a:solidFill>
                      <a:srgbClr val="FFFFFF"/>
                    </a:solidFill>
                  </a:tcPr>
                </a:tc>
                <a:tc>
                  <a:txBody>
                    <a:bodyPr wrap="square"/>
                    <a:lstStyle/>
                    <a:p>
                      <a:r>
                        <a:rPr sz="950" b="1">
                          <a:solidFill>
                            <a:srgbClr val="1F6F50"/>
                          </a:solidFill>
                          <a:latin typeface="Segoe UI"/>
                        </a:rPr>
                        <a:t>Complete</a:t>
                      </a:r>
                    </a:p>
                  </a:txBody>
                  <a:tcPr marL="91440" marR="73152" marT="36576" marB="36576" anchor="ctr">
                    <a:solidFill>
                      <a:srgbClr val="FFFFFF"/>
                    </a:solidFill>
                  </a:tcPr>
                </a:tc>
                <a:tc>
                  <a:txBody>
                    <a:bodyPr wrap="square"/>
                    <a:lstStyle/>
                    <a:p>
                      <a:r>
                        <a:rPr sz="950" b="0">
                          <a:solidFill>
                            <a:srgbClr val="3C5066"/>
                          </a:solidFill>
                          <a:latin typeface="Segoe UI"/>
                        </a:rPr>
                        <a:t>stable track_id across occlusion; session-scoped by test</a:t>
                      </a:r>
                    </a:p>
                  </a:txBody>
                  <a:tcPr marL="91440" marR="73152" marT="36576" marB="36576" anchor="ctr">
                    <a:solidFill>
                      <a:srgbClr val="FFFFFF"/>
                    </a:solidFill>
                  </a:tcPr>
                </a:tc>
              </a:tr>
              <a:tr h="384048">
                <a:tc>
                  <a:txBody>
                    <a:bodyPr wrap="square"/>
                    <a:lstStyle/>
                    <a:p>
                      <a:r>
                        <a:rPr sz="950" b="0">
                          <a:solidFill>
                            <a:srgbClr val="3C5066"/>
                          </a:solidFill>
                          <a:latin typeface="Segoe UI"/>
                        </a:rPr>
                        <a:t>3–5</a:t>
                      </a:r>
                    </a:p>
                  </a:txBody>
                  <a:tcPr marL="91440" marR="73152" marT="36576" marB="36576" anchor="ctr">
                    <a:solidFill>
                      <a:srgbClr val="F3F7FA"/>
                    </a:solidFill>
                  </a:tcPr>
                </a:tc>
                <a:tc>
                  <a:txBody>
                    <a:bodyPr wrap="square"/>
                    <a:lstStyle/>
                    <a:p>
                      <a:r>
                        <a:rPr sz="950" b="1">
                          <a:solidFill>
                            <a:srgbClr val="3C5066"/>
                          </a:solidFill>
                          <a:latin typeface="Segoe UI"/>
                        </a:rPr>
                        <a:t>Scene graph · temporal · group activity</a:t>
                      </a:r>
                    </a:p>
                  </a:txBody>
                  <a:tcPr marL="91440" marR="73152" marT="36576" marB="36576" anchor="ctr">
                    <a:solidFill>
                      <a:srgbClr val="F3F7FA"/>
                    </a:solidFill>
                  </a:tcPr>
                </a:tc>
                <a:tc>
                  <a:txBody>
                    <a:bodyPr wrap="square"/>
                    <a:lstStyle/>
                    <a:p>
                      <a:r>
                        <a:rPr sz="950" b="1">
                          <a:solidFill>
                            <a:srgbClr val="B47A14"/>
                          </a:solidFill>
                          <a:latin typeface="Segoe UI"/>
                        </a:rPr>
                        <a:t>Designed</a:t>
                      </a:r>
                    </a:p>
                  </a:txBody>
                  <a:tcPr marL="91440" marR="73152" marT="36576" marB="36576" anchor="ctr">
                    <a:solidFill>
                      <a:srgbClr val="F3F7FA"/>
                    </a:solidFill>
                  </a:tcPr>
                </a:tc>
                <a:tc>
                  <a:txBody>
                    <a:bodyPr wrap="square"/>
                    <a:lstStyle/>
                    <a:p>
                      <a:r>
                        <a:rPr sz="950" b="0">
                          <a:solidFill>
                            <a:srgbClr val="3C5066"/>
                          </a:solidFill>
                          <a:latin typeface="Segoe UI"/>
                        </a:rPr>
                        <a:t>contracts defined; base papers selected and read</a:t>
                      </a:r>
                    </a:p>
                  </a:txBody>
                  <a:tcPr marL="91440" marR="73152" marT="36576" marB="36576" anchor="ctr">
                    <a:solidFill>
                      <a:srgbClr val="F3F7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RESULTS</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Measured improvements, before and after</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Every figure below is from a real run on real classroom images in this repository — not an estimate.</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14</a:t>
            </a:r>
          </a:p>
        </p:txBody>
      </p:sp>
      <p:graphicFrame>
        <p:nvGraphicFramePr>
          <p:cNvPr id="9" name="Table 8"/>
          <p:cNvGraphicFramePr>
            <a:graphicFrameLocks noGrp="1"/>
          </p:cNvGraphicFramePr>
          <p:nvPr/>
        </p:nvGraphicFramePr>
        <p:xfrm>
          <a:off x="621792" y="1689227"/>
          <a:ext cx="7498080" cy="2651760"/>
        </p:xfrm>
        <a:graphic>
          <a:graphicData uri="http://schemas.openxmlformats.org/drawingml/2006/table">
            <a:tbl>
              <a:tblPr>
                <a:tableStyleId>{5C22544A-7EE6-4342-B048-85BDC9FD1C3A}</a:tableStyleId>
              </a:tblPr>
              <a:tblGrid>
                <a:gridCol w="4023360"/>
                <a:gridCol w="1143000"/>
                <a:gridCol w="1143000"/>
                <a:gridCol w="1188720"/>
              </a:tblGrid>
              <a:tr h="347472">
                <a:tc>
                  <a:txBody>
                    <a:bodyPr wrap="square"/>
                    <a:lstStyle/>
                    <a:p>
                      <a:r>
                        <a:rPr sz="950" b="1">
                          <a:solidFill>
                            <a:srgbClr val="FFFFFF"/>
                          </a:solidFill>
                          <a:latin typeface="Segoe UI Semibold"/>
                        </a:rPr>
                        <a:t>Metric (same 12-image real classroom set)</a:t>
                      </a:r>
                    </a:p>
                  </a:txBody>
                  <a:tcPr marL="91440" marR="73152" marT="36576" marB="36576" anchor="ctr">
                    <a:solidFill>
                      <a:srgbClr val="10273F"/>
                    </a:solidFill>
                  </a:tcPr>
                </a:tc>
                <a:tc>
                  <a:txBody>
                    <a:bodyPr wrap="square"/>
                    <a:lstStyle/>
                    <a:p>
                      <a:r>
                        <a:rPr sz="950" b="1">
                          <a:solidFill>
                            <a:srgbClr val="FFFFFF"/>
                          </a:solidFill>
                          <a:latin typeface="Segoe UI Semibold"/>
                        </a:rPr>
                        <a:t>Before</a:t>
                      </a:r>
                    </a:p>
                  </a:txBody>
                  <a:tcPr marL="91440" marR="73152" marT="36576" marB="36576" anchor="ctr">
                    <a:solidFill>
                      <a:srgbClr val="10273F"/>
                    </a:solidFill>
                  </a:tcPr>
                </a:tc>
                <a:tc>
                  <a:txBody>
                    <a:bodyPr wrap="square"/>
                    <a:lstStyle/>
                    <a:p>
                      <a:r>
                        <a:rPr sz="950" b="1">
                          <a:solidFill>
                            <a:srgbClr val="FFFFFF"/>
                          </a:solidFill>
                          <a:latin typeface="Segoe UI Semibold"/>
                        </a:rPr>
                        <a:t>After</a:t>
                      </a:r>
                    </a:p>
                  </a:txBody>
                  <a:tcPr marL="91440" marR="73152" marT="36576" marB="36576" anchor="ctr">
                    <a:solidFill>
                      <a:srgbClr val="10273F"/>
                    </a:solidFill>
                  </a:tcPr>
                </a:tc>
                <a:tc>
                  <a:txBody>
                    <a:bodyPr wrap="square"/>
                    <a:lstStyle/>
                    <a:p>
                      <a:r>
                        <a:rPr sz="950" b="1">
                          <a:solidFill>
                            <a:srgbClr val="FFFFFF"/>
                          </a:solidFill>
                          <a:latin typeface="Segoe UI Semibold"/>
                        </a:rPr>
                        <a:t>Change</a:t>
                      </a:r>
                    </a:p>
                  </a:txBody>
                  <a:tcPr marL="91440" marR="73152" marT="36576" marB="36576" anchor="ctr">
                    <a:solidFill>
                      <a:srgbClr val="10273F"/>
                    </a:solidFill>
                  </a:tcPr>
                </a:tc>
              </a:tr>
              <a:tr h="384048">
                <a:tc>
                  <a:txBody>
                    <a:bodyPr wrap="square"/>
                    <a:lstStyle/>
                    <a:p>
                      <a:r>
                        <a:rPr sz="950" b="1">
                          <a:solidFill>
                            <a:srgbClr val="3C5066"/>
                          </a:solidFill>
                          <a:latin typeface="Segoe UI"/>
                        </a:rPr>
                        <a:t>Persons detected</a:t>
                      </a:r>
                    </a:p>
                  </a:txBody>
                  <a:tcPr marL="91440" marR="73152" marT="36576" marB="36576" anchor="ctr">
                    <a:solidFill>
                      <a:srgbClr val="FFFFFF"/>
                    </a:solidFill>
                  </a:tcPr>
                </a:tc>
                <a:tc>
                  <a:txBody>
                    <a:bodyPr wrap="square"/>
                    <a:lstStyle/>
                    <a:p>
                      <a:r>
                        <a:rPr sz="900" b="0">
                          <a:solidFill>
                            <a:srgbClr val="7B8C9E"/>
                          </a:solidFill>
                          <a:latin typeface="Consolas"/>
                        </a:rPr>
                        <a:t>139</a:t>
                      </a:r>
                    </a:p>
                  </a:txBody>
                  <a:tcPr marL="91440" marR="73152" marT="36576" marB="36576" anchor="ctr">
                    <a:solidFill>
                      <a:srgbClr val="FFFFFF"/>
                    </a:solidFill>
                  </a:tcPr>
                </a:tc>
                <a:tc>
                  <a:txBody>
                    <a:bodyPr wrap="square"/>
                    <a:lstStyle/>
                    <a:p>
                      <a:r>
                        <a:rPr sz="900" b="0">
                          <a:solidFill>
                            <a:srgbClr val="3C5066"/>
                          </a:solidFill>
                          <a:latin typeface="Consolas"/>
                        </a:rPr>
                        <a:t>236</a:t>
                      </a:r>
                    </a:p>
                  </a:txBody>
                  <a:tcPr marL="91440" marR="73152" marT="36576" marB="36576" anchor="ctr">
                    <a:solidFill>
                      <a:srgbClr val="FFFFFF"/>
                    </a:solidFill>
                  </a:tcPr>
                </a:tc>
                <a:tc>
                  <a:txBody>
                    <a:bodyPr wrap="square"/>
                    <a:lstStyle/>
                    <a:p>
                      <a:r>
                        <a:rPr sz="900" b="1">
                          <a:solidFill>
                            <a:srgbClr val="1F6F50"/>
                          </a:solidFill>
                          <a:latin typeface="Consolas"/>
                        </a:rPr>
                        <a:t>+70%</a:t>
                      </a:r>
                    </a:p>
                  </a:txBody>
                  <a:tcPr marL="91440" marR="73152" marT="36576" marB="36576" anchor="ctr">
                    <a:solidFill>
                      <a:srgbClr val="FFFFFF"/>
                    </a:solidFill>
                  </a:tcPr>
                </a:tc>
              </a:tr>
              <a:tr h="384048">
                <a:tc>
                  <a:txBody>
                    <a:bodyPr wrap="square"/>
                    <a:lstStyle/>
                    <a:p>
                      <a:r>
                        <a:rPr sz="950" b="1">
                          <a:solidFill>
                            <a:srgbClr val="3C5066"/>
                          </a:solidFill>
                          <a:latin typeface="Segoe UI"/>
                        </a:rPr>
                        <a:t>Faces detected on real footage</a:t>
                      </a:r>
                    </a:p>
                  </a:txBody>
                  <a:tcPr marL="91440" marR="73152" marT="36576" marB="36576" anchor="ctr">
                    <a:solidFill>
                      <a:srgbClr val="F3F7FA"/>
                    </a:solidFill>
                  </a:tcPr>
                </a:tc>
                <a:tc>
                  <a:txBody>
                    <a:bodyPr wrap="square"/>
                    <a:lstStyle/>
                    <a:p>
                      <a:r>
                        <a:rPr sz="900" b="0">
                          <a:solidFill>
                            <a:srgbClr val="7B8C9E"/>
                          </a:solidFill>
                          <a:latin typeface="Consolas"/>
                        </a:rPr>
                        <a:t>0</a:t>
                      </a:r>
                    </a:p>
                  </a:txBody>
                  <a:tcPr marL="91440" marR="73152" marT="36576" marB="36576" anchor="ctr">
                    <a:solidFill>
                      <a:srgbClr val="F3F7FA"/>
                    </a:solidFill>
                  </a:tcPr>
                </a:tc>
                <a:tc>
                  <a:txBody>
                    <a:bodyPr wrap="square"/>
                    <a:lstStyle/>
                    <a:p>
                      <a:r>
                        <a:rPr sz="900" b="0">
                          <a:solidFill>
                            <a:srgbClr val="3C5066"/>
                          </a:solidFill>
                          <a:latin typeface="Consolas"/>
                        </a:rPr>
                        <a:t>95</a:t>
                      </a:r>
                    </a:p>
                  </a:txBody>
                  <a:tcPr marL="91440" marR="73152" marT="36576" marB="36576" anchor="ctr">
                    <a:solidFill>
                      <a:srgbClr val="F3F7FA"/>
                    </a:solidFill>
                  </a:tcPr>
                </a:tc>
                <a:tc>
                  <a:txBody>
                    <a:bodyPr wrap="square"/>
                    <a:lstStyle/>
                    <a:p>
                      <a:r>
                        <a:rPr sz="900" b="1">
                          <a:solidFill>
                            <a:srgbClr val="1F6F50"/>
                          </a:solidFill>
                          <a:latin typeface="Consolas"/>
                        </a:rPr>
                        <a:t>0 → usable</a:t>
                      </a:r>
                    </a:p>
                  </a:txBody>
                  <a:tcPr marL="91440" marR="73152" marT="36576" marB="36576" anchor="ctr">
                    <a:solidFill>
                      <a:srgbClr val="F3F7FA"/>
                    </a:solidFill>
                  </a:tcPr>
                </a:tc>
              </a:tr>
              <a:tr h="384048">
                <a:tc>
                  <a:txBody>
                    <a:bodyPr wrap="square"/>
                    <a:lstStyle/>
                    <a:p>
                      <a:r>
                        <a:rPr sz="950" b="1">
                          <a:solidFill>
                            <a:srgbClr val="3C5066"/>
                          </a:solidFill>
                          <a:latin typeface="Segoe UI"/>
                        </a:rPr>
                        <a:t>Students with any usable signal (321-frame video)</a:t>
                      </a:r>
                    </a:p>
                  </a:txBody>
                  <a:tcPr marL="91440" marR="73152" marT="36576" marB="36576" anchor="ctr">
                    <a:solidFill>
                      <a:srgbClr val="FFFFFF"/>
                    </a:solidFill>
                  </a:tcPr>
                </a:tc>
                <a:tc>
                  <a:txBody>
                    <a:bodyPr wrap="square"/>
                    <a:lstStyle/>
                    <a:p>
                      <a:r>
                        <a:rPr sz="900" b="0">
                          <a:solidFill>
                            <a:srgbClr val="7B8C9E"/>
                          </a:solidFill>
                          <a:latin typeface="Consolas"/>
                        </a:rPr>
                        <a:t>265 / 321</a:t>
                      </a:r>
                    </a:p>
                  </a:txBody>
                  <a:tcPr marL="91440" marR="73152" marT="36576" marB="36576" anchor="ctr">
                    <a:solidFill>
                      <a:srgbClr val="FFFFFF"/>
                    </a:solidFill>
                  </a:tcPr>
                </a:tc>
                <a:tc>
                  <a:txBody>
                    <a:bodyPr wrap="square"/>
                    <a:lstStyle/>
                    <a:p>
                      <a:r>
                        <a:rPr sz="900" b="0">
                          <a:solidFill>
                            <a:srgbClr val="3C5066"/>
                          </a:solidFill>
                          <a:latin typeface="Consolas"/>
                        </a:rPr>
                        <a:t>321 / 321</a:t>
                      </a:r>
                    </a:p>
                  </a:txBody>
                  <a:tcPr marL="91440" marR="73152" marT="36576" marB="36576" anchor="ctr">
                    <a:solidFill>
                      <a:srgbClr val="FFFFFF"/>
                    </a:solidFill>
                  </a:tcPr>
                </a:tc>
                <a:tc>
                  <a:txBody>
                    <a:bodyPr wrap="square"/>
                    <a:lstStyle/>
                    <a:p>
                      <a:r>
                        <a:rPr sz="900" b="1">
                          <a:solidFill>
                            <a:srgbClr val="1F6F50"/>
                          </a:solidFill>
                          <a:latin typeface="Consolas"/>
                        </a:rPr>
                        <a:t>100% coverage</a:t>
                      </a:r>
                    </a:p>
                  </a:txBody>
                  <a:tcPr marL="91440" marR="73152" marT="36576" marB="36576" anchor="ctr">
                    <a:solidFill>
                      <a:srgbClr val="FFFFFF"/>
                    </a:solidFill>
                  </a:tcPr>
                </a:tc>
              </a:tr>
              <a:tr h="384048">
                <a:tc>
                  <a:txBody>
                    <a:bodyPr wrap="square"/>
                    <a:lstStyle/>
                    <a:p>
                      <a:r>
                        <a:rPr sz="950" b="1">
                          <a:solidFill>
                            <a:srgbClr val="3C5066"/>
                          </a:solidFill>
                          <a:latin typeface="Segoe UI"/>
                        </a:rPr>
                        <a:t>Gaze label “down” reachable at all</a:t>
                      </a:r>
                    </a:p>
                  </a:txBody>
                  <a:tcPr marL="91440" marR="73152" marT="36576" marB="36576" anchor="ctr">
                    <a:solidFill>
                      <a:srgbClr val="F3F7FA"/>
                    </a:solidFill>
                  </a:tcPr>
                </a:tc>
                <a:tc>
                  <a:txBody>
                    <a:bodyPr wrap="square"/>
                    <a:lstStyle/>
                    <a:p>
                      <a:r>
                        <a:rPr sz="900" b="0">
                          <a:solidFill>
                            <a:srgbClr val="7B8C9E"/>
                          </a:solidFill>
                          <a:latin typeface="Consolas"/>
                        </a:rPr>
                        <a:t>No (bug)</a:t>
                      </a:r>
                    </a:p>
                  </a:txBody>
                  <a:tcPr marL="91440" marR="73152" marT="36576" marB="36576" anchor="ctr">
                    <a:solidFill>
                      <a:srgbClr val="F3F7FA"/>
                    </a:solidFill>
                  </a:tcPr>
                </a:tc>
                <a:tc>
                  <a:txBody>
                    <a:bodyPr wrap="square"/>
                    <a:lstStyle/>
                    <a:p>
                      <a:r>
                        <a:rPr sz="900" b="0">
                          <a:solidFill>
                            <a:srgbClr val="3C5066"/>
                          </a:solidFill>
                          <a:latin typeface="Consolas"/>
                        </a:rPr>
                        <a:t>Yes</a:t>
                      </a:r>
                    </a:p>
                  </a:txBody>
                  <a:tcPr marL="91440" marR="73152" marT="36576" marB="36576" anchor="ctr">
                    <a:solidFill>
                      <a:srgbClr val="F3F7FA"/>
                    </a:solidFill>
                  </a:tcPr>
                </a:tc>
                <a:tc>
                  <a:txBody>
                    <a:bodyPr wrap="square"/>
                    <a:lstStyle/>
                    <a:p>
                      <a:r>
                        <a:rPr sz="900" b="1">
                          <a:solidFill>
                            <a:srgbClr val="1F6F50"/>
                          </a:solidFill>
                          <a:latin typeface="Consolas"/>
                        </a:rPr>
                        <a:t>fixed</a:t>
                      </a:r>
                    </a:p>
                  </a:txBody>
                  <a:tcPr marL="91440" marR="73152" marT="36576" marB="36576" anchor="ctr">
                    <a:solidFill>
                      <a:srgbClr val="F3F7FA"/>
                    </a:solidFill>
                  </a:tcPr>
                </a:tc>
              </a:tr>
              <a:tr h="384048">
                <a:tc>
                  <a:txBody>
                    <a:bodyPr wrap="square"/>
                    <a:lstStyle/>
                    <a:p>
                      <a:r>
                        <a:rPr sz="950" b="1">
                          <a:solidFill>
                            <a:srgbClr val="3C5066"/>
                          </a:solidFill>
                          <a:latin typeface="Segoe UI"/>
                        </a:rPr>
                        <a:t>Automated tests passing</a:t>
                      </a:r>
                    </a:p>
                  </a:txBody>
                  <a:tcPr marL="91440" marR="73152" marT="36576" marB="36576" anchor="ctr">
                    <a:solidFill>
                      <a:srgbClr val="FFFFFF"/>
                    </a:solidFill>
                  </a:tcPr>
                </a:tc>
                <a:tc>
                  <a:txBody>
                    <a:bodyPr wrap="square"/>
                    <a:lstStyle/>
                    <a:p>
                      <a:r>
                        <a:rPr sz="900" b="0">
                          <a:solidFill>
                            <a:srgbClr val="7B8C9E"/>
                          </a:solidFill>
                          <a:latin typeface="Consolas"/>
                        </a:rPr>
                        <a:t>10 (9 skipped)</a:t>
                      </a:r>
                    </a:p>
                  </a:txBody>
                  <a:tcPr marL="91440" marR="73152" marT="36576" marB="36576" anchor="ctr">
                    <a:solidFill>
                      <a:srgbClr val="FFFFFF"/>
                    </a:solidFill>
                  </a:tcPr>
                </a:tc>
                <a:tc>
                  <a:txBody>
                    <a:bodyPr wrap="square"/>
                    <a:lstStyle/>
                    <a:p>
                      <a:r>
                        <a:rPr sz="900" b="0">
                          <a:solidFill>
                            <a:srgbClr val="3C5066"/>
                          </a:solidFill>
                          <a:latin typeface="Consolas"/>
                        </a:rPr>
                        <a:t>109 (0 skipped)</a:t>
                      </a:r>
                    </a:p>
                  </a:txBody>
                  <a:tcPr marL="91440" marR="73152" marT="36576" marB="36576" anchor="ctr">
                    <a:solidFill>
                      <a:srgbClr val="FFFFFF"/>
                    </a:solidFill>
                  </a:tcPr>
                </a:tc>
                <a:tc>
                  <a:txBody>
                    <a:bodyPr wrap="square"/>
                    <a:lstStyle/>
                    <a:p>
                      <a:r>
                        <a:rPr sz="900" b="1">
                          <a:solidFill>
                            <a:srgbClr val="1F6F50"/>
                          </a:solidFill>
                          <a:latin typeface="Consolas"/>
                        </a:rPr>
                        <a:t>+99</a:t>
                      </a:r>
                    </a:p>
                  </a:txBody>
                  <a:tcPr marL="91440" marR="73152" marT="36576" marB="36576" anchor="ctr">
                    <a:solidFill>
                      <a:srgbClr val="FFFFFF"/>
                    </a:solidFill>
                  </a:tcPr>
                </a:tc>
              </a:tr>
              <a:tr h="384048">
                <a:tc>
                  <a:txBody>
                    <a:bodyPr wrap="square"/>
                    <a:lstStyle/>
                    <a:p>
                      <a:r>
                        <a:rPr sz="950" b="1">
                          <a:solidFill>
                            <a:srgbClr val="3C5066"/>
                          </a:solidFill>
                          <a:latin typeface="Segoe UI"/>
                        </a:rPr>
                        <a:t>Throughput, 4K video on RTX 4050</a:t>
                      </a:r>
                    </a:p>
                  </a:txBody>
                  <a:tcPr marL="91440" marR="73152" marT="36576" marB="36576" anchor="ctr">
                    <a:solidFill>
                      <a:srgbClr val="F3F7FA"/>
                    </a:solidFill>
                  </a:tcPr>
                </a:tc>
                <a:tc>
                  <a:txBody>
                    <a:bodyPr wrap="square"/>
                    <a:lstStyle/>
                    <a:p>
                      <a:r>
                        <a:rPr sz="900" b="0">
                          <a:solidFill>
                            <a:srgbClr val="7B8C9E"/>
                          </a:solidFill>
                          <a:latin typeface="Consolas"/>
                        </a:rPr>
                        <a:t>11.0 FPS</a:t>
                      </a:r>
                    </a:p>
                  </a:txBody>
                  <a:tcPr marL="91440" marR="73152" marT="36576" marB="36576" anchor="ctr">
                    <a:solidFill>
                      <a:srgbClr val="F3F7FA"/>
                    </a:solidFill>
                  </a:tcPr>
                </a:tc>
                <a:tc>
                  <a:txBody>
                    <a:bodyPr wrap="square"/>
                    <a:lstStyle/>
                    <a:p>
                      <a:r>
                        <a:rPr sz="900" b="0">
                          <a:solidFill>
                            <a:srgbClr val="3C5066"/>
                          </a:solidFill>
                          <a:latin typeface="Consolas"/>
                        </a:rPr>
                        <a:t>7.8 FPS</a:t>
                      </a:r>
                    </a:p>
                  </a:txBody>
                  <a:tcPr marL="91440" marR="73152" marT="36576" marB="36576" anchor="ctr">
                    <a:solidFill>
                      <a:srgbClr val="F3F7FA"/>
                    </a:solidFill>
                  </a:tcPr>
                </a:tc>
                <a:tc>
                  <a:txBody>
                    <a:bodyPr wrap="square"/>
                    <a:lstStyle/>
                    <a:p>
                      <a:r>
                        <a:rPr sz="900" b="1">
                          <a:solidFill>
                            <a:srgbClr val="B47A14"/>
                          </a:solidFill>
                          <a:latin typeface="Consolas"/>
                        </a:rPr>
                        <a:t>cost of posture</a:t>
                      </a:r>
                    </a:p>
                  </a:txBody>
                  <a:tcPr marL="91440" marR="73152" marT="36576" marB="36576" anchor="ctr">
                    <a:solidFill>
                      <a:srgbClr val="F3F7FA"/>
                    </a:solidFill>
                  </a:tcPr>
                </a:tc>
              </a:tr>
            </a:tbl>
          </a:graphicData>
        </a:graphic>
      </p:graphicFrame>
      <p:sp>
        <p:nvSpPr>
          <p:cNvPr id="10" name="Rounded Rectangle 9"/>
          <p:cNvSpPr/>
          <p:nvPr/>
        </p:nvSpPr>
        <p:spPr>
          <a:xfrm>
            <a:off x="621792" y="4578731"/>
            <a:ext cx="7498079" cy="96926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1792" y="4670170"/>
            <a:ext cx="50292" cy="786384"/>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59536" y="4725035"/>
            <a:ext cx="7077455" cy="694944"/>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Why the throughput row is on this slide</a:t>
            </a:r>
          </a:p>
          <a:p>
            <a:pPr>
              <a:lnSpc>
                <a:spcPct val="118000"/>
              </a:lnSpc>
              <a:spcAft>
                <a:spcPts val="300"/>
              </a:spcAft>
            </a:pPr>
            <a:r>
              <a:rPr sz="950" b="0" i="0">
                <a:solidFill>
                  <a:srgbClr val="3C5066"/>
                </a:solidFill>
                <a:latin typeface="Segoe UI"/>
              </a:rPr>
              <a:t>Adding the body-pose fallback took us from 11.0 to 7.8 FPS. We are reporting the cost next to the benefit rather than quoting only the coverage gain — the trade is worth it for offline analysis, and it is the number a reviewer should be able to challenge us on.</a:t>
            </a:r>
          </a:p>
        </p:txBody>
      </p:sp>
      <p:sp>
        <p:nvSpPr>
          <p:cNvPr id="13" name="TextBox 12"/>
          <p:cNvSpPr txBox="1"/>
          <p:nvPr/>
        </p:nvSpPr>
        <p:spPr>
          <a:xfrm>
            <a:off x="8460943" y="1689227"/>
            <a:ext cx="3108960" cy="219456"/>
          </a:xfrm>
          <a:prstGeom prst="rect">
            <a:avLst/>
          </a:prstGeom>
          <a:noFill/>
        </p:spPr>
        <p:txBody>
          <a:bodyPr wrap="square" lIns="0" rIns="0" tIns="0" bIns="0" anchor="t">
            <a:spAutoFit/>
          </a:bodyPr>
          <a:lstStyle/>
          <a:p>
            <a:r>
              <a:rPr sz="900" b="1" i="0">
                <a:solidFill>
                  <a:srgbClr val="A9332A"/>
                </a:solidFill>
                <a:latin typeface="Segoe UI Semibold"/>
              </a:rPr>
              <a:t>BEFORE — 960 px, conf 0.40 → 20 found</a:t>
            </a:r>
          </a:p>
        </p:txBody>
      </p:sp>
      <p:pic>
        <p:nvPicPr>
          <p:cNvPr id="14" name="Picture 13" descr="annot_baseline_960_c40.jpg"/>
          <p:cNvPicPr>
            <a:picLocks noChangeAspect="1"/>
          </p:cNvPicPr>
          <p:nvPr/>
        </p:nvPicPr>
        <p:blipFill>
          <a:blip r:embed="rId2"/>
          <a:stretch>
            <a:fillRect/>
          </a:stretch>
        </p:blipFill>
        <p:spPr>
          <a:xfrm>
            <a:off x="8460943" y="1945259"/>
            <a:ext cx="3108960" cy="1761744"/>
          </a:xfrm>
          <a:prstGeom prst="rect">
            <a:avLst/>
          </a:prstGeom>
        </p:spPr>
      </p:pic>
      <p:sp>
        <p:nvSpPr>
          <p:cNvPr id="15" name="TextBox 14"/>
          <p:cNvSpPr txBox="1"/>
          <p:nvPr/>
        </p:nvSpPr>
        <p:spPr>
          <a:xfrm>
            <a:off x="8460943" y="3889883"/>
            <a:ext cx="3108960" cy="219456"/>
          </a:xfrm>
          <a:prstGeom prst="rect">
            <a:avLst/>
          </a:prstGeom>
          <a:noFill/>
        </p:spPr>
        <p:txBody>
          <a:bodyPr wrap="square" lIns="0" rIns="0" tIns="0" bIns="0" anchor="t">
            <a:spAutoFit/>
          </a:bodyPr>
          <a:lstStyle/>
          <a:p>
            <a:r>
              <a:rPr sz="900" b="1" i="0">
                <a:solidFill>
                  <a:srgbClr val="1F6F50"/>
                </a:solidFill>
                <a:latin typeface="Segoe UI Semibold"/>
              </a:rPr>
              <a:t>AFTER — 1536 px, conf 0.30 → 35 found</a:t>
            </a:r>
          </a:p>
        </p:txBody>
      </p:sp>
      <p:pic>
        <p:nvPicPr>
          <p:cNvPr id="16" name="Picture 15" descr="annot_candidate_1536_c30.jpg"/>
          <p:cNvPicPr>
            <a:picLocks noChangeAspect="1"/>
          </p:cNvPicPr>
          <p:nvPr/>
        </p:nvPicPr>
        <p:blipFill>
          <a:blip r:embed="rId3"/>
          <a:stretch>
            <a:fillRect/>
          </a:stretch>
        </p:blipFill>
        <p:spPr>
          <a:xfrm>
            <a:off x="8460943" y="4145915"/>
            <a:ext cx="3108960" cy="1761744"/>
          </a:xfrm>
          <a:prstGeom prst="rect">
            <a:avLst/>
          </a:prstGeom>
        </p:spPr>
      </p:pic>
      <p:sp>
        <p:nvSpPr>
          <p:cNvPr id="17" name="TextBox 16"/>
          <p:cNvSpPr txBox="1"/>
          <p:nvPr/>
        </p:nvSpPr>
        <p:spPr>
          <a:xfrm>
            <a:off x="8460943" y="5999099"/>
            <a:ext cx="3108960" cy="402336"/>
          </a:xfrm>
          <a:prstGeom prst="rect">
            <a:avLst/>
          </a:prstGeom>
          <a:noFill/>
        </p:spPr>
        <p:txBody>
          <a:bodyPr wrap="square" lIns="0" rIns="0" tIns="0" bIns="0" anchor="t">
            <a:spAutoFit/>
          </a:bodyPr>
          <a:lstStyle/>
          <a:p>
            <a:pPr>
              <a:lnSpc>
                <a:spcPct val="116000"/>
              </a:lnSpc>
            </a:pPr>
            <a:r>
              <a:rPr sz="800" b="0" i="0">
                <a:solidFill>
                  <a:srgbClr val="7B8C9E"/>
                </a:solidFill>
                <a:latin typeface="Segoe UI"/>
              </a:rPr>
              <a:t>Rendered at 1536 px to make the effect visible; the shipped default is 1280 px, which captures most of the gain at 1.5× the cost.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PROBLEMS FACED (1 / 2)</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Perception problems, root causes, and what we did</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These were found by running the pipeline on real footage — none of them were visible in synthetic tests.</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15</a:t>
            </a:r>
          </a:p>
        </p:txBody>
      </p:sp>
      <p:sp>
        <p:nvSpPr>
          <p:cNvPr id="9" name="Rounded Rectangle 8"/>
          <p:cNvSpPr/>
          <p:nvPr/>
        </p:nvSpPr>
        <p:spPr>
          <a:xfrm>
            <a:off x="621792" y="1689227"/>
            <a:ext cx="3712464" cy="30175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689227"/>
            <a:ext cx="3712464" cy="45720"/>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8" y="1872106"/>
            <a:ext cx="3273552" cy="219456"/>
          </a:xfrm>
          <a:prstGeom prst="rect">
            <a:avLst/>
          </a:prstGeom>
          <a:noFill/>
        </p:spPr>
        <p:txBody>
          <a:bodyPr wrap="square" lIns="0" rIns="0" tIns="0" bIns="0" anchor="t">
            <a:spAutoFit/>
          </a:bodyPr>
          <a:lstStyle/>
          <a:p>
            <a:r>
              <a:rPr sz="900" b="1" i="0">
                <a:solidFill>
                  <a:srgbClr val="A9332A"/>
                </a:solidFill>
                <a:latin typeface="Segoe UI Semibold"/>
              </a:rPr>
              <a:t>PROBLEM 1</a:t>
            </a:r>
          </a:p>
        </p:txBody>
      </p:sp>
      <p:sp>
        <p:nvSpPr>
          <p:cNvPr id="12" name="TextBox 11"/>
          <p:cNvSpPr txBox="1"/>
          <p:nvPr/>
        </p:nvSpPr>
        <p:spPr>
          <a:xfrm>
            <a:off x="841248" y="2128139"/>
            <a:ext cx="3273552" cy="475488"/>
          </a:xfrm>
          <a:prstGeom prst="rect">
            <a:avLst/>
          </a:prstGeom>
          <a:noFill/>
        </p:spPr>
        <p:txBody>
          <a:bodyPr wrap="square" lIns="0" rIns="0" tIns="0" bIns="0" anchor="t">
            <a:spAutoFit/>
          </a:bodyPr>
          <a:lstStyle/>
          <a:p>
            <a:pPr>
              <a:lnSpc>
                <a:spcPct val="108000"/>
              </a:lnSpc>
            </a:pPr>
            <a:r>
              <a:rPr sz="1300" b="1" i="0">
                <a:solidFill>
                  <a:srgbClr val="10273F"/>
                </a:solidFill>
                <a:latin typeface="Segoe UI Semibold"/>
              </a:rPr>
              <a:t>Camera angle — a hard ceiling, not a bug</a:t>
            </a:r>
          </a:p>
        </p:txBody>
      </p:sp>
      <p:sp>
        <p:nvSpPr>
          <p:cNvPr id="13" name="TextBox 12"/>
          <p:cNvSpPr txBox="1"/>
          <p:nvPr/>
        </p:nvSpPr>
        <p:spPr>
          <a:xfrm>
            <a:off x="841248" y="2640202"/>
            <a:ext cx="3273552" cy="1024128"/>
          </a:xfrm>
          <a:prstGeom prst="rect">
            <a:avLst/>
          </a:prstGeom>
          <a:noFill/>
        </p:spPr>
        <p:txBody>
          <a:bodyPr wrap="square" lIns="0" rIns="0" tIns="0" bIns="0" anchor="t">
            <a:spAutoFit/>
          </a:bodyPr>
          <a:lstStyle/>
          <a:p>
            <a:pPr>
              <a:lnSpc>
                <a:spcPct val="120000"/>
              </a:lnSpc>
            </a:pPr>
            <a:r>
              <a:rPr sz="1000" b="0" i="0">
                <a:solidFill>
                  <a:srgbClr val="3C5066"/>
                </a:solidFill>
                <a:latin typeface="Segoe UI"/>
              </a:rPr>
              <a:t>Real classroom cameras sit high in a rear corner. A student bowed over a desk shows the camera the crown of their head. We measured a ~45% ceiling on face availability: 130 of 236 detected students had no face that ANY face model could find.</a:t>
            </a:r>
          </a:p>
        </p:txBody>
      </p:sp>
      <p:sp>
        <p:nvSpPr>
          <p:cNvPr id="14" name="Rectangle 13"/>
          <p:cNvSpPr/>
          <p:nvPr/>
        </p:nvSpPr>
        <p:spPr>
          <a:xfrm>
            <a:off x="841248" y="3719195"/>
            <a:ext cx="3273552"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41248" y="3828922"/>
            <a:ext cx="3273552" cy="841248"/>
          </a:xfrm>
          <a:prstGeom prst="rect">
            <a:avLst/>
          </a:prstGeom>
          <a:noFill/>
        </p:spPr>
        <p:txBody>
          <a:bodyPr wrap="square" lIns="0" rIns="0" tIns="0" bIns="0" anchor="t">
            <a:spAutoFit/>
          </a:bodyPr>
          <a:lstStyle/>
          <a:p>
            <a:pPr>
              <a:lnSpc>
                <a:spcPct val="120000"/>
              </a:lnSpc>
            </a:pPr>
            <a:r>
              <a:rPr sz="1000" b="1" i="0">
                <a:solidFill>
                  <a:srgbClr val="1F6F50"/>
                </a:solidFill>
                <a:latin typeface="Segoe UI Semibold"/>
              </a:rPr>
              <a:t>Solution:  </a:t>
            </a:r>
            <a:r>
              <a:rPr sz="1000" b="0" i="0">
                <a:solidFill>
                  <a:srgbClr val="085961"/>
                </a:solidFill>
                <a:latin typeface="Segoe UI"/>
              </a:rPr>
              <a:t>Accepted it as a constraint instead of chasing it. Added a face-independent signal (body pose) so those students are still measurable — coverage went from 265/321 to 321/321.</a:t>
            </a:r>
          </a:p>
        </p:txBody>
      </p:sp>
      <p:sp>
        <p:nvSpPr>
          <p:cNvPr id="16" name="Rounded Rectangle 15"/>
          <p:cNvSpPr/>
          <p:nvPr/>
        </p:nvSpPr>
        <p:spPr>
          <a:xfrm>
            <a:off x="4590288" y="1689227"/>
            <a:ext cx="3712464" cy="30175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90288" y="1689227"/>
            <a:ext cx="3712464" cy="45720"/>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809744" y="1872106"/>
            <a:ext cx="3273552" cy="219456"/>
          </a:xfrm>
          <a:prstGeom prst="rect">
            <a:avLst/>
          </a:prstGeom>
          <a:noFill/>
        </p:spPr>
        <p:txBody>
          <a:bodyPr wrap="square" lIns="0" rIns="0" tIns="0" bIns="0" anchor="t">
            <a:spAutoFit/>
          </a:bodyPr>
          <a:lstStyle/>
          <a:p>
            <a:r>
              <a:rPr sz="900" b="1" i="0">
                <a:solidFill>
                  <a:srgbClr val="A9332A"/>
                </a:solidFill>
                <a:latin typeface="Segoe UI Semibold"/>
              </a:rPr>
              <a:t>PROBLEM 2</a:t>
            </a:r>
          </a:p>
        </p:txBody>
      </p:sp>
      <p:sp>
        <p:nvSpPr>
          <p:cNvPr id="19" name="TextBox 18"/>
          <p:cNvSpPr txBox="1"/>
          <p:nvPr/>
        </p:nvSpPr>
        <p:spPr>
          <a:xfrm>
            <a:off x="4809744" y="2128139"/>
            <a:ext cx="3273552" cy="475488"/>
          </a:xfrm>
          <a:prstGeom prst="rect">
            <a:avLst/>
          </a:prstGeom>
          <a:noFill/>
        </p:spPr>
        <p:txBody>
          <a:bodyPr wrap="square" lIns="0" rIns="0" tIns="0" bIns="0" anchor="t">
            <a:spAutoFit/>
          </a:bodyPr>
          <a:lstStyle/>
          <a:p>
            <a:pPr>
              <a:lnSpc>
                <a:spcPct val="108000"/>
              </a:lnSpc>
            </a:pPr>
            <a:r>
              <a:rPr sz="1300" b="1" i="0">
                <a:solidFill>
                  <a:srgbClr val="10273F"/>
                </a:solidFill>
                <a:latin typeface="Segoe UI Semibold"/>
              </a:rPr>
              <a:t>Face detection returned zero faces on real footage</a:t>
            </a:r>
          </a:p>
        </p:txBody>
      </p:sp>
      <p:sp>
        <p:nvSpPr>
          <p:cNvPr id="20" name="TextBox 19"/>
          <p:cNvSpPr txBox="1"/>
          <p:nvPr/>
        </p:nvSpPr>
        <p:spPr>
          <a:xfrm>
            <a:off x="4809744" y="2640202"/>
            <a:ext cx="3273552" cy="1024128"/>
          </a:xfrm>
          <a:prstGeom prst="rect">
            <a:avLst/>
          </a:prstGeom>
          <a:noFill/>
        </p:spPr>
        <p:txBody>
          <a:bodyPr wrap="square" lIns="0" rIns="0" tIns="0" bIns="0" anchor="t">
            <a:spAutoFit/>
          </a:bodyPr>
          <a:lstStyle/>
          <a:p>
            <a:pPr>
              <a:lnSpc>
                <a:spcPct val="120000"/>
              </a:lnSpc>
            </a:pPr>
            <a:r>
              <a:rPr sz="1000" b="0" i="0">
                <a:solidFill>
                  <a:srgbClr val="3C5066"/>
                </a:solidFill>
                <a:latin typeface="Segoe UI"/>
              </a:rPr>
              <a:t>Face Mesh was run once over the whole frame. MediaPipe downscales its input, so a face that is small relative to a 4K frame is destroyed before detection runs. Result: 0 faces on every real image, while synthetic tests passed.</a:t>
            </a:r>
          </a:p>
        </p:txBody>
      </p:sp>
      <p:sp>
        <p:nvSpPr>
          <p:cNvPr id="21" name="Rectangle 20"/>
          <p:cNvSpPr/>
          <p:nvPr/>
        </p:nvSpPr>
        <p:spPr>
          <a:xfrm>
            <a:off x="4809744" y="3719195"/>
            <a:ext cx="3273552"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809744" y="3828922"/>
            <a:ext cx="3273552" cy="841248"/>
          </a:xfrm>
          <a:prstGeom prst="rect">
            <a:avLst/>
          </a:prstGeom>
          <a:noFill/>
        </p:spPr>
        <p:txBody>
          <a:bodyPr wrap="square" lIns="0" rIns="0" tIns="0" bIns="0" anchor="t">
            <a:spAutoFit/>
          </a:bodyPr>
          <a:lstStyle/>
          <a:p>
            <a:pPr>
              <a:lnSpc>
                <a:spcPct val="120000"/>
              </a:lnSpc>
            </a:pPr>
            <a:r>
              <a:rPr sz="1000" b="1" i="0">
                <a:solidFill>
                  <a:srgbClr val="1F6F50"/>
                </a:solidFill>
                <a:latin typeface="Segoe UI Semibold"/>
              </a:rPr>
              <a:t>Solution:  </a:t>
            </a:r>
            <a:r>
              <a:rPr sz="1000" b="0" i="0">
                <a:solidFill>
                  <a:srgbClr val="085961"/>
                </a:solidFill>
                <a:latin typeface="Segoe UI"/>
              </a:rPr>
              <a:t>Run Face Mesh per detected person crop instead. 0/139 → 95/139 faces. We also measured that padding the crop makes it worse, and shipped zero padding against our own initial intuition.</a:t>
            </a:r>
          </a:p>
        </p:txBody>
      </p:sp>
      <p:sp>
        <p:nvSpPr>
          <p:cNvPr id="23" name="TextBox 22"/>
          <p:cNvSpPr txBox="1"/>
          <p:nvPr/>
        </p:nvSpPr>
        <p:spPr>
          <a:xfrm>
            <a:off x="8577072" y="1689227"/>
            <a:ext cx="2992831" cy="219456"/>
          </a:xfrm>
          <a:prstGeom prst="rect">
            <a:avLst/>
          </a:prstGeom>
          <a:noFill/>
        </p:spPr>
        <p:txBody>
          <a:bodyPr wrap="square" lIns="0" rIns="0" tIns="0" bIns="0" anchor="t">
            <a:spAutoFit/>
          </a:bodyPr>
          <a:lstStyle/>
          <a:p>
            <a:r>
              <a:rPr sz="850" b="1" i="0">
                <a:solidFill>
                  <a:srgbClr val="1F6F50"/>
                </a:solidFill>
                <a:latin typeface="Segoe UI Semibold"/>
              </a:rPr>
              <a:t>THE FALLBACK, WORKING</a:t>
            </a:r>
          </a:p>
        </p:txBody>
      </p:sp>
      <p:pic>
        <p:nvPicPr>
          <p:cNvPr id="24" name="Picture 23" descr="t1_pose.jpg"/>
          <p:cNvPicPr>
            <a:picLocks noChangeAspect="1"/>
          </p:cNvPicPr>
          <p:nvPr/>
        </p:nvPicPr>
        <p:blipFill>
          <a:blip r:embed="rId2"/>
          <a:stretch>
            <a:fillRect/>
          </a:stretch>
        </p:blipFill>
        <p:spPr>
          <a:xfrm>
            <a:off x="8577072" y="1945259"/>
            <a:ext cx="2992831" cy="1683467"/>
          </a:xfrm>
          <a:prstGeom prst="rect">
            <a:avLst/>
          </a:prstGeom>
        </p:spPr>
      </p:pic>
      <p:sp>
        <p:nvSpPr>
          <p:cNvPr id="25" name="TextBox 24"/>
          <p:cNvSpPr txBox="1"/>
          <p:nvPr/>
        </p:nvSpPr>
        <p:spPr>
          <a:xfrm>
            <a:off x="8577072" y="3720166"/>
            <a:ext cx="2992831" cy="822960"/>
          </a:xfrm>
          <a:prstGeom prst="rect">
            <a:avLst/>
          </a:prstGeom>
          <a:noFill/>
        </p:spPr>
        <p:txBody>
          <a:bodyPr wrap="square" lIns="0" rIns="0" tIns="0" bIns="0" anchor="t">
            <a:spAutoFit/>
          </a:bodyPr>
          <a:lstStyle/>
          <a:p>
            <a:pPr>
              <a:lnSpc>
                <a:spcPct val="118000"/>
              </a:lnSpc>
            </a:pPr>
            <a:r>
              <a:rPr sz="850" b="0" i="0">
                <a:solidFill>
                  <a:srgbClr val="7B8C9E"/>
                </a:solidFill>
                <a:latin typeface="Segoe UI"/>
              </a:rPr>
              <a:t>Body pose recovered for students with no detectable face. The single upright skeleton is the standing teacher — correctly distinguished from every seated student, which is a real check that the signal means something.</a:t>
            </a:r>
          </a:p>
        </p:txBody>
      </p:sp>
      <p:sp>
        <p:nvSpPr>
          <p:cNvPr id="26" name="Rounded Rectangle 25"/>
          <p:cNvSpPr/>
          <p:nvPr/>
        </p:nvSpPr>
        <p:spPr>
          <a:xfrm>
            <a:off x="621792" y="4926203"/>
            <a:ext cx="5346039" cy="129844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2960" y="5072507"/>
            <a:ext cx="4943703" cy="201168"/>
          </a:xfrm>
          <a:prstGeom prst="rect">
            <a:avLst/>
          </a:prstGeom>
          <a:noFill/>
        </p:spPr>
        <p:txBody>
          <a:bodyPr wrap="square" lIns="0" rIns="0" tIns="0" bIns="0" anchor="t">
            <a:spAutoFit/>
          </a:bodyPr>
          <a:lstStyle/>
          <a:p>
            <a:r>
              <a:rPr sz="850" b="1" i="0">
                <a:solidFill>
                  <a:srgbClr val="B47A14"/>
                </a:solidFill>
                <a:latin typeface="Segoe UI Semibold"/>
              </a:rPr>
              <a:t>PROBLEM 3</a:t>
            </a:r>
          </a:p>
        </p:txBody>
      </p:sp>
      <p:sp>
        <p:nvSpPr>
          <p:cNvPr id="28" name="TextBox 27"/>
          <p:cNvSpPr txBox="1"/>
          <p:nvPr/>
        </p:nvSpPr>
        <p:spPr>
          <a:xfrm>
            <a:off x="822960" y="5291963"/>
            <a:ext cx="4943703" cy="274320"/>
          </a:xfrm>
          <a:prstGeom prst="rect">
            <a:avLst/>
          </a:prstGeom>
          <a:noFill/>
        </p:spPr>
        <p:txBody>
          <a:bodyPr wrap="square" lIns="0" rIns="0" tIns="0" bIns="0" anchor="t">
            <a:spAutoFit/>
          </a:bodyPr>
          <a:lstStyle/>
          <a:p>
            <a:pPr>
              <a:lnSpc>
                <a:spcPct val="110000"/>
              </a:lnSpc>
            </a:pPr>
            <a:r>
              <a:rPr sz="1050" b="1" i="0">
                <a:solidFill>
                  <a:srgbClr val="10273F"/>
                </a:solidFill>
                <a:latin typeface="Segoe UI Semibold"/>
              </a:rPr>
              <a:t>Back-row students missed entirely</a:t>
            </a:r>
          </a:p>
        </p:txBody>
      </p:sp>
      <p:sp>
        <p:nvSpPr>
          <p:cNvPr id="29" name="TextBox 28"/>
          <p:cNvSpPr txBox="1"/>
          <p:nvPr/>
        </p:nvSpPr>
        <p:spPr>
          <a:xfrm>
            <a:off x="822960" y="5602859"/>
            <a:ext cx="4943703" cy="310896"/>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Inference resolution 960 px shrank a 60 px student to ~30 px.</a:t>
            </a:r>
          </a:p>
        </p:txBody>
      </p:sp>
      <p:sp>
        <p:nvSpPr>
          <p:cNvPr id="30" name="TextBox 29"/>
          <p:cNvSpPr txBox="1"/>
          <p:nvPr/>
        </p:nvSpPr>
        <p:spPr>
          <a:xfrm>
            <a:off x="822960" y="5932043"/>
            <a:ext cx="4943703" cy="237744"/>
          </a:xfrm>
          <a:prstGeom prst="rect">
            <a:avLst/>
          </a:prstGeom>
          <a:noFill/>
        </p:spPr>
        <p:txBody>
          <a:bodyPr wrap="square" lIns="0" rIns="0" tIns="0" bIns="0" anchor="t">
            <a:spAutoFit/>
          </a:bodyPr>
          <a:lstStyle/>
          <a:p>
            <a:pPr>
              <a:lnSpc>
                <a:spcPct val="116000"/>
              </a:lnSpc>
            </a:pPr>
            <a:r>
              <a:rPr sz="900" b="1" i="0">
                <a:solidFill>
                  <a:srgbClr val="1F6F50"/>
                </a:solidFill>
                <a:latin typeface="Segoe UI"/>
              </a:rPr>
              <a:t>→ </a:t>
            </a:r>
            <a:r>
              <a:rPr sz="900" b="0" i="0">
                <a:solidFill>
                  <a:srgbClr val="085961"/>
                </a:solidFill>
                <a:latin typeface="Segoe UI"/>
              </a:rPr>
              <a:t>imgsz 1280 + conf 0.30 → 139 to 236 persons.</a:t>
            </a:r>
          </a:p>
        </p:txBody>
      </p:sp>
      <p:sp>
        <p:nvSpPr>
          <p:cNvPr id="31" name="Rounded Rectangle 30"/>
          <p:cNvSpPr/>
          <p:nvPr/>
        </p:nvSpPr>
        <p:spPr>
          <a:xfrm>
            <a:off x="6223863" y="4926203"/>
            <a:ext cx="5346039" cy="129844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25031" y="5072507"/>
            <a:ext cx="4943703" cy="201168"/>
          </a:xfrm>
          <a:prstGeom prst="rect">
            <a:avLst/>
          </a:prstGeom>
          <a:noFill/>
        </p:spPr>
        <p:txBody>
          <a:bodyPr wrap="square" lIns="0" rIns="0" tIns="0" bIns="0" anchor="t">
            <a:spAutoFit/>
          </a:bodyPr>
          <a:lstStyle/>
          <a:p>
            <a:r>
              <a:rPr sz="850" b="1" i="0">
                <a:solidFill>
                  <a:srgbClr val="B47A14"/>
                </a:solidFill>
                <a:latin typeface="Segoe UI Semibold"/>
              </a:rPr>
              <a:t>PROBLEM 4</a:t>
            </a:r>
          </a:p>
        </p:txBody>
      </p:sp>
      <p:sp>
        <p:nvSpPr>
          <p:cNvPr id="33" name="TextBox 32"/>
          <p:cNvSpPr txBox="1"/>
          <p:nvPr/>
        </p:nvSpPr>
        <p:spPr>
          <a:xfrm>
            <a:off x="6425031" y="5291963"/>
            <a:ext cx="4943703" cy="274320"/>
          </a:xfrm>
          <a:prstGeom prst="rect">
            <a:avLst/>
          </a:prstGeom>
          <a:noFill/>
        </p:spPr>
        <p:txBody>
          <a:bodyPr wrap="square" lIns="0" rIns="0" tIns="0" bIns="0" anchor="t">
            <a:spAutoFit/>
          </a:bodyPr>
          <a:lstStyle/>
          <a:p>
            <a:pPr>
              <a:lnSpc>
                <a:spcPct val="110000"/>
              </a:lnSpc>
            </a:pPr>
            <a:r>
              <a:rPr sz="1050" b="1" i="0">
                <a:solidFill>
                  <a:srgbClr val="10273F"/>
                </a:solidFill>
                <a:latin typeface="Segoe UI Semibold"/>
              </a:rPr>
              <a:t>Low-resolution input collapses face detection</a:t>
            </a:r>
          </a:p>
        </p:txBody>
      </p:sp>
      <p:sp>
        <p:nvSpPr>
          <p:cNvPr id="34" name="TextBox 33"/>
          <p:cNvSpPr txBox="1"/>
          <p:nvPr/>
        </p:nvSpPr>
        <p:spPr>
          <a:xfrm>
            <a:off x="6425031" y="5602859"/>
            <a:ext cx="4943703" cy="310896"/>
          </a:xfrm>
          <a:prstGeom prst="rect">
            <a:avLst/>
          </a:prstGeom>
          <a:noFill/>
        </p:spPr>
        <p:txBody>
          <a:bodyPr wrap="square" lIns="0" rIns="0" tIns="0" bIns="0" anchor="t">
            <a:spAutoFit/>
          </a:bodyPr>
          <a:lstStyle/>
          <a:p>
            <a:pPr>
              <a:lnSpc>
                <a:spcPct val="116000"/>
              </a:lnSpc>
            </a:pPr>
            <a:r>
              <a:rPr sz="900" b="0" i="0">
                <a:solidFill>
                  <a:srgbClr val="3C5066"/>
                </a:solidFill>
                <a:latin typeface="Segoe UI"/>
              </a:rPr>
              <a:t>Measured 7% face rate below 480 px vs 44% at 720–1080 px.</a:t>
            </a:r>
          </a:p>
        </p:txBody>
      </p:sp>
      <p:sp>
        <p:nvSpPr>
          <p:cNvPr id="35" name="TextBox 34"/>
          <p:cNvSpPr txBox="1"/>
          <p:nvPr/>
        </p:nvSpPr>
        <p:spPr>
          <a:xfrm>
            <a:off x="6425031" y="5932043"/>
            <a:ext cx="4943703" cy="237744"/>
          </a:xfrm>
          <a:prstGeom prst="rect">
            <a:avLst/>
          </a:prstGeom>
          <a:noFill/>
        </p:spPr>
        <p:txBody>
          <a:bodyPr wrap="square" lIns="0" rIns="0" tIns="0" bIns="0" anchor="t">
            <a:spAutoFit/>
          </a:bodyPr>
          <a:lstStyle/>
          <a:p>
            <a:pPr>
              <a:lnSpc>
                <a:spcPct val="116000"/>
              </a:lnSpc>
            </a:pPr>
            <a:r>
              <a:rPr sz="900" b="1" i="0">
                <a:solidFill>
                  <a:srgbClr val="1F6F50"/>
                </a:solidFill>
                <a:latin typeface="Segoe UI"/>
              </a:rPr>
              <a:t>→ </a:t>
            </a:r>
            <a:r>
              <a:rPr sz="900" b="0" i="0">
                <a:solidFill>
                  <a:srgbClr val="085961"/>
                </a:solidFill>
                <a:latin typeface="Segoe UI"/>
              </a:rPr>
              <a:t>Set a minimum capture resolution as a deployment requirement.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PROBLEMS FACED (2 / 2)</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Interpretation problems — and where we say “we cannot tell”</a:t>
            </a:r>
          </a:p>
        </p:txBody>
      </p:sp>
      <p:sp>
        <p:nvSpPr>
          <p:cNvPr id="5" name="Rectangle 4"/>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7" name="TextBox 6"/>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16</a:t>
            </a:r>
          </a:p>
        </p:txBody>
      </p:sp>
      <p:sp>
        <p:nvSpPr>
          <p:cNvPr id="8" name="Rounded Rectangle 7"/>
          <p:cNvSpPr/>
          <p:nvPr/>
        </p:nvSpPr>
        <p:spPr>
          <a:xfrm>
            <a:off x="621792" y="1373886"/>
            <a:ext cx="5532120" cy="21031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373886"/>
            <a:ext cx="5532120" cy="45720"/>
          </a:xfrm>
          <a:prstGeom prst="rect">
            <a:avLst/>
          </a:prstGeom>
          <a:solidFill>
            <a:srgbClr val="A933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41248" y="1575054"/>
            <a:ext cx="5120640" cy="219456"/>
          </a:xfrm>
          <a:prstGeom prst="rect">
            <a:avLst/>
          </a:prstGeom>
          <a:noFill/>
        </p:spPr>
        <p:txBody>
          <a:bodyPr wrap="square" lIns="0" rIns="0" tIns="0" bIns="0" anchor="t">
            <a:spAutoFit/>
          </a:bodyPr>
          <a:lstStyle/>
          <a:p>
            <a:r>
              <a:rPr sz="900" b="1" i="0">
                <a:solidFill>
                  <a:srgbClr val="A9332A"/>
                </a:solidFill>
                <a:latin typeface="Segoe UI Semibold"/>
              </a:rPr>
              <a:t>PROBLEM 5</a:t>
            </a:r>
          </a:p>
        </p:txBody>
      </p:sp>
      <p:sp>
        <p:nvSpPr>
          <p:cNvPr id="11" name="TextBox 10"/>
          <p:cNvSpPr txBox="1"/>
          <p:nvPr/>
        </p:nvSpPr>
        <p:spPr>
          <a:xfrm>
            <a:off x="841248" y="1831086"/>
            <a:ext cx="5120640" cy="274320"/>
          </a:xfrm>
          <a:prstGeom prst="rect">
            <a:avLst/>
          </a:prstGeom>
          <a:noFill/>
        </p:spPr>
        <p:txBody>
          <a:bodyPr wrap="square" lIns="0" rIns="0" tIns="0" bIns="0" anchor="t">
            <a:spAutoFit/>
          </a:bodyPr>
          <a:lstStyle/>
          <a:p>
            <a:r>
              <a:rPr sz="1300" b="1" i="0">
                <a:solidFill>
                  <a:srgbClr val="10273F"/>
                </a:solidFill>
                <a:latin typeface="Segoe UI Semibold"/>
              </a:rPr>
              <a:t>Gaze direction was silently inverted</a:t>
            </a:r>
          </a:p>
        </p:txBody>
      </p:sp>
      <p:sp>
        <p:nvSpPr>
          <p:cNvPr id="12" name="TextBox 11"/>
          <p:cNvSpPr txBox="1"/>
          <p:nvPr/>
        </p:nvSpPr>
        <p:spPr>
          <a:xfrm>
            <a:off x="841248" y="2196846"/>
            <a:ext cx="5120640" cy="731520"/>
          </a:xfrm>
          <a:prstGeom prst="rect">
            <a:avLst/>
          </a:prstGeom>
          <a:noFill/>
        </p:spPr>
        <p:txBody>
          <a:bodyPr wrap="square" lIns="0" rIns="0" tIns="0" bIns="0" anchor="t">
            <a:spAutoFit/>
          </a:bodyPr>
          <a:lstStyle/>
          <a:p>
            <a:pPr>
              <a:lnSpc>
                <a:spcPct val="120000"/>
              </a:lnSpc>
            </a:pPr>
            <a:r>
              <a:rPr sz="1000" b="0" i="0">
                <a:solidFill>
                  <a:srgbClr val="3C5066"/>
                </a:solidFill>
                <a:latin typeface="Segoe UI"/>
              </a:rPr>
              <a:t>The head-pose model reports pitch as up-positive; our contract assumed down-positive. Students bowed over desks were being labelled “looking back/up”, and “down” could never fire at all. Confirmed by reading the library's own source, not guessed.</a:t>
            </a:r>
          </a:p>
        </p:txBody>
      </p:sp>
      <p:sp>
        <p:nvSpPr>
          <p:cNvPr id="13" name="TextBox 12"/>
          <p:cNvSpPr txBox="1"/>
          <p:nvPr/>
        </p:nvSpPr>
        <p:spPr>
          <a:xfrm>
            <a:off x="841248" y="2983230"/>
            <a:ext cx="5120640" cy="402336"/>
          </a:xfrm>
          <a:prstGeom prst="rect">
            <a:avLst/>
          </a:prstGeom>
          <a:noFill/>
        </p:spPr>
        <p:txBody>
          <a:bodyPr wrap="square" lIns="0" rIns="0" tIns="0" bIns="0" anchor="t">
            <a:spAutoFit/>
          </a:bodyPr>
          <a:lstStyle/>
          <a:p>
            <a:pPr>
              <a:lnSpc>
                <a:spcPct val="120000"/>
              </a:lnSpc>
            </a:pPr>
            <a:r>
              <a:rPr sz="1000" b="1" i="0">
                <a:solidFill>
                  <a:srgbClr val="1F6F50"/>
                </a:solidFill>
                <a:latin typeface="Segoe UI Semibold"/>
              </a:rPr>
              <a:t>Solution:  </a:t>
            </a:r>
            <a:r>
              <a:rPr sz="1000" b="0" i="0">
                <a:solidFill>
                  <a:srgbClr val="085961"/>
                </a:solidFill>
                <a:latin typeface="Segoe UI"/>
              </a:rPr>
              <a:t>negate at the source + a regression test pinning the convention. “down” labels went 0 → 6 on the same images; “back” 2 → 0.</a:t>
            </a:r>
          </a:p>
        </p:txBody>
      </p:sp>
      <p:sp>
        <p:nvSpPr>
          <p:cNvPr id="14" name="Rounded Rectangle 13"/>
          <p:cNvSpPr/>
          <p:nvPr/>
        </p:nvSpPr>
        <p:spPr>
          <a:xfrm>
            <a:off x="6409944" y="1373886"/>
            <a:ext cx="5159959" cy="21031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409944" y="1373886"/>
            <a:ext cx="5159959" cy="4572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29400" y="1575054"/>
            <a:ext cx="4721047" cy="219456"/>
          </a:xfrm>
          <a:prstGeom prst="rect">
            <a:avLst/>
          </a:prstGeom>
          <a:noFill/>
        </p:spPr>
        <p:txBody>
          <a:bodyPr wrap="square" lIns="0" rIns="0" tIns="0" bIns="0" anchor="t">
            <a:spAutoFit/>
          </a:bodyPr>
          <a:lstStyle/>
          <a:p>
            <a:r>
              <a:rPr sz="900" b="1" i="0">
                <a:solidFill>
                  <a:srgbClr val="B47A14"/>
                </a:solidFill>
                <a:latin typeface="Segoe UI Semibold"/>
              </a:rPr>
              <a:t>PROBLEM 6 — THE TWO DISTRACTION CASES</a:t>
            </a:r>
          </a:p>
        </p:txBody>
      </p:sp>
      <p:sp>
        <p:nvSpPr>
          <p:cNvPr id="17" name="TextBox 16"/>
          <p:cNvSpPr txBox="1"/>
          <p:nvPr/>
        </p:nvSpPr>
        <p:spPr>
          <a:xfrm>
            <a:off x="6629400" y="1831086"/>
            <a:ext cx="4721047" cy="274320"/>
          </a:xfrm>
          <a:prstGeom prst="rect">
            <a:avLst/>
          </a:prstGeom>
          <a:noFill/>
        </p:spPr>
        <p:txBody>
          <a:bodyPr wrap="square" lIns="0" rIns="0" tIns="0" bIns="0" anchor="t">
            <a:spAutoFit/>
          </a:bodyPr>
          <a:lstStyle/>
          <a:p>
            <a:r>
              <a:rPr sz="1300" b="1" i="0">
                <a:solidFill>
                  <a:srgbClr val="10273F"/>
                </a:solidFill>
                <a:latin typeface="Segoe UI Semibold"/>
              </a:rPr>
              <a:t>“Head down” means two different things</a:t>
            </a:r>
          </a:p>
        </p:txBody>
      </p:sp>
      <p:sp>
        <p:nvSpPr>
          <p:cNvPr id="18" name="Rounded Rectangle 17"/>
          <p:cNvSpPr/>
          <p:nvPr/>
        </p:nvSpPr>
        <p:spPr>
          <a:xfrm>
            <a:off x="6629400" y="2178558"/>
            <a:ext cx="2296515" cy="118872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757416" y="2288286"/>
            <a:ext cx="2040483" cy="329184"/>
          </a:xfrm>
          <a:prstGeom prst="rect">
            <a:avLst/>
          </a:prstGeom>
          <a:noFill/>
        </p:spPr>
        <p:txBody>
          <a:bodyPr wrap="square" lIns="0" rIns="0" tIns="0" bIns="0" anchor="t">
            <a:spAutoFit/>
          </a:bodyPr>
          <a:lstStyle/>
          <a:p>
            <a:pPr>
              <a:lnSpc>
                <a:spcPct val="110000"/>
              </a:lnSpc>
            </a:pPr>
            <a:r>
              <a:rPr sz="850" b="1" i="0">
                <a:solidFill>
                  <a:srgbClr val="1F6F50"/>
                </a:solidFill>
                <a:latin typeface="Consolas"/>
              </a:rPr>
              <a:t>head_down_WITH_device</a:t>
            </a:r>
          </a:p>
        </p:txBody>
      </p:sp>
      <p:sp>
        <p:nvSpPr>
          <p:cNvPr id="20" name="TextBox 19"/>
          <p:cNvSpPr txBox="1"/>
          <p:nvPr/>
        </p:nvSpPr>
        <p:spPr>
          <a:xfrm>
            <a:off x="6757416" y="2654046"/>
            <a:ext cx="2040483" cy="658368"/>
          </a:xfrm>
          <a:prstGeom prst="rect">
            <a:avLst/>
          </a:prstGeom>
          <a:noFill/>
        </p:spPr>
        <p:txBody>
          <a:bodyPr wrap="square" lIns="0" rIns="0" tIns="0" bIns="0" anchor="t">
            <a:spAutoFit/>
          </a:bodyPr>
          <a:lstStyle/>
          <a:p>
            <a:pPr>
              <a:lnSpc>
                <a:spcPct val="118000"/>
              </a:lnSpc>
            </a:pPr>
            <a:r>
              <a:rPr sz="900" b="0" i="0">
                <a:solidFill>
                  <a:srgbClr val="3C5066"/>
                </a:solidFill>
                <a:latin typeface="Segoe UI"/>
              </a:rPr>
              <a:t>Gaze down + a phone detected overlapping the student. Defensible behavioural reading → we do flag this.</a:t>
            </a:r>
          </a:p>
        </p:txBody>
      </p:sp>
      <p:sp>
        <p:nvSpPr>
          <p:cNvPr id="21" name="Rounded Rectangle 20"/>
          <p:cNvSpPr/>
          <p:nvPr/>
        </p:nvSpPr>
        <p:spPr>
          <a:xfrm>
            <a:off x="9053931" y="2178558"/>
            <a:ext cx="2296515" cy="1188720"/>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181947" y="2288286"/>
            <a:ext cx="2040483" cy="329184"/>
          </a:xfrm>
          <a:prstGeom prst="rect">
            <a:avLst/>
          </a:prstGeom>
          <a:noFill/>
        </p:spPr>
        <p:txBody>
          <a:bodyPr wrap="square" lIns="0" rIns="0" tIns="0" bIns="0" anchor="t">
            <a:spAutoFit/>
          </a:bodyPr>
          <a:lstStyle/>
          <a:p>
            <a:pPr>
              <a:lnSpc>
                <a:spcPct val="110000"/>
              </a:lnSpc>
            </a:pPr>
            <a:r>
              <a:rPr sz="850" b="1" i="0">
                <a:solidFill>
                  <a:srgbClr val="B47A14"/>
                </a:solidFill>
                <a:latin typeface="Consolas"/>
              </a:rPr>
              <a:t>head_down_NO_device</a:t>
            </a:r>
          </a:p>
        </p:txBody>
      </p:sp>
      <p:sp>
        <p:nvSpPr>
          <p:cNvPr id="23" name="TextBox 22"/>
          <p:cNvSpPr txBox="1"/>
          <p:nvPr/>
        </p:nvSpPr>
        <p:spPr>
          <a:xfrm>
            <a:off x="9181947" y="2654046"/>
            <a:ext cx="2040483" cy="658368"/>
          </a:xfrm>
          <a:prstGeom prst="rect">
            <a:avLst/>
          </a:prstGeom>
          <a:noFill/>
        </p:spPr>
        <p:txBody>
          <a:bodyPr wrap="square" lIns="0" rIns="0" tIns="0" bIns="0" anchor="t">
            <a:spAutoFit/>
          </a:bodyPr>
          <a:lstStyle/>
          <a:p>
            <a:pPr>
              <a:lnSpc>
                <a:spcPct val="118000"/>
              </a:lnSpc>
            </a:pPr>
            <a:r>
              <a:rPr sz="900" b="0" i="0">
                <a:solidFill>
                  <a:srgbClr val="3C5066"/>
                </a:solidFill>
                <a:latin typeface="Segoe UI"/>
              </a:rPr>
              <a:t>Gaze down, nothing detected. Could be reading, writing, thinking — or disengaged. We refuse to guess.</a:t>
            </a:r>
          </a:p>
        </p:txBody>
      </p:sp>
      <p:sp>
        <p:nvSpPr>
          <p:cNvPr id="24" name="Rounded Rectangle 23"/>
          <p:cNvSpPr/>
          <p:nvPr/>
        </p:nvSpPr>
        <p:spPr>
          <a:xfrm>
            <a:off x="621792" y="3714750"/>
            <a:ext cx="5532120" cy="1481328"/>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59536" y="3897630"/>
            <a:ext cx="5074920" cy="256032"/>
          </a:xfrm>
          <a:prstGeom prst="rect">
            <a:avLst/>
          </a:prstGeom>
          <a:noFill/>
        </p:spPr>
        <p:txBody>
          <a:bodyPr wrap="square" lIns="0" rIns="0" tIns="0" bIns="0" anchor="t">
            <a:spAutoFit/>
          </a:bodyPr>
          <a:lstStyle/>
          <a:p>
            <a:r>
              <a:rPr sz="950" b="1" i="0">
                <a:solidFill>
                  <a:srgbClr val="6FC5CE"/>
                </a:solidFill>
                <a:latin typeface="Segoe UI Semibold"/>
              </a:rPr>
              <a:t>THE PRINCIPLE WE ADOPTED</a:t>
            </a:r>
          </a:p>
        </p:txBody>
      </p:sp>
      <p:sp>
        <p:nvSpPr>
          <p:cNvPr id="26" name="TextBox 25"/>
          <p:cNvSpPr txBox="1"/>
          <p:nvPr/>
        </p:nvSpPr>
        <p:spPr>
          <a:xfrm>
            <a:off x="859536" y="4208526"/>
            <a:ext cx="5074920" cy="859536"/>
          </a:xfrm>
          <a:prstGeom prst="rect">
            <a:avLst/>
          </a:prstGeom>
          <a:noFill/>
        </p:spPr>
        <p:txBody>
          <a:bodyPr wrap="square" lIns="0" rIns="0" tIns="0" bIns="0" anchor="t">
            <a:spAutoFit/>
          </a:bodyPr>
          <a:lstStyle/>
          <a:p>
            <a:pPr>
              <a:lnSpc>
                <a:spcPct val="124000"/>
              </a:lnSpc>
            </a:pPr>
            <a:r>
              <a:rPr sz="1050" b="0" i="0">
                <a:solidFill>
                  <a:srgbClr val="FFFFFF"/>
                </a:solidFill>
                <a:latin typeface="Segoe UI"/>
              </a:rPr>
              <a:t>Keep ambiguous cases ambiguous. BOSS — a validated human observation instrument — has the same unresolved confusion between “quiet, head down, working” and “quiet, head down, disengaged”. Forcing a confident split would be less honest than the established instrument itself.</a:t>
            </a:r>
          </a:p>
        </p:txBody>
      </p:sp>
      <p:sp>
        <p:nvSpPr>
          <p:cNvPr id="27" name="Rounded Rectangle 26"/>
          <p:cNvSpPr/>
          <p:nvPr/>
        </p:nvSpPr>
        <p:spPr>
          <a:xfrm>
            <a:off x="6409944" y="3714750"/>
            <a:ext cx="5159959" cy="148132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409944" y="3806189"/>
            <a:ext cx="50292" cy="1298448"/>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47688" y="3861054"/>
            <a:ext cx="4739335" cy="1207008"/>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PROBLEM 7 — Peer interaction: a false positive we found and kept</a:t>
            </a:r>
          </a:p>
          <a:p>
            <a:pPr>
              <a:lnSpc>
                <a:spcPct val="118000"/>
              </a:lnSpc>
              <a:spcAft>
                <a:spcPts val="300"/>
              </a:spcAft>
            </a:pPr>
            <a:r>
              <a:rPr sz="950" b="0" i="0">
                <a:solidFill>
                  <a:srgbClr val="3C5066"/>
                </a:solidFill>
                <a:latin typeface="Segoe UI"/>
              </a:rPr>
              <a:t>Our geometric pair detector flagged its highest-confidence pair on real footage. We rendered it and looked: two students at different, non-adjacent desks, both bent over their own work, not interacting.</a:t>
            </a:r>
          </a:p>
          <a:p>
            <a:pPr>
              <a:lnSpc>
                <a:spcPct val="118000"/>
              </a:lnSpc>
              <a:spcAft>
                <a:spcPts val="300"/>
              </a:spcAft>
            </a:pPr>
            <a:r>
              <a:rPr sz="950" b="0" i="0">
                <a:solidFill>
                  <a:srgbClr val="3C5066"/>
                </a:solidFill>
                <a:latin typeface="Segoe UI"/>
              </a:rPr>
              <a:t>We documented the false positive in the code and measured that the proximity threshold is looser than real desk spacing — rather than quietly tuning it until the demo looked good.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CRITERION 5 — PLAN</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Timeline and team split</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Difficulty: moderate. Feasible on our own GPU using pretrained models — no training from scratch is required for the core pipeline.</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17</a:t>
            </a:r>
          </a:p>
        </p:txBody>
      </p:sp>
      <p:sp>
        <p:nvSpPr>
          <p:cNvPr id="9" name="Rounded Rectangle 8"/>
          <p:cNvSpPr/>
          <p:nvPr/>
        </p:nvSpPr>
        <p:spPr>
          <a:xfrm>
            <a:off x="621792" y="1689227"/>
            <a:ext cx="1999427" cy="1517904"/>
          </a:xfrm>
          <a:prstGeom prst="roundRect">
            <a:avLst>
              <a:gd name="adj" fmla="val 4500"/>
            </a:avLst>
          </a:prstGeom>
          <a:solidFill>
            <a:srgbClr val="FFFFFF"/>
          </a:solidFill>
          <a:ln w="17780">
            <a:solidFill>
              <a:srgbClr val="1F6F5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853818"/>
            <a:ext cx="640080" cy="237744"/>
          </a:xfrm>
          <a:prstGeom prst="rect">
            <a:avLst/>
          </a:prstGeom>
          <a:noFill/>
        </p:spPr>
        <p:txBody>
          <a:bodyPr wrap="square" lIns="0" rIns="0" tIns="0" bIns="0" anchor="t">
            <a:spAutoFit/>
          </a:bodyPr>
          <a:lstStyle/>
          <a:p>
            <a:r>
              <a:rPr sz="1150" b="1" i="0">
                <a:solidFill>
                  <a:srgbClr val="1F6F50"/>
                </a:solidFill>
                <a:latin typeface="Segoe UI Semibold"/>
              </a:rPr>
              <a:t>M1</a:t>
            </a:r>
          </a:p>
        </p:txBody>
      </p:sp>
      <p:sp>
        <p:nvSpPr>
          <p:cNvPr id="11" name="Rounded Rectangle 10"/>
          <p:cNvSpPr/>
          <p:nvPr/>
        </p:nvSpPr>
        <p:spPr>
          <a:xfrm>
            <a:off x="1907987" y="1853818"/>
            <a:ext cx="548640" cy="219456"/>
          </a:xfrm>
          <a:prstGeom prst="roundRect">
            <a:avLst>
              <a:gd name="adj" fmla="val 50000"/>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907987" y="1885823"/>
            <a:ext cx="548640" cy="173736"/>
          </a:xfrm>
          <a:prstGeom prst="rect">
            <a:avLst/>
          </a:prstGeom>
          <a:noFill/>
        </p:spPr>
        <p:txBody>
          <a:bodyPr wrap="square" lIns="0" rIns="0" tIns="0" bIns="0" anchor="ctr">
            <a:spAutoFit/>
          </a:bodyPr>
          <a:lstStyle/>
          <a:p>
            <a:pPr algn="ctr"/>
            <a:r>
              <a:rPr sz="750" b="1" i="0">
                <a:solidFill>
                  <a:srgbClr val="FFFFFF"/>
                </a:solidFill>
                <a:latin typeface="Segoe UI Semibold"/>
              </a:rPr>
              <a:t>DONE</a:t>
            </a:r>
          </a:p>
        </p:txBody>
      </p:sp>
      <p:sp>
        <p:nvSpPr>
          <p:cNvPr id="13" name="TextBox 12"/>
          <p:cNvSpPr txBox="1"/>
          <p:nvPr/>
        </p:nvSpPr>
        <p:spPr>
          <a:xfrm>
            <a:off x="786384" y="2183002"/>
            <a:ext cx="1670243" cy="274320"/>
          </a:xfrm>
          <a:prstGeom prst="rect">
            <a:avLst/>
          </a:prstGeom>
          <a:noFill/>
        </p:spPr>
        <p:txBody>
          <a:bodyPr wrap="square" lIns="0" rIns="0" tIns="0" bIns="0" anchor="t">
            <a:spAutoFit/>
          </a:bodyPr>
          <a:lstStyle/>
          <a:p>
            <a:pPr>
              <a:lnSpc>
                <a:spcPct val="108000"/>
              </a:lnSpc>
            </a:pPr>
            <a:r>
              <a:rPr sz="1150" b="1" i="0">
                <a:solidFill>
                  <a:srgbClr val="10273F"/>
                </a:solidFill>
                <a:latin typeface="Segoe UI Semibold"/>
              </a:rPr>
              <a:t>Perception stack</a:t>
            </a:r>
          </a:p>
        </p:txBody>
      </p:sp>
      <p:sp>
        <p:nvSpPr>
          <p:cNvPr id="14" name="TextBox 13"/>
          <p:cNvSpPr txBox="1"/>
          <p:nvPr/>
        </p:nvSpPr>
        <p:spPr>
          <a:xfrm>
            <a:off x="786384" y="2530475"/>
            <a:ext cx="1670243" cy="585216"/>
          </a:xfrm>
          <a:prstGeom prst="rect">
            <a:avLst/>
          </a:prstGeom>
          <a:noFill/>
        </p:spPr>
        <p:txBody>
          <a:bodyPr wrap="square" lIns="0" rIns="0" tIns="0" bIns="0" anchor="t">
            <a:spAutoFit/>
          </a:bodyPr>
          <a:lstStyle/>
          <a:p>
            <a:pPr>
              <a:lnSpc>
                <a:spcPct val="120000"/>
              </a:lnSpc>
            </a:pPr>
            <a:r>
              <a:rPr sz="850" b="0" i="0">
                <a:solidFill>
                  <a:srgbClr val="3C5066"/>
                </a:solidFill>
                <a:latin typeface="Segoe UI"/>
              </a:rPr>
              <a:t>YOLOv11 · Face Mesh · head pose · body pose</a:t>
            </a:r>
          </a:p>
        </p:txBody>
      </p:sp>
      <p:sp>
        <p:nvSpPr>
          <p:cNvPr id="15" name="Rectangle 14"/>
          <p:cNvSpPr/>
          <p:nvPr/>
        </p:nvSpPr>
        <p:spPr>
          <a:xfrm>
            <a:off x="713232" y="3335147"/>
            <a:ext cx="1816547" cy="50292"/>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2858963" y="1689227"/>
            <a:ext cx="1999427" cy="1517904"/>
          </a:xfrm>
          <a:prstGeom prst="roundRect">
            <a:avLst>
              <a:gd name="adj" fmla="val 4500"/>
            </a:avLst>
          </a:prstGeom>
          <a:solidFill>
            <a:srgbClr val="FFFFFF"/>
          </a:solidFill>
          <a:ln w="17780">
            <a:solidFill>
              <a:srgbClr val="1F6F5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023555" y="1853818"/>
            <a:ext cx="640080" cy="237744"/>
          </a:xfrm>
          <a:prstGeom prst="rect">
            <a:avLst/>
          </a:prstGeom>
          <a:noFill/>
        </p:spPr>
        <p:txBody>
          <a:bodyPr wrap="square" lIns="0" rIns="0" tIns="0" bIns="0" anchor="t">
            <a:spAutoFit/>
          </a:bodyPr>
          <a:lstStyle/>
          <a:p>
            <a:r>
              <a:rPr sz="1150" b="1" i="0">
                <a:solidFill>
                  <a:srgbClr val="1F6F50"/>
                </a:solidFill>
                <a:latin typeface="Segoe UI Semibold"/>
              </a:rPr>
              <a:t>M2</a:t>
            </a:r>
          </a:p>
        </p:txBody>
      </p:sp>
      <p:sp>
        <p:nvSpPr>
          <p:cNvPr id="18" name="Rounded Rectangle 17"/>
          <p:cNvSpPr/>
          <p:nvPr/>
        </p:nvSpPr>
        <p:spPr>
          <a:xfrm>
            <a:off x="4145158" y="1853818"/>
            <a:ext cx="548640" cy="219456"/>
          </a:xfrm>
          <a:prstGeom prst="roundRect">
            <a:avLst>
              <a:gd name="adj" fmla="val 50000"/>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145158" y="1885823"/>
            <a:ext cx="548640" cy="173736"/>
          </a:xfrm>
          <a:prstGeom prst="rect">
            <a:avLst/>
          </a:prstGeom>
          <a:noFill/>
        </p:spPr>
        <p:txBody>
          <a:bodyPr wrap="square" lIns="0" rIns="0" tIns="0" bIns="0" anchor="ctr">
            <a:spAutoFit/>
          </a:bodyPr>
          <a:lstStyle/>
          <a:p>
            <a:pPr algn="ctr"/>
            <a:r>
              <a:rPr sz="750" b="1" i="0">
                <a:solidFill>
                  <a:srgbClr val="FFFFFF"/>
                </a:solidFill>
                <a:latin typeface="Segoe UI Semibold"/>
              </a:rPr>
              <a:t>DONE</a:t>
            </a:r>
          </a:p>
        </p:txBody>
      </p:sp>
      <p:sp>
        <p:nvSpPr>
          <p:cNvPr id="20" name="TextBox 19"/>
          <p:cNvSpPr txBox="1"/>
          <p:nvPr/>
        </p:nvSpPr>
        <p:spPr>
          <a:xfrm>
            <a:off x="3023555" y="2183002"/>
            <a:ext cx="1670243" cy="274320"/>
          </a:xfrm>
          <a:prstGeom prst="rect">
            <a:avLst/>
          </a:prstGeom>
          <a:noFill/>
        </p:spPr>
        <p:txBody>
          <a:bodyPr wrap="square" lIns="0" rIns="0" tIns="0" bIns="0" anchor="t">
            <a:spAutoFit/>
          </a:bodyPr>
          <a:lstStyle/>
          <a:p>
            <a:pPr>
              <a:lnSpc>
                <a:spcPct val="108000"/>
              </a:lnSpc>
            </a:pPr>
            <a:r>
              <a:rPr sz="1150" b="1" i="0">
                <a:solidFill>
                  <a:srgbClr val="10273F"/>
                </a:solidFill>
                <a:latin typeface="Segoe UI Semibold"/>
              </a:rPr>
              <a:t>Identity</a:t>
            </a:r>
          </a:p>
        </p:txBody>
      </p:sp>
      <p:sp>
        <p:nvSpPr>
          <p:cNvPr id="21" name="TextBox 20"/>
          <p:cNvSpPr txBox="1"/>
          <p:nvPr/>
        </p:nvSpPr>
        <p:spPr>
          <a:xfrm>
            <a:off x="3023555" y="2530475"/>
            <a:ext cx="1670243" cy="585216"/>
          </a:xfrm>
          <a:prstGeom prst="rect">
            <a:avLst/>
          </a:prstGeom>
          <a:noFill/>
        </p:spPr>
        <p:txBody>
          <a:bodyPr wrap="square" lIns="0" rIns="0" tIns="0" bIns="0" anchor="t">
            <a:spAutoFit/>
          </a:bodyPr>
          <a:lstStyle/>
          <a:p>
            <a:pPr>
              <a:lnSpc>
                <a:spcPct val="120000"/>
              </a:lnSpc>
            </a:pPr>
            <a:r>
              <a:rPr sz="850" b="0" i="0">
                <a:solidFill>
                  <a:srgbClr val="3C5066"/>
                </a:solidFill>
                <a:latin typeface="Segoe UI"/>
              </a:rPr>
              <a:t>ByteTrack + CAL Re-ID, PRCC/LTCC benchmark</a:t>
            </a:r>
          </a:p>
        </p:txBody>
      </p:sp>
      <p:sp>
        <p:nvSpPr>
          <p:cNvPr id="22" name="Rectangle 21"/>
          <p:cNvSpPr/>
          <p:nvPr/>
        </p:nvSpPr>
        <p:spPr>
          <a:xfrm>
            <a:off x="2950403" y="3335147"/>
            <a:ext cx="1816547" cy="50292"/>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096134" y="1689227"/>
            <a:ext cx="1999427" cy="151790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260726" y="1853818"/>
            <a:ext cx="640080" cy="237744"/>
          </a:xfrm>
          <a:prstGeom prst="rect">
            <a:avLst/>
          </a:prstGeom>
          <a:noFill/>
        </p:spPr>
        <p:txBody>
          <a:bodyPr wrap="square" lIns="0" rIns="0" tIns="0" bIns="0" anchor="t">
            <a:spAutoFit/>
          </a:bodyPr>
          <a:lstStyle/>
          <a:p>
            <a:r>
              <a:rPr sz="1150" b="1" i="0">
                <a:solidFill>
                  <a:srgbClr val="7B8C9E"/>
                </a:solidFill>
                <a:latin typeface="Segoe UI Semibold"/>
              </a:rPr>
              <a:t>M3</a:t>
            </a:r>
          </a:p>
        </p:txBody>
      </p:sp>
      <p:sp>
        <p:nvSpPr>
          <p:cNvPr id="25" name="TextBox 24"/>
          <p:cNvSpPr txBox="1"/>
          <p:nvPr/>
        </p:nvSpPr>
        <p:spPr>
          <a:xfrm>
            <a:off x="5260726" y="2183002"/>
            <a:ext cx="1670243" cy="274320"/>
          </a:xfrm>
          <a:prstGeom prst="rect">
            <a:avLst/>
          </a:prstGeom>
          <a:noFill/>
        </p:spPr>
        <p:txBody>
          <a:bodyPr wrap="square" lIns="0" rIns="0" tIns="0" bIns="0" anchor="t">
            <a:spAutoFit/>
          </a:bodyPr>
          <a:lstStyle/>
          <a:p>
            <a:pPr>
              <a:lnSpc>
                <a:spcPct val="108000"/>
              </a:lnSpc>
            </a:pPr>
            <a:r>
              <a:rPr sz="1150" b="1" i="0">
                <a:solidFill>
                  <a:srgbClr val="10273F"/>
                </a:solidFill>
                <a:latin typeface="Segoe UI Semibold"/>
              </a:rPr>
              <a:t>Scene graph</a:t>
            </a:r>
          </a:p>
        </p:txBody>
      </p:sp>
      <p:sp>
        <p:nvSpPr>
          <p:cNvPr id="26" name="TextBox 25"/>
          <p:cNvSpPr txBox="1"/>
          <p:nvPr/>
        </p:nvSpPr>
        <p:spPr>
          <a:xfrm>
            <a:off x="5260726" y="2530475"/>
            <a:ext cx="1670243" cy="585216"/>
          </a:xfrm>
          <a:prstGeom prst="rect">
            <a:avLst/>
          </a:prstGeom>
          <a:noFill/>
        </p:spPr>
        <p:txBody>
          <a:bodyPr wrap="square" lIns="0" rIns="0" tIns="0" bIns="0" anchor="t">
            <a:spAutoFit/>
          </a:bodyPr>
          <a:lstStyle/>
          <a:p>
            <a:pPr>
              <a:lnSpc>
                <a:spcPct val="120000"/>
              </a:lnSpc>
            </a:pPr>
            <a:r>
              <a:rPr sz="850" b="0" i="0">
                <a:solidFill>
                  <a:srgbClr val="3C5066"/>
                </a:solidFill>
                <a:latin typeface="Segoe UI"/>
              </a:rPr>
              <a:t>graph construction + annotate own clips</a:t>
            </a:r>
          </a:p>
        </p:txBody>
      </p:sp>
      <p:sp>
        <p:nvSpPr>
          <p:cNvPr id="27" name="Rectangle 26"/>
          <p:cNvSpPr/>
          <p:nvPr/>
        </p:nvSpPr>
        <p:spPr>
          <a:xfrm>
            <a:off x="5187574" y="3335147"/>
            <a:ext cx="1816547" cy="50292"/>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7333305" y="1689227"/>
            <a:ext cx="1999427" cy="151790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97897" y="1853818"/>
            <a:ext cx="640080" cy="237744"/>
          </a:xfrm>
          <a:prstGeom prst="rect">
            <a:avLst/>
          </a:prstGeom>
          <a:noFill/>
        </p:spPr>
        <p:txBody>
          <a:bodyPr wrap="square" lIns="0" rIns="0" tIns="0" bIns="0" anchor="t">
            <a:spAutoFit/>
          </a:bodyPr>
          <a:lstStyle/>
          <a:p>
            <a:r>
              <a:rPr sz="1150" b="1" i="0">
                <a:solidFill>
                  <a:srgbClr val="7B8C9E"/>
                </a:solidFill>
                <a:latin typeface="Segoe UI Semibold"/>
              </a:rPr>
              <a:t>M4</a:t>
            </a:r>
          </a:p>
        </p:txBody>
      </p:sp>
      <p:sp>
        <p:nvSpPr>
          <p:cNvPr id="30" name="TextBox 29"/>
          <p:cNvSpPr txBox="1"/>
          <p:nvPr/>
        </p:nvSpPr>
        <p:spPr>
          <a:xfrm>
            <a:off x="7497897" y="2183002"/>
            <a:ext cx="1670243" cy="274320"/>
          </a:xfrm>
          <a:prstGeom prst="rect">
            <a:avLst/>
          </a:prstGeom>
          <a:noFill/>
        </p:spPr>
        <p:txBody>
          <a:bodyPr wrap="square" lIns="0" rIns="0" tIns="0" bIns="0" anchor="t">
            <a:spAutoFit/>
          </a:bodyPr>
          <a:lstStyle/>
          <a:p>
            <a:pPr>
              <a:lnSpc>
                <a:spcPct val="108000"/>
              </a:lnSpc>
            </a:pPr>
            <a:r>
              <a:rPr sz="1150" b="1" i="0">
                <a:solidFill>
                  <a:srgbClr val="10273F"/>
                </a:solidFill>
                <a:latin typeface="Segoe UI Semibold"/>
              </a:rPr>
              <a:t>Temporal + GAR</a:t>
            </a:r>
          </a:p>
        </p:txBody>
      </p:sp>
      <p:sp>
        <p:nvSpPr>
          <p:cNvPr id="31" name="TextBox 30"/>
          <p:cNvSpPr txBox="1"/>
          <p:nvPr/>
        </p:nvSpPr>
        <p:spPr>
          <a:xfrm>
            <a:off x="7497897" y="2530475"/>
            <a:ext cx="1670243" cy="585216"/>
          </a:xfrm>
          <a:prstGeom prst="rect">
            <a:avLst/>
          </a:prstGeom>
          <a:noFill/>
        </p:spPr>
        <p:txBody>
          <a:bodyPr wrap="square" lIns="0" rIns="0" tIns="0" bIns="0" anchor="t">
            <a:spAutoFit/>
          </a:bodyPr>
          <a:lstStyle/>
          <a:p>
            <a:pPr>
              <a:lnSpc>
                <a:spcPct val="120000"/>
              </a:lnSpc>
            </a:pPr>
            <a:r>
              <a:rPr sz="850" b="0" i="0">
                <a:solidFill>
                  <a:srgbClr val="3C5066"/>
                </a:solidFill>
                <a:latin typeface="Segoe UI"/>
              </a:rPr>
              <a:t>STTran-style decoder, ARG readout</a:t>
            </a:r>
          </a:p>
        </p:txBody>
      </p:sp>
      <p:sp>
        <p:nvSpPr>
          <p:cNvPr id="32" name="Rectangle 31"/>
          <p:cNvSpPr/>
          <p:nvPr/>
        </p:nvSpPr>
        <p:spPr>
          <a:xfrm>
            <a:off x="7424745" y="3335147"/>
            <a:ext cx="1816547" cy="50292"/>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570476" y="1689227"/>
            <a:ext cx="1999427" cy="1517904"/>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735068" y="1853818"/>
            <a:ext cx="640080" cy="237744"/>
          </a:xfrm>
          <a:prstGeom prst="rect">
            <a:avLst/>
          </a:prstGeom>
          <a:noFill/>
        </p:spPr>
        <p:txBody>
          <a:bodyPr wrap="square" lIns="0" rIns="0" tIns="0" bIns="0" anchor="t">
            <a:spAutoFit/>
          </a:bodyPr>
          <a:lstStyle/>
          <a:p>
            <a:r>
              <a:rPr sz="1150" b="1" i="0">
                <a:solidFill>
                  <a:srgbClr val="7B8C9E"/>
                </a:solidFill>
                <a:latin typeface="Segoe UI Semibold"/>
              </a:rPr>
              <a:t>M5</a:t>
            </a:r>
          </a:p>
        </p:txBody>
      </p:sp>
      <p:sp>
        <p:nvSpPr>
          <p:cNvPr id="35" name="TextBox 34"/>
          <p:cNvSpPr txBox="1"/>
          <p:nvPr/>
        </p:nvSpPr>
        <p:spPr>
          <a:xfrm>
            <a:off x="9735068" y="2183002"/>
            <a:ext cx="1670243" cy="274320"/>
          </a:xfrm>
          <a:prstGeom prst="rect">
            <a:avLst/>
          </a:prstGeom>
          <a:noFill/>
        </p:spPr>
        <p:txBody>
          <a:bodyPr wrap="square" lIns="0" rIns="0" tIns="0" bIns="0" anchor="t">
            <a:spAutoFit/>
          </a:bodyPr>
          <a:lstStyle/>
          <a:p>
            <a:pPr>
              <a:lnSpc>
                <a:spcPct val="108000"/>
              </a:lnSpc>
            </a:pPr>
            <a:r>
              <a:rPr sz="1150" b="1" i="0">
                <a:solidFill>
                  <a:srgbClr val="10273F"/>
                </a:solidFill>
                <a:latin typeface="Segoe UI Semibold"/>
              </a:rPr>
              <a:t>Analytics + report</a:t>
            </a:r>
          </a:p>
        </p:txBody>
      </p:sp>
      <p:sp>
        <p:nvSpPr>
          <p:cNvPr id="36" name="TextBox 35"/>
          <p:cNvSpPr txBox="1"/>
          <p:nvPr/>
        </p:nvSpPr>
        <p:spPr>
          <a:xfrm>
            <a:off x="9735068" y="2530475"/>
            <a:ext cx="1670243" cy="585216"/>
          </a:xfrm>
          <a:prstGeom prst="rect">
            <a:avLst/>
          </a:prstGeom>
          <a:noFill/>
        </p:spPr>
        <p:txBody>
          <a:bodyPr wrap="square" lIns="0" rIns="0" tIns="0" bIns="0" anchor="t">
            <a:spAutoFit/>
          </a:bodyPr>
          <a:lstStyle/>
          <a:p>
            <a:pPr>
              <a:lnSpc>
                <a:spcPct val="120000"/>
              </a:lnSpc>
            </a:pPr>
            <a:r>
              <a:rPr sz="850" b="0" i="0">
                <a:solidFill>
                  <a:srgbClr val="3C5066"/>
                </a:solidFill>
                <a:latin typeface="Segoe UI"/>
              </a:rPr>
              <a:t>dashboard, evaluation, write-up</a:t>
            </a:r>
          </a:p>
        </p:txBody>
      </p:sp>
      <p:sp>
        <p:nvSpPr>
          <p:cNvPr id="37" name="Rectangle 36"/>
          <p:cNvSpPr/>
          <p:nvPr/>
        </p:nvSpPr>
        <p:spPr>
          <a:xfrm>
            <a:off x="9661916" y="3335147"/>
            <a:ext cx="1816547" cy="50292"/>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21792" y="3774059"/>
            <a:ext cx="10948111" cy="274320"/>
          </a:xfrm>
          <a:prstGeom prst="rect">
            <a:avLst/>
          </a:prstGeom>
          <a:noFill/>
        </p:spPr>
        <p:txBody>
          <a:bodyPr wrap="square" lIns="0" rIns="0" tIns="0" bIns="0" anchor="t">
            <a:spAutoFit/>
          </a:bodyPr>
          <a:lstStyle/>
          <a:p>
            <a:r>
              <a:rPr sz="1350" b="1" i="0">
                <a:solidFill>
                  <a:srgbClr val="10273F"/>
                </a:solidFill>
                <a:latin typeface="Segoe UI Semibold"/>
              </a:rPr>
              <a:t>Team of three — vertical subsystem ownership</a:t>
            </a:r>
          </a:p>
        </p:txBody>
      </p:sp>
      <p:sp>
        <p:nvSpPr>
          <p:cNvPr id="39" name="Rounded Rectangle 38"/>
          <p:cNvSpPr/>
          <p:nvPr/>
        </p:nvSpPr>
        <p:spPr>
          <a:xfrm>
            <a:off x="621792" y="4158107"/>
            <a:ext cx="3490874" cy="111556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804672" y="4359275"/>
            <a:ext cx="420624" cy="420624"/>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04672" y="4432427"/>
            <a:ext cx="420624" cy="274320"/>
          </a:xfrm>
          <a:prstGeom prst="rect">
            <a:avLst/>
          </a:prstGeom>
          <a:noFill/>
        </p:spPr>
        <p:txBody>
          <a:bodyPr wrap="square" lIns="0" rIns="0" tIns="0" bIns="0" anchor="t">
            <a:spAutoFit/>
          </a:bodyPr>
          <a:lstStyle/>
          <a:p>
            <a:pPr algn="ctr"/>
            <a:r>
              <a:rPr sz="1300" b="1" i="0">
                <a:solidFill>
                  <a:srgbClr val="FFFFFF"/>
                </a:solidFill>
                <a:latin typeface="Segoe UI Semibold"/>
              </a:rPr>
              <a:t>A</a:t>
            </a:r>
          </a:p>
        </p:txBody>
      </p:sp>
      <p:sp>
        <p:nvSpPr>
          <p:cNvPr id="42" name="TextBox 41"/>
          <p:cNvSpPr txBox="1"/>
          <p:nvPr/>
        </p:nvSpPr>
        <p:spPr>
          <a:xfrm>
            <a:off x="1353312" y="4359275"/>
            <a:ext cx="2576474" cy="256032"/>
          </a:xfrm>
          <a:prstGeom prst="rect">
            <a:avLst/>
          </a:prstGeom>
          <a:noFill/>
        </p:spPr>
        <p:txBody>
          <a:bodyPr wrap="square" lIns="0" rIns="0" tIns="0" bIns="0" anchor="t">
            <a:spAutoFit/>
          </a:bodyPr>
          <a:lstStyle/>
          <a:p>
            <a:r>
              <a:rPr sz="1200" b="1" i="0">
                <a:solidFill>
                  <a:srgbClr val="10273F"/>
                </a:solidFill>
                <a:latin typeface="Segoe UI Semibold"/>
              </a:rPr>
              <a:t>Perception &amp; Identity</a:t>
            </a:r>
          </a:p>
        </p:txBody>
      </p:sp>
      <p:sp>
        <p:nvSpPr>
          <p:cNvPr id="43" name="TextBox 42"/>
          <p:cNvSpPr txBox="1"/>
          <p:nvPr/>
        </p:nvSpPr>
        <p:spPr>
          <a:xfrm>
            <a:off x="1353312" y="4651883"/>
            <a:ext cx="2576474" cy="512064"/>
          </a:xfrm>
          <a:prstGeom prst="rect">
            <a:avLst/>
          </a:prstGeom>
          <a:noFill/>
        </p:spPr>
        <p:txBody>
          <a:bodyPr wrap="square" lIns="0" rIns="0" tIns="0" bIns="0" anchor="t">
            <a:spAutoFit/>
          </a:bodyPr>
          <a:lstStyle/>
          <a:p>
            <a:pPr>
              <a:lnSpc>
                <a:spcPct val="118000"/>
              </a:lnSpc>
            </a:pPr>
            <a:r>
              <a:rPr sz="950" b="0" i="0">
                <a:solidFill>
                  <a:srgbClr val="3C5066"/>
                </a:solidFill>
                <a:latin typeface="Segoe UI"/>
              </a:rPr>
              <a:t>Stages 1–2 · Re-ID benchmark · per-student trajectories</a:t>
            </a:r>
          </a:p>
        </p:txBody>
      </p:sp>
      <p:sp>
        <p:nvSpPr>
          <p:cNvPr id="44" name="Rounded Rectangle 43"/>
          <p:cNvSpPr/>
          <p:nvPr/>
        </p:nvSpPr>
        <p:spPr>
          <a:xfrm>
            <a:off x="4350410" y="4158107"/>
            <a:ext cx="3490874" cy="111556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4533290" y="4359275"/>
            <a:ext cx="420624" cy="420624"/>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33290" y="4432427"/>
            <a:ext cx="420624" cy="274320"/>
          </a:xfrm>
          <a:prstGeom prst="rect">
            <a:avLst/>
          </a:prstGeom>
          <a:noFill/>
        </p:spPr>
        <p:txBody>
          <a:bodyPr wrap="square" lIns="0" rIns="0" tIns="0" bIns="0" anchor="t">
            <a:spAutoFit/>
          </a:bodyPr>
          <a:lstStyle/>
          <a:p>
            <a:pPr algn="ctr"/>
            <a:r>
              <a:rPr sz="1300" b="1" i="0">
                <a:solidFill>
                  <a:srgbClr val="FFFFFF"/>
                </a:solidFill>
                <a:latin typeface="Segoe UI Semibold"/>
              </a:rPr>
              <a:t>B</a:t>
            </a:r>
          </a:p>
        </p:txBody>
      </p:sp>
      <p:sp>
        <p:nvSpPr>
          <p:cNvPr id="47" name="TextBox 46"/>
          <p:cNvSpPr txBox="1"/>
          <p:nvPr/>
        </p:nvSpPr>
        <p:spPr>
          <a:xfrm>
            <a:off x="5081930" y="4359275"/>
            <a:ext cx="2576474" cy="256032"/>
          </a:xfrm>
          <a:prstGeom prst="rect">
            <a:avLst/>
          </a:prstGeom>
          <a:noFill/>
        </p:spPr>
        <p:txBody>
          <a:bodyPr wrap="square" lIns="0" rIns="0" tIns="0" bIns="0" anchor="t">
            <a:spAutoFit/>
          </a:bodyPr>
          <a:lstStyle/>
          <a:p>
            <a:r>
              <a:rPr sz="1200" b="1" i="0">
                <a:solidFill>
                  <a:srgbClr val="10273F"/>
                </a:solidFill>
                <a:latin typeface="Segoe UI Semibold"/>
              </a:rPr>
              <a:t>Relational &amp; Temporal</a:t>
            </a:r>
          </a:p>
        </p:txBody>
      </p:sp>
      <p:sp>
        <p:nvSpPr>
          <p:cNvPr id="48" name="TextBox 47"/>
          <p:cNvSpPr txBox="1"/>
          <p:nvPr/>
        </p:nvSpPr>
        <p:spPr>
          <a:xfrm>
            <a:off x="5081930" y="4651883"/>
            <a:ext cx="2576474" cy="512064"/>
          </a:xfrm>
          <a:prstGeom prst="rect">
            <a:avLst/>
          </a:prstGeom>
          <a:noFill/>
        </p:spPr>
        <p:txBody>
          <a:bodyPr wrap="square" lIns="0" rIns="0" tIns="0" bIns="0" anchor="t">
            <a:spAutoFit/>
          </a:bodyPr>
          <a:lstStyle/>
          <a:p>
            <a:pPr>
              <a:lnSpc>
                <a:spcPct val="118000"/>
              </a:lnSpc>
            </a:pPr>
            <a:r>
              <a:rPr sz="950" b="0" i="0">
                <a:solidFill>
                  <a:srgbClr val="3C5066"/>
                </a:solidFill>
                <a:latin typeface="Segoe UI"/>
              </a:rPr>
              <a:t>Stages 3–4 · scene graph · peer-influence modelling</a:t>
            </a:r>
          </a:p>
        </p:txBody>
      </p:sp>
      <p:sp>
        <p:nvSpPr>
          <p:cNvPr id="49" name="Rounded Rectangle 48"/>
          <p:cNvSpPr/>
          <p:nvPr/>
        </p:nvSpPr>
        <p:spPr>
          <a:xfrm>
            <a:off x="8079028" y="4158107"/>
            <a:ext cx="3490874" cy="1115568"/>
          </a:xfrm>
          <a:prstGeom prst="roundRect">
            <a:avLst>
              <a:gd name="adj" fmla="val 4500"/>
            </a:avLst>
          </a:prstGeom>
          <a:solidFill>
            <a:srgbClr val="F3F7FA"/>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8261908" y="4359275"/>
            <a:ext cx="420624" cy="420624"/>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261908" y="4432427"/>
            <a:ext cx="420624" cy="274320"/>
          </a:xfrm>
          <a:prstGeom prst="rect">
            <a:avLst/>
          </a:prstGeom>
          <a:noFill/>
        </p:spPr>
        <p:txBody>
          <a:bodyPr wrap="square" lIns="0" rIns="0" tIns="0" bIns="0" anchor="t">
            <a:spAutoFit/>
          </a:bodyPr>
          <a:lstStyle/>
          <a:p>
            <a:pPr algn="ctr"/>
            <a:r>
              <a:rPr sz="1300" b="1" i="0">
                <a:solidFill>
                  <a:srgbClr val="FFFFFF"/>
                </a:solidFill>
                <a:latin typeface="Segoe UI Semibold"/>
              </a:rPr>
              <a:t>C</a:t>
            </a:r>
          </a:p>
        </p:txBody>
      </p:sp>
      <p:sp>
        <p:nvSpPr>
          <p:cNvPr id="52" name="TextBox 51"/>
          <p:cNvSpPr txBox="1"/>
          <p:nvPr/>
        </p:nvSpPr>
        <p:spPr>
          <a:xfrm>
            <a:off x="8810548" y="4359275"/>
            <a:ext cx="2576474" cy="256032"/>
          </a:xfrm>
          <a:prstGeom prst="rect">
            <a:avLst/>
          </a:prstGeom>
          <a:noFill/>
        </p:spPr>
        <p:txBody>
          <a:bodyPr wrap="square" lIns="0" rIns="0" tIns="0" bIns="0" anchor="t">
            <a:spAutoFit/>
          </a:bodyPr>
          <a:lstStyle/>
          <a:p>
            <a:r>
              <a:rPr sz="1200" b="1" i="0">
                <a:solidFill>
                  <a:srgbClr val="10273F"/>
                </a:solidFill>
                <a:latin typeface="Segoe UI Semibold"/>
              </a:rPr>
              <a:t>Group Activity &amp; App</a:t>
            </a:r>
          </a:p>
        </p:txBody>
      </p:sp>
      <p:sp>
        <p:nvSpPr>
          <p:cNvPr id="53" name="TextBox 52"/>
          <p:cNvSpPr txBox="1"/>
          <p:nvPr/>
        </p:nvSpPr>
        <p:spPr>
          <a:xfrm>
            <a:off x="8810548" y="4651883"/>
            <a:ext cx="2576474" cy="512064"/>
          </a:xfrm>
          <a:prstGeom prst="rect">
            <a:avLst/>
          </a:prstGeom>
          <a:noFill/>
        </p:spPr>
        <p:txBody>
          <a:bodyPr wrap="square" lIns="0" rIns="0" tIns="0" bIns="0" anchor="t">
            <a:spAutoFit/>
          </a:bodyPr>
          <a:lstStyle/>
          <a:p>
            <a:pPr>
              <a:lnSpc>
                <a:spcPct val="118000"/>
              </a:lnSpc>
            </a:pPr>
            <a:r>
              <a:rPr sz="950" b="0" i="0">
                <a:solidFill>
                  <a:srgbClr val="3C5066"/>
                </a:solidFill>
                <a:latin typeface="Segoe UI"/>
              </a:rPr>
              <a:t>Stage 5 · dashboard · evaluation · predictive disengagement</a:t>
            </a:r>
          </a:p>
        </p:txBody>
      </p:sp>
      <p:sp>
        <p:nvSpPr>
          <p:cNvPr id="54" name="Rounded Rectangle 53"/>
          <p:cNvSpPr/>
          <p:nvPr/>
        </p:nvSpPr>
        <p:spPr>
          <a:xfrm>
            <a:off x="621792" y="5474843"/>
            <a:ext cx="10948111" cy="749808"/>
          </a:xfrm>
          <a:prstGeom prst="roundRect">
            <a:avLst>
              <a:gd name="adj" fmla="val 4500"/>
            </a:avLst>
          </a:prstGeom>
          <a:solidFill>
            <a:srgbClr val="E9F1F4"/>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621792" y="5566283"/>
            <a:ext cx="50292" cy="566927"/>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859536" y="5621147"/>
            <a:ext cx="10527487" cy="475488"/>
          </a:xfrm>
          <a:prstGeom prst="rect">
            <a:avLst/>
          </a:prstGeom>
          <a:noFill/>
        </p:spPr>
        <p:txBody>
          <a:bodyPr wrap="square" lIns="0" rIns="0" tIns="0" bIns="0" anchor="t">
            <a:spAutoFit/>
          </a:bodyPr>
          <a:lstStyle/>
          <a:p>
            <a:pPr>
              <a:lnSpc>
                <a:spcPct val="105000"/>
              </a:lnSpc>
              <a:spcAft>
                <a:spcPts val="500"/>
              </a:spcAft>
            </a:pPr>
            <a:r>
              <a:rPr sz="1150" b="1" i="0">
                <a:solidFill>
                  <a:srgbClr val="10273F"/>
                </a:solidFill>
                <a:latin typeface="Segoe UI Semibold"/>
              </a:rPr>
              <a:t>Risk that is already retired</a:t>
            </a:r>
          </a:p>
          <a:p>
            <a:pPr>
              <a:lnSpc>
                <a:spcPct val="118000"/>
              </a:lnSpc>
              <a:spcAft>
                <a:spcPts val="300"/>
              </a:spcAft>
            </a:pPr>
            <a:r>
              <a:rPr sz="1000" b="0" i="0">
                <a:solidFill>
                  <a:srgbClr val="3C5066"/>
                </a:solidFill>
                <a:latin typeface="Segoe UI"/>
              </a:rPr>
              <a:t>The single largest technical risk — “can this perception stack actually work on real classroom footage from a bad camera angle?” — has been answered empirically, with the failure modes found, measured and mitigated.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1792" y="461772"/>
            <a:ext cx="100584" cy="1463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41248" y="420624"/>
            <a:ext cx="7315200" cy="201168"/>
          </a:xfrm>
          <a:prstGeom prst="rect">
            <a:avLst/>
          </a:prstGeom>
          <a:noFill/>
        </p:spPr>
        <p:txBody>
          <a:bodyPr wrap="square" lIns="0" rIns="0" tIns="0" bIns="0" anchor="t">
            <a:spAutoFit/>
          </a:bodyPr>
          <a:lstStyle/>
          <a:p>
            <a:r>
              <a:rPr sz="1050" b="1" i="0">
                <a:solidFill>
                  <a:srgbClr val="0E7C86"/>
                </a:solidFill>
                <a:latin typeface="Segoe UI Semibold"/>
              </a:rPr>
              <a:t>ORIGINALITY</a:t>
            </a:r>
          </a:p>
        </p:txBody>
      </p:sp>
      <p:sp>
        <p:nvSpPr>
          <p:cNvPr id="4" name="TextBox 3"/>
          <p:cNvSpPr txBox="1"/>
          <p:nvPr/>
        </p:nvSpPr>
        <p:spPr>
          <a:xfrm>
            <a:off x="621792" y="694944"/>
            <a:ext cx="10948111" cy="486918"/>
          </a:xfrm>
          <a:prstGeom prst="rect">
            <a:avLst/>
          </a:prstGeom>
          <a:noFill/>
        </p:spPr>
        <p:txBody>
          <a:bodyPr wrap="square" lIns="0" rIns="0" tIns="0" bIns="0" anchor="t">
            <a:spAutoFit/>
          </a:bodyPr>
          <a:lstStyle/>
          <a:p>
            <a:r>
              <a:rPr sz="2700" b="1" i="0">
                <a:solidFill>
                  <a:srgbClr val="10273F"/>
                </a:solidFill>
                <a:latin typeface="Segoe UI Semibold"/>
              </a:rPr>
              <a:t>Three contributions, each requiring the whole system</a:t>
            </a:r>
          </a:p>
        </p:txBody>
      </p:sp>
      <p:sp>
        <p:nvSpPr>
          <p:cNvPr id="5" name="TextBox 4"/>
          <p:cNvSpPr txBox="1"/>
          <p:nvPr/>
        </p:nvSpPr>
        <p:spPr>
          <a:xfrm>
            <a:off x="621792" y="1282445"/>
            <a:ext cx="10765231" cy="223901"/>
          </a:xfrm>
          <a:prstGeom prst="rect">
            <a:avLst/>
          </a:prstGeom>
          <a:noFill/>
        </p:spPr>
        <p:txBody>
          <a:bodyPr wrap="square" lIns="0" rIns="0" tIns="0" bIns="0" anchor="t">
            <a:spAutoFit/>
          </a:bodyPr>
          <a:lstStyle/>
          <a:p>
            <a:pPr>
              <a:lnSpc>
                <a:spcPct val="115000"/>
              </a:lnSpc>
            </a:pPr>
            <a:r>
              <a:rPr sz="1250" b="0" i="0">
                <a:solidFill>
                  <a:srgbClr val="7B8C9E"/>
                </a:solidFill>
                <a:latin typeface="Segoe UI"/>
              </a:rPr>
              <a:t>None of these are possible with per-frame detection alone — that is the argument for why all three pillars must coexist.</a:t>
            </a:r>
          </a:p>
        </p:txBody>
      </p:sp>
      <p:sp>
        <p:nvSpPr>
          <p:cNvPr id="6" name="Rectangle 5"/>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8" name="TextBox 7"/>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18</a:t>
            </a:r>
          </a:p>
        </p:txBody>
      </p:sp>
      <p:sp>
        <p:nvSpPr>
          <p:cNvPr id="9" name="Rounded Rectangle 8"/>
          <p:cNvSpPr/>
          <p:nvPr/>
        </p:nvSpPr>
        <p:spPr>
          <a:xfrm>
            <a:off x="621792" y="1689227"/>
            <a:ext cx="3490874" cy="292608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41248" y="1908683"/>
            <a:ext cx="3051962" cy="457200"/>
          </a:xfrm>
          <a:prstGeom prst="rect">
            <a:avLst/>
          </a:prstGeom>
          <a:noFill/>
        </p:spPr>
        <p:txBody>
          <a:bodyPr wrap="square" lIns="0" rIns="0" tIns="0" bIns="0" anchor="t">
            <a:spAutoFit/>
          </a:bodyPr>
          <a:lstStyle/>
          <a:p>
            <a:r>
              <a:rPr sz="2600" b="1" i="0">
                <a:solidFill>
                  <a:srgbClr val="C9DAE2"/>
                </a:solidFill>
                <a:latin typeface="Segoe UI Semibold"/>
              </a:rPr>
              <a:t>01</a:t>
            </a:r>
          </a:p>
        </p:txBody>
      </p:sp>
      <p:sp>
        <p:nvSpPr>
          <p:cNvPr id="11" name="TextBox 10"/>
          <p:cNvSpPr txBox="1"/>
          <p:nvPr/>
        </p:nvSpPr>
        <p:spPr>
          <a:xfrm>
            <a:off x="841248" y="2457323"/>
            <a:ext cx="3051962" cy="621792"/>
          </a:xfrm>
          <a:prstGeom prst="rect">
            <a:avLst/>
          </a:prstGeom>
          <a:noFill/>
        </p:spPr>
        <p:txBody>
          <a:bodyPr wrap="square" lIns="0" rIns="0" tIns="0" bIns="0" anchor="t">
            <a:spAutoFit/>
          </a:bodyPr>
          <a:lstStyle/>
          <a:p>
            <a:pPr>
              <a:lnSpc>
                <a:spcPct val="110000"/>
              </a:lnSpc>
            </a:pPr>
            <a:r>
              <a:rPr sz="1300" b="1" i="0">
                <a:solidFill>
                  <a:srgbClr val="10273F"/>
                </a:solidFill>
                <a:latin typeface="Segoe UI Semibold"/>
              </a:rPr>
              <a:t>Identity-persistent engagement trajectories</a:t>
            </a:r>
          </a:p>
        </p:txBody>
      </p:sp>
      <p:sp>
        <p:nvSpPr>
          <p:cNvPr id="12" name="TextBox 11"/>
          <p:cNvSpPr txBox="1"/>
          <p:nvPr/>
        </p:nvSpPr>
        <p:spPr>
          <a:xfrm>
            <a:off x="841248" y="3152267"/>
            <a:ext cx="3051962" cy="1316736"/>
          </a:xfrm>
          <a:prstGeom prst="rect">
            <a:avLst/>
          </a:prstGeom>
          <a:noFill/>
        </p:spPr>
        <p:txBody>
          <a:bodyPr wrap="square" lIns="0" rIns="0" tIns="0" bIns="0" anchor="t">
            <a:spAutoFit/>
          </a:bodyPr>
          <a:lstStyle/>
          <a:p>
            <a:pPr>
              <a:lnSpc>
                <a:spcPct val="122000"/>
              </a:lnSpc>
            </a:pPr>
            <a:r>
              <a:rPr sz="1000" b="0" i="0">
                <a:solidFill>
                  <a:srgbClr val="3C5066"/>
                </a:solidFill>
                <a:latin typeface="Segoe UI"/>
              </a:rPr>
              <a:t>Because identity is stable for the session, we can plot attention per student across an entire lecture and locate the moment it drops — instead of emitting disconnected per-frame scores. The 15-second rolling window and per-student baseline are already implemented.</a:t>
            </a:r>
          </a:p>
        </p:txBody>
      </p:sp>
      <p:sp>
        <p:nvSpPr>
          <p:cNvPr id="13" name="Rounded Rectangle 12"/>
          <p:cNvSpPr/>
          <p:nvPr/>
        </p:nvSpPr>
        <p:spPr>
          <a:xfrm>
            <a:off x="4350410" y="1689227"/>
            <a:ext cx="3490874" cy="292608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69866" y="1908683"/>
            <a:ext cx="3051962" cy="457200"/>
          </a:xfrm>
          <a:prstGeom prst="rect">
            <a:avLst/>
          </a:prstGeom>
          <a:noFill/>
        </p:spPr>
        <p:txBody>
          <a:bodyPr wrap="square" lIns="0" rIns="0" tIns="0" bIns="0" anchor="t">
            <a:spAutoFit/>
          </a:bodyPr>
          <a:lstStyle/>
          <a:p>
            <a:r>
              <a:rPr sz="2600" b="1" i="0">
                <a:solidFill>
                  <a:srgbClr val="C9DAE2"/>
                </a:solidFill>
                <a:latin typeface="Segoe UI Semibold"/>
              </a:rPr>
              <a:t>02</a:t>
            </a:r>
          </a:p>
        </p:txBody>
      </p:sp>
      <p:sp>
        <p:nvSpPr>
          <p:cNvPr id="15" name="TextBox 14"/>
          <p:cNvSpPr txBox="1"/>
          <p:nvPr/>
        </p:nvSpPr>
        <p:spPr>
          <a:xfrm>
            <a:off x="4569866" y="2457323"/>
            <a:ext cx="3051962" cy="621792"/>
          </a:xfrm>
          <a:prstGeom prst="rect">
            <a:avLst/>
          </a:prstGeom>
          <a:noFill/>
        </p:spPr>
        <p:txBody>
          <a:bodyPr wrap="square" lIns="0" rIns="0" tIns="0" bIns="0" anchor="t">
            <a:spAutoFit/>
          </a:bodyPr>
          <a:lstStyle/>
          <a:p>
            <a:pPr>
              <a:lnSpc>
                <a:spcPct val="110000"/>
              </a:lnSpc>
            </a:pPr>
            <a:r>
              <a:rPr sz="1300" b="1" i="0">
                <a:solidFill>
                  <a:srgbClr val="10273F"/>
                </a:solidFill>
                <a:latin typeface="Segoe UI Semibold"/>
              </a:rPr>
              <a:t>Peer-orientation edges in the graph</a:t>
            </a:r>
          </a:p>
        </p:txBody>
      </p:sp>
      <p:sp>
        <p:nvSpPr>
          <p:cNvPr id="16" name="TextBox 15"/>
          <p:cNvSpPr txBox="1"/>
          <p:nvPr/>
        </p:nvSpPr>
        <p:spPr>
          <a:xfrm>
            <a:off x="4569866" y="3152267"/>
            <a:ext cx="3051962" cy="1316736"/>
          </a:xfrm>
          <a:prstGeom prst="rect">
            <a:avLst/>
          </a:prstGeom>
          <a:noFill/>
        </p:spPr>
        <p:txBody>
          <a:bodyPr wrap="square" lIns="0" rIns="0" tIns="0" bIns="0" anchor="t">
            <a:spAutoFit/>
          </a:bodyPr>
          <a:lstStyle/>
          <a:p>
            <a:pPr>
              <a:lnSpc>
                <a:spcPct val="122000"/>
              </a:lnSpc>
            </a:pPr>
            <a:r>
              <a:rPr sz="1000" b="0" i="0">
                <a:solidFill>
                  <a:srgbClr val="3C5066"/>
                </a:solidFill>
                <a:latin typeface="Segoe UI"/>
              </a:rPr>
              <a:t>Student→student edges let us ask whether disengagement propagates through neighbours — an underexplored social signal. Grounded in Kendon's F-formations, and deliberately reported as “oriented toward each other”, never as “off-task”, because vision cannot judge the content of a conversation.</a:t>
            </a:r>
          </a:p>
        </p:txBody>
      </p:sp>
      <p:sp>
        <p:nvSpPr>
          <p:cNvPr id="17" name="Rounded Rectangle 16"/>
          <p:cNvSpPr/>
          <p:nvPr/>
        </p:nvSpPr>
        <p:spPr>
          <a:xfrm>
            <a:off x="8079028" y="1689227"/>
            <a:ext cx="3490874" cy="292608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98484" y="1908683"/>
            <a:ext cx="3051962" cy="457200"/>
          </a:xfrm>
          <a:prstGeom prst="rect">
            <a:avLst/>
          </a:prstGeom>
          <a:noFill/>
        </p:spPr>
        <p:txBody>
          <a:bodyPr wrap="square" lIns="0" rIns="0" tIns="0" bIns="0" anchor="t">
            <a:spAutoFit/>
          </a:bodyPr>
          <a:lstStyle/>
          <a:p>
            <a:r>
              <a:rPr sz="2600" b="1" i="0">
                <a:solidFill>
                  <a:srgbClr val="C9DAE2"/>
                </a:solidFill>
                <a:latin typeface="Segoe UI Semibold"/>
              </a:rPr>
              <a:t>03</a:t>
            </a:r>
          </a:p>
        </p:txBody>
      </p:sp>
      <p:sp>
        <p:nvSpPr>
          <p:cNvPr id="19" name="TextBox 18"/>
          <p:cNvSpPr txBox="1"/>
          <p:nvPr/>
        </p:nvSpPr>
        <p:spPr>
          <a:xfrm>
            <a:off x="8298484" y="2457323"/>
            <a:ext cx="3051962" cy="621792"/>
          </a:xfrm>
          <a:prstGeom prst="rect">
            <a:avLst/>
          </a:prstGeom>
          <a:noFill/>
        </p:spPr>
        <p:txBody>
          <a:bodyPr wrap="square" lIns="0" rIns="0" tIns="0" bIns="0" anchor="t">
            <a:spAutoFit/>
          </a:bodyPr>
          <a:lstStyle/>
          <a:p>
            <a:pPr>
              <a:lnSpc>
                <a:spcPct val="110000"/>
              </a:lnSpc>
            </a:pPr>
            <a:r>
              <a:rPr sz="1300" b="1" i="0">
                <a:solidFill>
                  <a:srgbClr val="10273F"/>
                </a:solidFill>
                <a:latin typeface="Segoe UI Semibold"/>
              </a:rPr>
              <a:t>Honest uncertainty as a first-class output</a:t>
            </a:r>
          </a:p>
        </p:txBody>
      </p:sp>
      <p:sp>
        <p:nvSpPr>
          <p:cNvPr id="20" name="TextBox 19"/>
          <p:cNvSpPr txBox="1"/>
          <p:nvPr/>
        </p:nvSpPr>
        <p:spPr>
          <a:xfrm>
            <a:off x="8298484" y="3152267"/>
            <a:ext cx="3051962" cy="1316736"/>
          </a:xfrm>
          <a:prstGeom prst="rect">
            <a:avLst/>
          </a:prstGeom>
          <a:noFill/>
        </p:spPr>
        <p:txBody>
          <a:bodyPr wrap="square" lIns="0" rIns="0" tIns="0" bIns="0" anchor="t">
            <a:spAutoFit/>
          </a:bodyPr>
          <a:lstStyle/>
          <a:p>
            <a:pPr>
              <a:lnSpc>
                <a:spcPct val="122000"/>
              </a:lnSpc>
            </a:pPr>
            <a:r>
              <a:rPr sz="1000" b="0" i="0">
                <a:solidFill>
                  <a:srgbClr val="3C5066"/>
                </a:solidFill>
                <a:latin typeface="Segoe UI"/>
              </a:rPr>
              <a:t>The system reports which students it cannot assess and which behaviours it cannot disambiguate, rather than emitting a confident label anyway. The reviewed classroom literature consistently omits this, and it is what makes the output safe to put in front of a teacher.</a:t>
            </a:r>
          </a:p>
        </p:txBody>
      </p:sp>
      <p:sp>
        <p:nvSpPr>
          <p:cNvPr id="21" name="Rounded Rectangle 20"/>
          <p:cNvSpPr/>
          <p:nvPr/>
        </p:nvSpPr>
        <p:spPr>
          <a:xfrm>
            <a:off x="621792" y="4853051"/>
            <a:ext cx="10948111" cy="932688"/>
          </a:xfrm>
          <a:prstGeom prst="roundRect">
            <a:avLst>
              <a:gd name="adj" fmla="val 4500"/>
            </a:avLst>
          </a:prstGeom>
          <a:solidFill>
            <a:srgbClr val="E9F1F4"/>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77824" y="5017642"/>
            <a:ext cx="10436047" cy="640080"/>
          </a:xfrm>
          <a:prstGeom prst="rect">
            <a:avLst/>
          </a:prstGeom>
          <a:noFill/>
        </p:spPr>
        <p:txBody>
          <a:bodyPr wrap="square" lIns="0" rIns="0" tIns="0" bIns="0" anchor="t">
            <a:spAutoFit/>
          </a:bodyPr>
          <a:lstStyle/>
          <a:p>
            <a:pPr>
              <a:lnSpc>
                <a:spcPct val="124000"/>
              </a:lnSpc>
            </a:pPr>
            <a:r>
              <a:rPr sz="1100" b="1" i="0">
                <a:solidFill>
                  <a:srgbClr val="085961"/>
                </a:solidFill>
                <a:latin typeface="Segoe UI Semibold"/>
              </a:rPr>
              <a:t>Framed honestly:  </a:t>
            </a:r>
            <a:r>
              <a:rPr sz="1100" b="0" i="0">
                <a:solidFill>
                  <a:srgbClr val="10273F"/>
                </a:solidFill>
                <a:latin typeface="Segoe UI"/>
              </a:rPr>
              <a:t>novel in combination and in domain — not a claim to have improved Re-ID, scene-graph generation or group-activity recognition as individual techniques. That is a defensible position for a course project and an honest one for a paper.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21792" y="420624"/>
            <a:ext cx="10948111" cy="486918"/>
          </a:xfrm>
          <a:prstGeom prst="rect">
            <a:avLst/>
          </a:prstGeom>
          <a:noFill/>
        </p:spPr>
        <p:txBody>
          <a:bodyPr wrap="square" lIns="0" rIns="0" tIns="0" bIns="0" anchor="t">
            <a:spAutoFit/>
          </a:bodyPr>
          <a:lstStyle/>
          <a:p>
            <a:r>
              <a:rPr sz="2700" b="1" i="0">
                <a:solidFill>
                  <a:srgbClr val="10273F"/>
                </a:solidFill>
                <a:latin typeface="Segoe UI Semibold"/>
              </a:rPr>
              <a:t>Where we stand against each criterion</a:t>
            </a:r>
          </a:p>
        </p:txBody>
      </p:sp>
      <p:sp>
        <p:nvSpPr>
          <p:cNvPr id="3" name="Rectangle 2"/>
          <p:cNvSpPr/>
          <p:nvPr/>
        </p:nvSpPr>
        <p:spPr>
          <a:xfrm>
            <a:off x="621792" y="6291072"/>
            <a:ext cx="10948111" cy="10972"/>
          </a:xfrm>
          <a:prstGeom prst="rect">
            <a:avLst/>
          </a:prstGeom>
          <a:solidFill>
            <a:srgbClr val="E6E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21792" y="6400800"/>
            <a:ext cx="5486400" cy="219456"/>
          </a:xfrm>
          <a:prstGeom prst="rect">
            <a:avLst/>
          </a:prstGeom>
          <a:noFill/>
        </p:spPr>
        <p:txBody>
          <a:bodyPr wrap="square" lIns="0" rIns="0" tIns="0" bIns="0" anchor="t">
            <a:spAutoFit/>
          </a:bodyPr>
          <a:lstStyle/>
          <a:p>
            <a:r>
              <a:rPr sz="900" b="0" i="0">
                <a:solidFill>
                  <a:srgbClr val="7B8C9E"/>
                </a:solidFill>
                <a:latin typeface="Segoe UI"/>
              </a:rPr>
              <a:t>ClassGraph  ·  Review 2</a:t>
            </a:r>
          </a:p>
        </p:txBody>
      </p:sp>
      <p:sp>
        <p:nvSpPr>
          <p:cNvPr id="5" name="TextBox 4"/>
          <p:cNvSpPr txBox="1"/>
          <p:nvPr/>
        </p:nvSpPr>
        <p:spPr>
          <a:xfrm>
            <a:off x="10472623" y="6400800"/>
            <a:ext cx="1097280" cy="219456"/>
          </a:xfrm>
          <a:prstGeom prst="rect">
            <a:avLst/>
          </a:prstGeom>
          <a:noFill/>
        </p:spPr>
        <p:txBody>
          <a:bodyPr wrap="square" lIns="0" rIns="0" tIns="0" bIns="0" anchor="t">
            <a:spAutoFit/>
          </a:bodyPr>
          <a:lstStyle/>
          <a:p>
            <a:pPr algn="r"/>
            <a:r>
              <a:rPr sz="900" b="1" i="0">
                <a:solidFill>
                  <a:srgbClr val="7B8C9E"/>
                </a:solidFill>
                <a:latin typeface="Segoe UI"/>
              </a:rPr>
              <a:t>19</a:t>
            </a:r>
          </a:p>
        </p:txBody>
      </p:sp>
      <p:sp>
        <p:nvSpPr>
          <p:cNvPr id="6" name="Rounded Rectangle 5"/>
          <p:cNvSpPr/>
          <p:nvPr/>
        </p:nvSpPr>
        <p:spPr>
          <a:xfrm>
            <a:off x="621792" y="1099566"/>
            <a:ext cx="10948111" cy="7315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21792" y="1099566"/>
            <a:ext cx="50292" cy="73152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841248" y="1273302"/>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8" y="1328166"/>
            <a:ext cx="384048" cy="274320"/>
          </a:xfrm>
          <a:prstGeom prst="rect">
            <a:avLst/>
          </a:prstGeom>
          <a:noFill/>
        </p:spPr>
        <p:txBody>
          <a:bodyPr wrap="square" lIns="0" rIns="0" tIns="0" bIns="0" anchor="t">
            <a:spAutoFit/>
          </a:bodyPr>
          <a:lstStyle/>
          <a:p>
            <a:pPr algn="ctr"/>
            <a:r>
              <a:rPr sz="1250" b="1" i="0">
                <a:solidFill>
                  <a:srgbClr val="FFFFFF"/>
                </a:solidFill>
                <a:latin typeface="Segoe UI Semibold"/>
              </a:rPr>
              <a:t>1</a:t>
            </a:r>
          </a:p>
        </p:txBody>
      </p:sp>
      <p:sp>
        <p:nvSpPr>
          <p:cNvPr id="10" name="TextBox 9"/>
          <p:cNvSpPr txBox="1"/>
          <p:nvPr/>
        </p:nvSpPr>
        <p:spPr>
          <a:xfrm>
            <a:off x="1371600" y="1227582"/>
            <a:ext cx="2880360" cy="274320"/>
          </a:xfrm>
          <a:prstGeom prst="rect">
            <a:avLst/>
          </a:prstGeom>
          <a:noFill/>
        </p:spPr>
        <p:txBody>
          <a:bodyPr wrap="square" lIns="0" rIns="0" tIns="0" bIns="0" anchor="t">
            <a:spAutoFit/>
          </a:bodyPr>
          <a:lstStyle/>
          <a:p>
            <a:r>
              <a:rPr sz="1250" b="1" i="0">
                <a:solidFill>
                  <a:srgbClr val="10273F"/>
                </a:solidFill>
                <a:latin typeface="Segoe UI Semibold"/>
              </a:rPr>
              <a:t>Problem Understanding</a:t>
            </a:r>
          </a:p>
        </p:txBody>
      </p:sp>
      <p:sp>
        <p:nvSpPr>
          <p:cNvPr id="11" name="TextBox 10"/>
          <p:cNvSpPr txBox="1"/>
          <p:nvPr/>
        </p:nvSpPr>
        <p:spPr>
          <a:xfrm>
            <a:off x="1371600" y="1483614"/>
            <a:ext cx="9942271" cy="292608"/>
          </a:xfrm>
          <a:prstGeom prst="rect">
            <a:avLst/>
          </a:prstGeom>
          <a:noFill/>
        </p:spPr>
        <p:txBody>
          <a:bodyPr wrap="square" lIns="0" rIns="0" tIns="0" bIns="0" anchor="t">
            <a:spAutoFit/>
          </a:bodyPr>
          <a:lstStyle/>
          <a:p>
            <a:pPr>
              <a:lnSpc>
                <a:spcPct val="114000"/>
              </a:lnSpc>
            </a:pPr>
            <a:r>
              <a:rPr sz="950" b="0" i="0">
                <a:solidFill>
                  <a:srgbClr val="3C5066"/>
                </a:solidFill>
                <a:latin typeface="Segoe UI"/>
              </a:rPr>
              <a:t>Behaviour, not attendance. Engagement defined as observable behaviour before it is measured, with six objectives each carrying a success criterion.</a:t>
            </a:r>
          </a:p>
        </p:txBody>
      </p:sp>
      <p:sp>
        <p:nvSpPr>
          <p:cNvPr id="12" name="TextBox 11"/>
          <p:cNvSpPr txBox="1"/>
          <p:nvPr/>
        </p:nvSpPr>
        <p:spPr>
          <a:xfrm>
            <a:off x="4325112" y="1227582"/>
            <a:ext cx="274320" cy="274320"/>
          </a:xfrm>
          <a:prstGeom prst="rect">
            <a:avLst/>
          </a:prstGeom>
          <a:noFill/>
        </p:spPr>
        <p:txBody>
          <a:bodyPr wrap="square" lIns="0" rIns="0" tIns="0" bIns="0" anchor="t">
            <a:spAutoFit/>
          </a:bodyPr>
          <a:lstStyle/>
          <a:p>
            <a:r>
              <a:rPr sz="900" b="0" i="0">
                <a:solidFill>
                  <a:srgbClr val="3C5066"/>
                </a:solidFill>
                <a:latin typeface="Segoe UI"/>
              </a:rPr>
              <a:t/>
            </a:r>
          </a:p>
        </p:txBody>
      </p:sp>
      <p:sp>
        <p:nvSpPr>
          <p:cNvPr id="13" name="Rounded Rectangle 12"/>
          <p:cNvSpPr/>
          <p:nvPr/>
        </p:nvSpPr>
        <p:spPr>
          <a:xfrm>
            <a:off x="621792" y="1940814"/>
            <a:ext cx="10948111" cy="7315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1792" y="1940814"/>
            <a:ext cx="50292" cy="73152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841248" y="2114550"/>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41248" y="2169414"/>
            <a:ext cx="384048" cy="274320"/>
          </a:xfrm>
          <a:prstGeom prst="rect">
            <a:avLst/>
          </a:prstGeom>
          <a:noFill/>
        </p:spPr>
        <p:txBody>
          <a:bodyPr wrap="square" lIns="0" rIns="0" tIns="0" bIns="0" anchor="t">
            <a:spAutoFit/>
          </a:bodyPr>
          <a:lstStyle/>
          <a:p>
            <a:pPr algn="ctr"/>
            <a:r>
              <a:rPr sz="1250" b="1" i="0">
                <a:solidFill>
                  <a:srgbClr val="FFFFFF"/>
                </a:solidFill>
                <a:latin typeface="Segoe UI Semibold"/>
              </a:rPr>
              <a:t>2</a:t>
            </a:r>
          </a:p>
        </p:txBody>
      </p:sp>
      <p:sp>
        <p:nvSpPr>
          <p:cNvPr id="17" name="TextBox 16"/>
          <p:cNvSpPr txBox="1"/>
          <p:nvPr/>
        </p:nvSpPr>
        <p:spPr>
          <a:xfrm>
            <a:off x="1371600" y="2068830"/>
            <a:ext cx="2880360" cy="274320"/>
          </a:xfrm>
          <a:prstGeom prst="rect">
            <a:avLst/>
          </a:prstGeom>
          <a:noFill/>
        </p:spPr>
        <p:txBody>
          <a:bodyPr wrap="square" lIns="0" rIns="0" tIns="0" bIns="0" anchor="t">
            <a:spAutoFit/>
          </a:bodyPr>
          <a:lstStyle/>
          <a:p>
            <a:r>
              <a:rPr sz="1250" b="1" i="0">
                <a:solidFill>
                  <a:srgbClr val="10273F"/>
                </a:solidFill>
                <a:latin typeface="Segoe UI Semibold"/>
              </a:rPr>
              <a:t>Research Paper Selection</a:t>
            </a:r>
          </a:p>
        </p:txBody>
      </p:sp>
      <p:sp>
        <p:nvSpPr>
          <p:cNvPr id="18" name="TextBox 17"/>
          <p:cNvSpPr txBox="1"/>
          <p:nvPr/>
        </p:nvSpPr>
        <p:spPr>
          <a:xfrm>
            <a:off x="1371600" y="2324862"/>
            <a:ext cx="9942271" cy="292608"/>
          </a:xfrm>
          <a:prstGeom prst="rect">
            <a:avLst/>
          </a:prstGeom>
          <a:noFill/>
        </p:spPr>
        <p:txBody>
          <a:bodyPr wrap="square" lIns="0" rIns="0" tIns="0" bIns="0" anchor="t">
            <a:spAutoFit/>
          </a:bodyPr>
          <a:lstStyle/>
          <a:p>
            <a:pPr>
              <a:lnSpc>
                <a:spcPct val="114000"/>
              </a:lnSpc>
            </a:pPr>
            <a:r>
              <a:rPr sz="950" b="0" i="0">
                <a:solidFill>
                  <a:srgbClr val="3C5066"/>
                </a:solidFill>
                <a:latin typeface="Segoe UI"/>
              </a:rPr>
              <a:t>CAL (CVPR 2022) · STTran (ICCV 2021) · ARG (CVPR 2019) — one per pillar, top-tier, public code, correctly matched.</a:t>
            </a:r>
          </a:p>
        </p:txBody>
      </p:sp>
      <p:sp>
        <p:nvSpPr>
          <p:cNvPr id="19" name="TextBox 18"/>
          <p:cNvSpPr txBox="1"/>
          <p:nvPr/>
        </p:nvSpPr>
        <p:spPr>
          <a:xfrm>
            <a:off x="4325112" y="2068830"/>
            <a:ext cx="274320" cy="274320"/>
          </a:xfrm>
          <a:prstGeom prst="rect">
            <a:avLst/>
          </a:prstGeom>
          <a:noFill/>
        </p:spPr>
        <p:txBody>
          <a:bodyPr wrap="square" lIns="0" rIns="0" tIns="0" bIns="0" anchor="t">
            <a:spAutoFit/>
          </a:bodyPr>
          <a:lstStyle/>
          <a:p>
            <a:r>
              <a:rPr sz="900" b="0" i="0">
                <a:solidFill>
                  <a:srgbClr val="3C5066"/>
                </a:solidFill>
                <a:latin typeface="Segoe UI"/>
              </a:rPr>
              <a:t/>
            </a:r>
          </a:p>
        </p:txBody>
      </p:sp>
      <p:sp>
        <p:nvSpPr>
          <p:cNvPr id="20" name="Rounded Rectangle 19"/>
          <p:cNvSpPr/>
          <p:nvPr/>
        </p:nvSpPr>
        <p:spPr>
          <a:xfrm>
            <a:off x="621792" y="2782062"/>
            <a:ext cx="10948111" cy="7315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1792" y="2782062"/>
            <a:ext cx="50292" cy="73152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841248" y="2955798"/>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1248" y="3010662"/>
            <a:ext cx="384048" cy="274320"/>
          </a:xfrm>
          <a:prstGeom prst="rect">
            <a:avLst/>
          </a:prstGeom>
          <a:noFill/>
        </p:spPr>
        <p:txBody>
          <a:bodyPr wrap="square" lIns="0" rIns="0" tIns="0" bIns="0" anchor="t">
            <a:spAutoFit/>
          </a:bodyPr>
          <a:lstStyle/>
          <a:p>
            <a:pPr algn="ctr"/>
            <a:r>
              <a:rPr sz="1250" b="1" i="0">
                <a:solidFill>
                  <a:srgbClr val="FFFFFF"/>
                </a:solidFill>
                <a:latin typeface="Segoe UI Semibold"/>
              </a:rPr>
              <a:t>3</a:t>
            </a:r>
          </a:p>
        </p:txBody>
      </p:sp>
      <p:sp>
        <p:nvSpPr>
          <p:cNvPr id="24" name="TextBox 23"/>
          <p:cNvSpPr txBox="1"/>
          <p:nvPr/>
        </p:nvSpPr>
        <p:spPr>
          <a:xfrm>
            <a:off x="1371600" y="2910078"/>
            <a:ext cx="2880360" cy="274320"/>
          </a:xfrm>
          <a:prstGeom prst="rect">
            <a:avLst/>
          </a:prstGeom>
          <a:noFill/>
        </p:spPr>
        <p:txBody>
          <a:bodyPr wrap="square" lIns="0" rIns="0" tIns="0" bIns="0" anchor="t">
            <a:spAutoFit/>
          </a:bodyPr>
          <a:lstStyle/>
          <a:p>
            <a:r>
              <a:rPr sz="1250" b="1" i="0">
                <a:solidFill>
                  <a:srgbClr val="10273F"/>
                </a:solidFill>
                <a:latin typeface="Segoe UI Semibold"/>
              </a:rPr>
              <a:t>Literature Review Depth</a:t>
            </a:r>
          </a:p>
        </p:txBody>
      </p:sp>
      <p:sp>
        <p:nvSpPr>
          <p:cNvPr id="25" name="TextBox 24"/>
          <p:cNvSpPr txBox="1"/>
          <p:nvPr/>
        </p:nvSpPr>
        <p:spPr>
          <a:xfrm>
            <a:off x="1371600" y="3166110"/>
            <a:ext cx="9942271" cy="292608"/>
          </a:xfrm>
          <a:prstGeom prst="rect">
            <a:avLst/>
          </a:prstGeom>
          <a:noFill/>
        </p:spPr>
        <p:txBody>
          <a:bodyPr wrap="square" lIns="0" rIns="0" tIns="0" bIns="0" anchor="t">
            <a:spAutoFit/>
          </a:bodyPr>
          <a:lstStyle/>
          <a:p>
            <a:pPr>
              <a:lnSpc>
                <a:spcPct val="114000"/>
              </a:lnSpc>
            </a:pPr>
            <a:r>
              <a:rPr sz="950" b="0" i="0">
                <a:solidFill>
                  <a:srgbClr val="3C5066"/>
                </a:solidFill>
                <a:latin typeface="Segoe UI"/>
              </a:rPr>
              <a:t>Four technical areas compared on method/benchmark/limitation, plus an education-psychology layer that determined our labels and our 15 s window.</a:t>
            </a:r>
          </a:p>
        </p:txBody>
      </p:sp>
      <p:sp>
        <p:nvSpPr>
          <p:cNvPr id="26" name="TextBox 25"/>
          <p:cNvSpPr txBox="1"/>
          <p:nvPr/>
        </p:nvSpPr>
        <p:spPr>
          <a:xfrm>
            <a:off x="4325112" y="2910078"/>
            <a:ext cx="274320" cy="274320"/>
          </a:xfrm>
          <a:prstGeom prst="rect">
            <a:avLst/>
          </a:prstGeom>
          <a:noFill/>
        </p:spPr>
        <p:txBody>
          <a:bodyPr wrap="square" lIns="0" rIns="0" tIns="0" bIns="0" anchor="t">
            <a:spAutoFit/>
          </a:bodyPr>
          <a:lstStyle/>
          <a:p>
            <a:r>
              <a:rPr sz="900" b="0" i="0">
                <a:solidFill>
                  <a:srgbClr val="3C5066"/>
                </a:solidFill>
                <a:latin typeface="Segoe UI"/>
              </a:rPr>
              <a:t/>
            </a:r>
          </a:p>
        </p:txBody>
      </p:sp>
      <p:sp>
        <p:nvSpPr>
          <p:cNvPr id="27" name="Rounded Rectangle 26"/>
          <p:cNvSpPr/>
          <p:nvPr/>
        </p:nvSpPr>
        <p:spPr>
          <a:xfrm>
            <a:off x="621792" y="3623310"/>
            <a:ext cx="10948111" cy="7315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21792" y="3623310"/>
            <a:ext cx="50292" cy="73152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841248" y="3797046"/>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41248" y="3851910"/>
            <a:ext cx="384048" cy="274320"/>
          </a:xfrm>
          <a:prstGeom prst="rect">
            <a:avLst/>
          </a:prstGeom>
          <a:noFill/>
        </p:spPr>
        <p:txBody>
          <a:bodyPr wrap="square" lIns="0" rIns="0" tIns="0" bIns="0" anchor="t">
            <a:spAutoFit/>
          </a:bodyPr>
          <a:lstStyle/>
          <a:p>
            <a:pPr algn="ctr"/>
            <a:r>
              <a:rPr sz="1250" b="1" i="0">
                <a:solidFill>
                  <a:srgbClr val="FFFFFF"/>
                </a:solidFill>
                <a:latin typeface="Segoe UI Semibold"/>
              </a:rPr>
              <a:t>4</a:t>
            </a:r>
          </a:p>
        </p:txBody>
      </p:sp>
      <p:sp>
        <p:nvSpPr>
          <p:cNvPr id="31" name="TextBox 30"/>
          <p:cNvSpPr txBox="1"/>
          <p:nvPr/>
        </p:nvSpPr>
        <p:spPr>
          <a:xfrm>
            <a:off x="1371600" y="3751326"/>
            <a:ext cx="2880360" cy="274320"/>
          </a:xfrm>
          <a:prstGeom prst="rect">
            <a:avLst/>
          </a:prstGeom>
          <a:noFill/>
        </p:spPr>
        <p:txBody>
          <a:bodyPr wrap="square" lIns="0" rIns="0" tIns="0" bIns="0" anchor="t">
            <a:spAutoFit/>
          </a:bodyPr>
          <a:lstStyle/>
          <a:p>
            <a:r>
              <a:rPr sz="1250" b="1" i="0">
                <a:solidFill>
                  <a:srgbClr val="10273F"/>
                </a:solidFill>
                <a:latin typeface="Segoe UI Semibold"/>
              </a:rPr>
              <a:t>Dataset Identification</a:t>
            </a:r>
          </a:p>
        </p:txBody>
      </p:sp>
      <p:sp>
        <p:nvSpPr>
          <p:cNvPr id="32" name="TextBox 31"/>
          <p:cNvSpPr txBox="1"/>
          <p:nvPr/>
        </p:nvSpPr>
        <p:spPr>
          <a:xfrm>
            <a:off x="1371600" y="4007358"/>
            <a:ext cx="9942271" cy="292608"/>
          </a:xfrm>
          <a:prstGeom prst="rect">
            <a:avLst/>
          </a:prstGeom>
          <a:noFill/>
        </p:spPr>
        <p:txBody>
          <a:bodyPr wrap="square" lIns="0" rIns="0" tIns="0" bIns="0" anchor="t">
            <a:spAutoFit/>
          </a:bodyPr>
          <a:lstStyle/>
          <a:p>
            <a:pPr>
              <a:lnSpc>
                <a:spcPct val="114000"/>
              </a:lnSpc>
            </a:pPr>
            <a:r>
              <a:rPr sz="950" b="0" i="0">
                <a:solidFill>
                  <a:srgbClr val="3C5066"/>
                </a:solidFill>
                <a:latin typeface="Segoe UI"/>
              </a:rPr>
              <a:t>SCB-Dataset as classroom-native primary (13,330 images / 122,977 labels), field-standard benchmarks per module, and the fragmentation challenge stated with a mitigation.</a:t>
            </a:r>
          </a:p>
        </p:txBody>
      </p:sp>
      <p:sp>
        <p:nvSpPr>
          <p:cNvPr id="33" name="TextBox 32"/>
          <p:cNvSpPr txBox="1"/>
          <p:nvPr/>
        </p:nvSpPr>
        <p:spPr>
          <a:xfrm>
            <a:off x="4325112" y="3751326"/>
            <a:ext cx="274320" cy="274320"/>
          </a:xfrm>
          <a:prstGeom prst="rect">
            <a:avLst/>
          </a:prstGeom>
          <a:noFill/>
        </p:spPr>
        <p:txBody>
          <a:bodyPr wrap="square" lIns="0" rIns="0" tIns="0" bIns="0" anchor="t">
            <a:spAutoFit/>
          </a:bodyPr>
          <a:lstStyle/>
          <a:p>
            <a:r>
              <a:rPr sz="900" b="0" i="0">
                <a:solidFill>
                  <a:srgbClr val="3C5066"/>
                </a:solidFill>
                <a:latin typeface="Segoe UI"/>
              </a:rPr>
              <a:t/>
            </a:r>
          </a:p>
        </p:txBody>
      </p:sp>
      <p:sp>
        <p:nvSpPr>
          <p:cNvPr id="34" name="Rounded Rectangle 33"/>
          <p:cNvSpPr/>
          <p:nvPr/>
        </p:nvSpPr>
        <p:spPr>
          <a:xfrm>
            <a:off x="621792" y="4464558"/>
            <a:ext cx="10948111" cy="731520"/>
          </a:xfrm>
          <a:prstGeom prst="roundRect">
            <a:avLst>
              <a:gd name="adj" fmla="val 4500"/>
            </a:avLst>
          </a:prstGeom>
          <a:solidFill>
            <a:srgbClr val="FFFFFF"/>
          </a:solidFill>
          <a:ln w="9525">
            <a:solidFill>
              <a:srgbClr val="DA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21792" y="4464558"/>
            <a:ext cx="50292" cy="731520"/>
          </a:xfrm>
          <a:prstGeom prst="rect">
            <a:avLst/>
          </a:prstGeom>
          <a:solidFill>
            <a:srgbClr val="1F6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841248" y="4638294"/>
            <a:ext cx="384048" cy="384048"/>
          </a:xfrm>
          <a:prstGeom prst="roundRect">
            <a:avLst>
              <a:gd name="adj" fmla="val 220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41248" y="4693158"/>
            <a:ext cx="384048" cy="274320"/>
          </a:xfrm>
          <a:prstGeom prst="rect">
            <a:avLst/>
          </a:prstGeom>
          <a:noFill/>
        </p:spPr>
        <p:txBody>
          <a:bodyPr wrap="square" lIns="0" rIns="0" tIns="0" bIns="0" anchor="t">
            <a:spAutoFit/>
          </a:bodyPr>
          <a:lstStyle/>
          <a:p>
            <a:pPr algn="ctr"/>
            <a:r>
              <a:rPr sz="1250" b="1" i="0">
                <a:solidFill>
                  <a:srgbClr val="FFFFFF"/>
                </a:solidFill>
                <a:latin typeface="Segoe UI Semibold"/>
              </a:rPr>
              <a:t>5</a:t>
            </a:r>
          </a:p>
        </p:txBody>
      </p:sp>
      <p:sp>
        <p:nvSpPr>
          <p:cNvPr id="38" name="TextBox 37"/>
          <p:cNvSpPr txBox="1"/>
          <p:nvPr/>
        </p:nvSpPr>
        <p:spPr>
          <a:xfrm>
            <a:off x="1371600" y="4592574"/>
            <a:ext cx="2880360" cy="274320"/>
          </a:xfrm>
          <a:prstGeom prst="rect">
            <a:avLst/>
          </a:prstGeom>
          <a:noFill/>
        </p:spPr>
        <p:txBody>
          <a:bodyPr wrap="square" lIns="0" rIns="0" tIns="0" bIns="0" anchor="t">
            <a:spAutoFit/>
          </a:bodyPr>
          <a:lstStyle/>
          <a:p>
            <a:r>
              <a:rPr sz="1250" b="1" i="0">
                <a:solidFill>
                  <a:srgbClr val="10273F"/>
                </a:solidFill>
                <a:latin typeface="Segoe UI Semibold"/>
              </a:rPr>
              <a:t>Project Feasibility &amp; Plan</a:t>
            </a:r>
          </a:p>
        </p:txBody>
      </p:sp>
      <p:sp>
        <p:nvSpPr>
          <p:cNvPr id="39" name="TextBox 38"/>
          <p:cNvSpPr txBox="1"/>
          <p:nvPr/>
        </p:nvSpPr>
        <p:spPr>
          <a:xfrm>
            <a:off x="1371600" y="4848606"/>
            <a:ext cx="9942271" cy="292608"/>
          </a:xfrm>
          <a:prstGeom prst="rect">
            <a:avLst/>
          </a:prstGeom>
          <a:noFill/>
        </p:spPr>
        <p:txBody>
          <a:bodyPr wrap="square" lIns="0" rIns="0" tIns="0" bIns="0" anchor="t">
            <a:spAutoFit/>
          </a:bodyPr>
          <a:lstStyle/>
          <a:p>
            <a:pPr>
              <a:lnSpc>
                <a:spcPct val="114000"/>
              </a:lnSpc>
            </a:pPr>
            <a:r>
              <a:rPr sz="950" b="0" i="0">
                <a:solidFill>
                  <a:srgbClr val="3C5066"/>
                </a:solidFill>
                <a:latin typeface="Segoe UI"/>
              </a:rPr>
              <a:t>Stages 1–2 built and tested (109 tests, 100% schema-valid output), seven real problems found and fixed, 5-month plan with the biggest risk already retired.</a:t>
            </a:r>
          </a:p>
        </p:txBody>
      </p:sp>
      <p:sp>
        <p:nvSpPr>
          <p:cNvPr id="40" name="TextBox 39"/>
          <p:cNvSpPr txBox="1"/>
          <p:nvPr/>
        </p:nvSpPr>
        <p:spPr>
          <a:xfrm>
            <a:off x="4325112" y="4592574"/>
            <a:ext cx="274320" cy="274320"/>
          </a:xfrm>
          <a:prstGeom prst="rect">
            <a:avLst/>
          </a:prstGeom>
          <a:noFill/>
        </p:spPr>
        <p:txBody>
          <a:bodyPr wrap="square" lIns="0" rIns="0" tIns="0" bIns="0" anchor="t">
            <a:spAutoFit/>
          </a:bodyPr>
          <a:lstStyle/>
          <a:p>
            <a:r>
              <a:rPr sz="900" b="0" i="0">
                <a:solidFill>
                  <a:srgbClr val="3C5066"/>
                </a:solidFill>
                <a:latin typeface="Segoe UI"/>
              </a:rPr>
              <a:t/>
            </a:r>
          </a:p>
        </p:txBody>
      </p:sp>
      <p:sp>
        <p:nvSpPr>
          <p:cNvPr id="41" name="Rounded Rectangle 40"/>
          <p:cNvSpPr/>
          <p:nvPr/>
        </p:nvSpPr>
        <p:spPr>
          <a:xfrm>
            <a:off x="621792" y="5452110"/>
            <a:ext cx="10948111" cy="841248"/>
          </a:xfrm>
          <a:prstGeom prst="roundRect">
            <a:avLst>
              <a:gd name="adj" fmla="val 4500"/>
            </a:avLst>
          </a:prstGeom>
          <a:solidFill>
            <a:srgbClr val="1027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96112" y="5634990"/>
            <a:ext cx="10399471" cy="512064"/>
          </a:xfrm>
          <a:prstGeom prst="rect">
            <a:avLst/>
          </a:prstGeom>
          <a:noFill/>
        </p:spPr>
        <p:txBody>
          <a:bodyPr wrap="square" lIns="0" rIns="0" tIns="0" bIns="0" anchor="t">
            <a:spAutoFit/>
          </a:bodyPr>
          <a:lstStyle/>
          <a:p>
            <a:pPr>
              <a:lnSpc>
                <a:spcPct val="124000"/>
              </a:lnSpc>
            </a:pPr>
            <a:r>
              <a:rPr sz="1150" b="1" i="0">
                <a:solidFill>
                  <a:srgbClr val="6FC5CE"/>
                </a:solidFill>
                <a:latin typeface="Segoe UI Semibold"/>
              </a:rPr>
              <a:t>What separates this review:  </a:t>
            </a:r>
            <a:r>
              <a:rPr sz="1150" b="0" i="0">
                <a:solidFill>
                  <a:srgbClr val="FFFFFF"/>
                </a:solidFill>
                <a:latin typeface="Segoe UI"/>
              </a:rPr>
              <a:t>the results slides report bugs we found in our own system and limits we cannot engineer away — because a plan that survives contact with real data is worth more than one that has never been tested.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